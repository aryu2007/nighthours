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4572000" cy="4572000"/>
          </a:xfrm>
          <a:prstGeom prst="ellipse">
            <a:avLst/>
          </a:prstGeom>
          <a:solidFill>
            <a:srgbClr val="8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6D5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5F4FF"/>
                </a:solidFill>
                <a:latin typeface="Outfit"/>
              </a:defRPr>
            </a:pPr>
            <a:r>
              <a:t>NIGHT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7E5FF"/>
                </a:solidFill>
                <a:latin typeface="Outfit"/>
              </a:defRPr>
            </a:pPr>
            <a:r>
              <a:t>A Cross-Generational Gaming Universe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b="0" sz="2000">
                <a:solidFill>
                  <a:srgbClr val="B6B8D1"/>
                </a:solidFill>
                <a:latin typeface="Outfit"/>
              </a:defRPr>
            </a:pPr>
            <a:r>
              <a:t>When the world rests, the game begins.</a:t>
            </a:r>
          </a:p>
          <a:p>
            <a:pPr>
              <a:spcAft>
                <a:spcPts val="900"/>
              </a:spcAft>
              <a:defRPr b="0" sz="1200">
                <a:solidFill>
                  <a:srgbClr val="F5F4FF"/>
                </a:solidFill>
                <a:latin typeface="Outfit"/>
              </a:defRPr>
            </a:pPr>
          </a:p>
          <a:p>
            <a:pPr>
              <a:spcAft>
                <a:spcPts val="900"/>
              </a:spcAft>
              <a:defRPr b="0" sz="1600">
                <a:solidFill>
                  <a:srgbClr val="9D6CFF"/>
                </a:solidFill>
                <a:latin typeface="Outfit"/>
              </a:defRPr>
            </a:pPr>
            <a:r>
              <a:t>Learning Hours  •  Rising Hours  •  Night Arena  •  Golden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D8A"/>
                </a:solidFill>
                <a:latin typeface="DM Mono"/>
              </a:defRPr>
            </a:pPr>
            <a:r>
              <a:t>React 18  •  Vite  •  React Router  •  Socket.io  •  WebRTC  •  LocalStorage Persistence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7E5FF"/>
                </a:solidFill>
                <a:latin typeface="DM Mono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F"/>
                </a:solidFill>
                <a:latin typeface="Outfit"/>
              </a:defRPr>
            </a:pPr>
            <a:r>
              <a:t>Four Distinct Zones • Six Games • Cloud Gaming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4754880"/>
          </a:xfrm>
          <a:prstGeom prst="roundRect">
            <a:avLst/>
          </a:prstGeom>
          <a:solidFill>
            <a:srgbClr val="3E2B88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5F4FF"/>
                </a:solidFill>
                <a:latin typeface="Outfit"/>
              </a:defRPr>
            </a:pPr>
            <a: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4FF"/>
                </a:solidFill>
                <a:latin typeface="Outfit"/>
              </a:defRPr>
            </a:pPr>
            <a:r>
              <a:t>LEARNING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7E5FF"/>
                </a:solidFill>
                <a:latin typeface="DM Mono"/>
              </a:defRPr>
            </a:pPr>
            <a:r>
              <a:t>Ages 5–12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6B8D1"/>
                </a:solidFill>
                <a:latin typeface="Outfit"/>
              </a:defRPr>
            </a:pPr>
            <a:r>
              <a:t>Playful games that build</a:t>
            </a:r>
            <a:br/>
            <a:r>
              <a:t>foundational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  Memory Match — Symbol pairing</a:t>
            </a:r>
            <a:br/>
            <a:r>
              <a:t>  Type Sprint — 60s typing race</a:t>
            </a:r>
            <a:br/>
            <a:r>
              <a:t>  Math Quest — Timed arithmetic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560320" cy="4754880"/>
          </a:xfrm>
          <a:prstGeom prst="roundRect">
            <a:avLst/>
          </a:prstGeom>
          <a:solidFill>
            <a:srgbClr val="075F84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5F4FF"/>
                </a:solidFill>
                <a:latin typeface="Outfit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4FF"/>
                </a:solidFill>
                <a:latin typeface="Outfit"/>
              </a:defRPr>
            </a:pPr>
            <a:r>
              <a:t>RISING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7E5FF"/>
                </a:solidFill>
                <a:latin typeface="DM Mono"/>
              </a:defRPr>
            </a:pPr>
            <a:r>
              <a:t>Ages 13–18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6B8D1"/>
                </a:solidFill>
                <a:latin typeface="Outfit"/>
              </a:defRPr>
            </a:pPr>
            <a:r>
              <a:t>Strategy, knowledge &amp;</a:t>
            </a:r>
            <a:br/>
            <a:r>
              <a:t>friendly competition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6634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  Quiz Rush — 5-question sprint</a:t>
            </a:r>
            <a:br/>
            <a:r>
              <a:t>  Quiz Battle — Solo / Versus modes</a:t>
            </a:r>
            <a:br/>
            <a:r>
              <a:t>  4 categories: General, Science, Tech, Gaming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560320" cy="4754880"/>
          </a:xfrm>
          <a:prstGeom prst="roundRect">
            <a:avLst/>
          </a:prstGeom>
          <a:solidFill>
            <a:srgbClr val="5618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5F4FF"/>
                </a:solidFill>
                <a:latin typeface="Outfit"/>
              </a:defRPr>
            </a:pPr>
            <a:r>
              <a:t>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4FF"/>
                </a:solidFill>
                <a:latin typeface="Outfit"/>
              </a:defRPr>
            </a:pPr>
            <a:r>
              <a:t>NIGHT ARENA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7E5FF"/>
                </a:solidFill>
                <a:latin typeface="DM Mono"/>
              </a:defRPr>
            </a:pPr>
            <a:r>
              <a:t>Competitive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6B8D1"/>
                </a:solidFill>
                <a:latin typeface="Outfit"/>
              </a:defRPr>
            </a:pPr>
            <a:r>
              <a:t>Cloud gaming prototype</a:t>
            </a:r>
            <a:br/>
            <a:r>
              <a:t>with WebRTC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  Real WebRTC signaling server</a:t>
            </a:r>
            <a:br/>
            <a:r>
              <a:t>  GPU instance simulation</a:t>
            </a:r>
            <a:br/>
            <a:r>
              <a:t>  Mumbai edge node concept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828800"/>
            <a:ext cx="2560320" cy="4754880"/>
          </a:xfrm>
          <a:prstGeom prst="roundRect">
            <a:avLst/>
          </a:prstGeom>
          <a:solidFill>
            <a:srgbClr val="282217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5F4FF"/>
                </a:solidFill>
                <a:latin typeface="Outfit"/>
              </a:defRPr>
            </a:pPr>
            <a:r>
              <a:t>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4FF"/>
                </a:solidFill>
                <a:latin typeface="Outfit"/>
              </a:defRPr>
            </a:pPr>
            <a:r>
              <a:t>GOLDEN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7E5FF"/>
                </a:solidFill>
                <a:latin typeface="DM Mono"/>
              </a:defRPr>
            </a:pPr>
            <a:r>
              <a:t>All 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5661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6B8D1"/>
                </a:solidFill>
                <a:latin typeface="Outfit"/>
              </a:defRPr>
            </a:pPr>
            <a:r>
              <a:t>Relaxing puzzles &amp;</a:t>
            </a:r>
            <a:br/>
            <a:r>
              <a:t>memory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6634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  Pattern Recall — No timer</a:t>
            </a:r>
            <a:br/>
            <a:r>
              <a:t>  Calm, accessible design</a:t>
            </a:r>
            <a:br/>
            <a:r>
              <a:t>  Progressive difficulty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7E5FF"/>
                </a:solidFill>
                <a:latin typeface="DM Mono"/>
              </a:defRPr>
            </a:pPr>
            <a:r>
              <a:t>TECHNOLOGY STACK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F"/>
                </a:solidFill>
                <a:latin typeface="Outfit"/>
              </a:defRPr>
            </a:pPr>
            <a:r>
              <a:t>Modern Frontend • Real-time Signaling • Cloud-Ready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743200" cy="548640"/>
          </a:xfrm>
          <a:prstGeom prst="roundRect">
            <a:avLst/>
          </a:prstGeom>
          <a:solidFill>
            <a:srgbClr val="9D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01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80B18"/>
                </a:solidFill>
                <a:latin typeface="DM Mono"/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2743200" cy="43891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React 18.3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Component-based UI with hooks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Vite 6.1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Lightning-fast dev server &amp;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React Router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Client-side routing (7 routes)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CSS Custom Properties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Theming, dark mode, animations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DM Mono / Outfit Fonts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17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Technical + readable typography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828800"/>
            <a:ext cx="2743200" cy="548640"/>
          </a:xfrm>
          <a:prstGeom prst="roundRect">
            <a:avLst/>
          </a:prstGeom>
          <a:solidFill>
            <a:srgbClr val="87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1901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80B18"/>
                </a:solidFill>
                <a:latin typeface="DM Mono"/>
              </a:defRPr>
            </a:pPr>
            <a:r>
              <a:t>REAL-TIME / NETWORKING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468880"/>
            <a:ext cx="2743200" cy="43891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Socket.io Client 4.7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926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WebSocket signaling transport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WebRTC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749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RTCPeerConnection, ICE, SDP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297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STUN Servers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572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Google STUN for NAT traversal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Custom Signaling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394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Node.js + Socket.io (port 3001)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828800"/>
            <a:ext cx="2743200" cy="548640"/>
          </a:xfrm>
          <a:prstGeom prst="roundRect">
            <a:avLst/>
          </a:prstGeom>
          <a:solidFill>
            <a:srgbClr val="74E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901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80B18"/>
                </a:solidFill>
                <a:latin typeface="DM Mono"/>
              </a:defRPr>
            </a:pPr>
            <a:r>
              <a:t>STATE &amp; PERSISTENCE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468880"/>
            <a:ext cx="2743200" cy="43891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651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localStorage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926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User profile, scores, streaks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Badge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749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6 unlockable achievements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297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Per-Game Leaderboards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572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Top 10 scores persisted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Session Stats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394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Games played, total score, best streaks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1828800"/>
            <a:ext cx="2743200" cy="548640"/>
          </a:xfrm>
          <a:prstGeom prst="roundRect">
            <a:avLst/>
          </a:prstGeom>
          <a:solidFill>
            <a:srgbClr val="F3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1901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80B18"/>
                </a:solidFill>
                <a:latin typeface="DM Mono"/>
              </a:defRPr>
            </a:pPr>
            <a:r>
              <a:t>DEVELOPMENT TOOLS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0" y="2468880"/>
            <a:ext cx="2743200" cy="43891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2651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ESLint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2926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Code quality &amp; consistency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Concurrently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3749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Run client + server together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4297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PM2 Ready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45720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Production process management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Tailscale/VPN Support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5394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Secure remote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7E5FF"/>
                </a:solidFill>
                <a:latin typeface="DM Mono"/>
              </a:defRPr>
            </a:pPr>
            <a:r>
              <a:t>GAME ARCHITECTURE — SHARED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F"/>
                </a:solidFill>
                <a:latin typeface="Outfit"/>
              </a:defRPr>
            </a:pPr>
            <a:r>
              <a:t>Consistent Structure Across All 6 Games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4389120"/>
          </a:xfrm>
          <a:prstGeom prst="roundRect">
            <a:avLst/>
          </a:prstGeom>
          <a:solidFill>
            <a:srgbClr val="0E1024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b="0" sz="1200">
                <a:solidFill>
                  <a:srgbClr val="87E5FF"/>
                </a:solidFill>
                <a:latin typeface="DM Mono"/>
              </a:defRPr>
            </a:pPr>
            <a:r>
              <a:t>// 1. STATS PERSISTENCE — Shared utility in every game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function updateStats(gameKey, score, streak) {</a:t>
            </a:r>
          </a:p>
          <a:p>
            <a:pPr>
              <a:spcAft>
                <a:spcPts val="239"/>
              </a:spcAft>
              <a:defRPr b="0" sz="1200">
                <a:solidFill>
                  <a:srgbClr val="B6B8D1"/>
                </a:solidFill>
                <a:latin typeface="DM Mono"/>
              </a:defRPr>
            </a:pPr>
            <a:r>
              <a:t>  const stats = JSON.parse(localStorage.getItem('night-hours-stats') || '{}')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stats.gamesPlayed += 1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stats.totalScore += score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if (streak &gt; stats.bestStreaks[gameKey]) stats.bestStreaks[gameKey] = streak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localStorage.setItem('night-hours-stats', JSON.stringify(stats))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}</a:t>
            </a:r>
          </a:p>
          <a:p>
            <a:pPr>
              <a:spcAft>
                <a:spcPts val="239"/>
              </a:spcAft>
              <a:defRPr b="0" sz="800">
                <a:solidFill>
                  <a:srgbClr val="F5F4FF"/>
                </a:solidFill>
                <a:latin typeface="DM Mono"/>
              </a:defRPr>
            </a:pPr>
          </a:p>
          <a:p>
            <a:pPr>
              <a:spcAft>
                <a:spcPts val="239"/>
              </a:spcAft>
              <a:defRPr b="0" sz="1200">
                <a:solidFill>
                  <a:srgbClr val="87E5FF"/>
                </a:solidFill>
                <a:latin typeface="DM Mono"/>
              </a:defRPr>
            </a:pPr>
            <a:r>
              <a:t>// 2. GAME STATE MACHINE — Consistent hooks pattern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const [started, setStarted] = useState(false)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const [finished, setFinished] = useState(false)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const [score, setScore] = useState(0)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const [streak, setStreak] = useState(0)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const timerRef = useRef(null)  // Cleanup on unmount</a:t>
            </a:r>
          </a:p>
          <a:p>
            <a:pPr>
              <a:spcAft>
                <a:spcPts val="239"/>
              </a:spcAft>
              <a:defRPr b="0" sz="800">
                <a:solidFill>
                  <a:srgbClr val="F5F4FF"/>
                </a:solidFill>
                <a:latin typeface="DM Mono"/>
              </a:defRPr>
            </a:pPr>
          </a:p>
          <a:p>
            <a:pPr>
              <a:spcAft>
                <a:spcPts val="239"/>
              </a:spcAft>
              <a:defRPr b="0" sz="1200">
                <a:solidFill>
                  <a:srgbClr val="87E5FF"/>
                </a:solidFill>
                <a:latin typeface="DM Mono"/>
              </a:defRPr>
            </a:pPr>
            <a:r>
              <a:t>// 3. TIMER EFFECT — Reusable countdown pattern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useEffect(() =&gt; {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if (started &amp;&amp; !finished &amp;&amp; timeLeft &gt; 0) {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  timerRef.current = setInterval(() =&gt; setTimeLeft(t =&gt; t - 1), 1000)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}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return () =&gt; clearInterval(timerRef.current)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}, [started, finished, timeLeft])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1A1D3A"/>
          </a:solidFill>
          <a:ln w="12700">
            <a:solidFill>
              <a:srgbClr val="9D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b="1" sz="1400">
                <a:solidFill>
                  <a:srgbClr val="9D6CFF"/>
                </a:solidFill>
                <a:latin typeface="Outfit"/>
              </a:defRPr>
            </a:pPr>
            <a:r>
              <a:t>KEY INSIGHT</a:t>
            </a:r>
          </a:p>
          <a:p>
            <a:pPr>
              <a:spcAft>
                <a:spcPts val="390"/>
              </a:spcAft>
              <a:defRPr b="0" sz="1300">
                <a:solidFill>
                  <a:srgbClr val="B6B8D1"/>
                </a:solidFill>
                <a:latin typeface="Outfit"/>
              </a:defRPr>
            </a:pPr>
            <a:r>
              <a:t>All 6 games share identical stats persistence, timer logic, and state machine patterns — enabling rapid feature development and consistent 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4A8FF"/>
                </a:solidFill>
                <a:latin typeface="DM Mono"/>
              </a:defRPr>
            </a:pPr>
            <a:r>
              <a:t>ZONE 1: LEARNING HOURS — GAMES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F"/>
                </a:solidFill>
                <a:latin typeface="Outfit"/>
              </a:defRPr>
            </a:pPr>
            <a:r>
              <a:t>Three Games Building Core Skills Through Play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3E2B88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5F4FF"/>
                </a:solidFill>
                <a:latin typeface="Outfit"/>
              </a:defRPr>
            </a:pPr>
            <a: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4FF"/>
                </a:solidFill>
                <a:latin typeface="Outfit"/>
              </a:defRPr>
            </a:pPr>
            <a:r>
              <a:t>MEMORY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6 pairs (12 cards) with emoji symbols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Flip animation with CSS 3D transform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Move counter + pair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Streak bonus: fewer moves = higher streak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Score = streak × 50 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828800"/>
            <a:ext cx="3474720" cy="4114800"/>
          </a:xfrm>
          <a:prstGeom prst="roundRect">
            <a:avLst/>
          </a:prstGeom>
          <a:solidFill>
            <a:srgbClr val="075F84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5F4FF"/>
                </a:solidFill>
                <a:latin typeface="Outfit"/>
              </a:defRPr>
            </a:pPr>
            <a:r>
              <a:t>⌨️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4FF"/>
                </a:solidFill>
                <a:latin typeface="Outfit"/>
              </a:defRPr>
            </a:pPr>
            <a:r>
              <a:t>TYPE 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10 random space-themed words per 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337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Per-character correctness highlighting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931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60-second countdown timer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526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WPM = (correct chars / 5) / elapsed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5120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Accuracy % + local high-score leaderboard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28800"/>
            <a:ext cx="3474720" cy="4114800"/>
          </a:xfrm>
          <a:prstGeom prst="roundRect">
            <a:avLst/>
          </a:prstGeom>
          <a:solidFill>
            <a:srgbClr val="7E2869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5F4FF"/>
                </a:solidFill>
                <a:latin typeface="Outfit"/>
              </a:defRPr>
            </a:pPr>
            <a:r>
              <a:t>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4FF"/>
                </a:solidFill>
                <a:latin typeface="Outfit"/>
              </a:defRPr>
            </a:pPr>
            <a:r>
              <a:t>MATH 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3 difficulties: Easy (+/- ≤20), Medium (× ≤6), Hard (× ≤9)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337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2-minute timer, 10 problems per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931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Streak multiplier: +2 pts per streak 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526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Problem preview (next 3 problems)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120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Per-difficulty leaderboard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FE9FF"/>
                </a:solidFill>
                <a:latin typeface="DM Mono"/>
              </a:defRPr>
            </a:pPr>
            <a:r>
              <a:t>ZONE 2: RISING HOURS — GAMES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F"/>
                </a:solidFill>
                <a:latin typeface="Outfit"/>
              </a:defRPr>
            </a:pPr>
            <a:r>
              <a:t>Quiz-Based Competition with Solo &amp; Versus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4114800"/>
          </a:xfrm>
          <a:prstGeom prst="roundRect">
            <a:avLst/>
          </a:prstGeom>
          <a:solidFill>
            <a:srgbClr val="075F84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5F4FF"/>
                </a:solidFill>
                <a:latin typeface="Outfit"/>
              </a:defRPr>
            </a:pPr>
            <a: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031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4FF"/>
                </a:solidFill>
                <a:latin typeface="Outfit"/>
              </a:defRPr>
            </a:pPr>
            <a:r>
              <a:t>QUIZ RUSH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5 questions drawn from 10-question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Categories: Science, Web, CS, Math, Geography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Options shuffled each playthrough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Immediate feedback with correct answer reveal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Percentage score + encouraging result message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5303520" cy="4114800"/>
          </a:xfrm>
          <a:prstGeom prst="roundRect">
            <a:avLst/>
          </a:prstGeom>
          <a:solidFill>
            <a:srgbClr val="7E2869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5F4FF"/>
                </a:solidFill>
                <a:latin typeface="Outfit"/>
              </a:defRPr>
            </a:pPr>
            <a:r>
              <a:t>⚔️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1031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4FF"/>
                </a:solidFill>
                <a:latin typeface="Outfit"/>
              </a:defRPr>
            </a:pPr>
            <a:r>
              <a:t>QUIZ BATTLE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Solo Challenge OR 2-Player Versus (hotseat)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4 categories × 6 questions each = 24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49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30-second timer per question + time bonus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Score = 100 base + (timeLeft / 3) bonus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Turn-based in Versus mode with active player highlight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57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Separate leaderboards for Solo vs Versus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1247120" cy="731520"/>
          </a:xfrm>
          <a:prstGeom prst="roundRect">
            <a:avLst/>
          </a:prstGeom>
          <a:solidFill>
            <a:srgbClr val="0E1024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9"/>
              </a:spcAft>
              <a:defRPr b="0" sz="1100">
                <a:solidFill>
                  <a:srgbClr val="F3C96D"/>
                </a:solidFill>
                <a:latin typeface="DM Mono"/>
              </a:defRPr>
            </a:pPr>
            <a:r>
              <a:t>const points = isCorrect ? 100 + Math.max(0, Math.floor(timeLeft / 3)) : 0  // Time bonus rewards speed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C96D"/>
                </a:solidFill>
                <a:latin typeface="DM Mono"/>
              </a:defRPr>
            </a:pPr>
            <a:r>
              <a:t>ZONE 3: GOLDEN HOURS  •  ZONE 4: NIGHT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F"/>
                </a:solidFill>
                <a:latin typeface="Outfit"/>
              </a:defRPr>
            </a:pPr>
            <a:r>
              <a:t>Calm Cognitive Training  •  Cloud Gaming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572000"/>
          </a:xfrm>
          <a:prstGeom prst="roundRect">
            <a:avLst/>
          </a:prstGeom>
          <a:solidFill>
            <a:srgbClr val="1D1D2C"/>
          </a:solidFill>
          <a:ln w="12700">
            <a:solidFill>
              <a:srgbClr val="F3C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3C96D"/>
                </a:solidFill>
                <a:latin typeface="Outfit"/>
              </a:defRPr>
            </a:pPr>
            <a:r>
              <a:t>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4FF"/>
                </a:solidFill>
                <a:latin typeface="Outfit"/>
              </a:defRPr>
            </a:pPr>
            <a:r>
              <a:t>PATTERN 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6B8D1"/>
                </a:solidFill>
                <a:latin typeface="Outfit"/>
              </a:defRPr>
            </a:pPr>
            <a:r>
              <a:t>A gentle, timer-free memory exercise for all 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3E1D1"/>
                </a:solidFill>
                <a:latin typeface="Outfit"/>
              </a:defRPr>
            </a:pPr>
            <a:r>
              <a:t>• 3×3 grid of emoji tiles (9 unique symbols)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3E1D1"/>
                </a:solidFill>
                <a:latin typeface="Outfit"/>
              </a:defRPr>
            </a:pPr>
            <a:r>
              <a:t>• Progressive difficulty: 4 → 7 tiles as score increases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3E1D1"/>
                </a:solidFill>
                <a:latin typeface="Outfit"/>
              </a:defRPr>
            </a:pPr>
            <a:r>
              <a:t>• Show Pattern phase (700ms per tile glow)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3E1D1"/>
                </a:solidFill>
                <a:latin typeface="Outfit"/>
              </a:defRPr>
            </a:pPr>
            <a:r>
              <a:t>• Player repeats at own pace — no timer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3E1D1"/>
                </a:solidFill>
                <a:latin typeface="Outfit"/>
              </a:defRPr>
            </a:pPr>
            <a:r>
              <a:t>• Score = rounds won; streak = consecutive rounds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3E1D1"/>
                </a:solidFill>
                <a:latin typeface="Outfit"/>
              </a:defRPr>
            </a:pPr>
            <a:r>
              <a:t>• Calm color palette: warm golds, soft animations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486400" cy="4572000"/>
          </a:xfrm>
          <a:prstGeom prst="roundRect">
            <a:avLst/>
          </a:prstGeom>
          <a:solidFill>
            <a:srgbClr val="2B176B"/>
          </a:solidFill>
          <a:ln w="12700">
            <a:solidFill>
              <a:srgbClr val="9D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9D6CFF"/>
                </a:solidFill>
                <a:latin typeface="Outfit"/>
              </a:defRPr>
            </a:pPr>
            <a: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4FF"/>
                </a:solidFill>
                <a:latin typeface="Outfit"/>
              </a:defRPr>
            </a:pPr>
            <a:r>
              <a:t>NIGHT ARENA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6B8D1"/>
                </a:solidFill>
                <a:latin typeface="Outfit"/>
              </a:defRPr>
            </a:pPr>
            <a:r>
              <a:t>Real WebRTC cloud gaming dashboard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2FF"/>
                </a:solidFill>
                <a:latin typeface="Outfit"/>
              </a:defRPr>
            </a:pPr>
            <a:r>
              <a:t>• 6 games: Valorant, BGMI, RE4, Cyberpunk, Elden Ring, Apex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2FF"/>
                </a:solidFill>
                <a:latin typeface="Outfit"/>
              </a:defRPr>
            </a:pPr>
            <a:r>
              <a:t>• Boot sequence simulation (6 stages, animated progress)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2FF"/>
                </a:solidFill>
                <a:latin typeface="Outfit"/>
              </a:defRPr>
            </a:pPr>
            <a:r>
              <a:t>• WebRTC signaling via Socket.io (offer/answer/ICE)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63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2FF"/>
                </a:solidFill>
                <a:latin typeface="Outfit"/>
              </a:defRPr>
            </a:pPr>
            <a:r>
              <a:t>• Live stream stats: latency, FPS, bitrate, viewer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120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2FF"/>
                </a:solidFill>
                <a:latin typeface="Outfit"/>
              </a:defRPr>
            </a:pPr>
            <a:r>
              <a:t>• Quality selector: 4K60 AV1 → 720p30 H.264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577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2FF"/>
                </a:solidFill>
                <a:latin typeface="Outfit"/>
              </a:defRPr>
            </a:pPr>
            <a:r>
              <a:t>• Console log with typed entries (system/stage/success/warning)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7E5FF"/>
                </a:solidFill>
                <a:latin typeface="DM Mono"/>
              </a:defRPr>
            </a:pPr>
            <a:r>
              <a:t>NIGHT ARENA — WEbrtc SIGNALING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F"/>
                </a:solidFill>
                <a:latin typeface="Outfit"/>
              </a:defRPr>
            </a:pPr>
            <a:r>
              <a:t>Real-time Peer Connection Establishment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286000" cy="1371600"/>
          </a:xfrm>
          <a:prstGeom prst="roundRect">
            <a:avLst/>
          </a:prstGeom>
          <a:solidFill>
            <a:srgbClr val="171A33"/>
          </a:solidFill>
          <a:ln w="12700">
            <a:solidFill>
              <a:srgbClr val="87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4FF"/>
                </a:solidFill>
                <a:latin typeface="Outfit"/>
              </a:defRPr>
            </a:pPr>
            <a:r>
              <a:t>VIEWER (Browser)</a:t>
            </a:r>
            <a:br/>
            <a:r>
              <a:t>React + socket.io-client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286000"/>
            <a:ext cx="2743200" cy="1371600"/>
          </a:xfrm>
          <a:prstGeom prst="roundRect">
            <a:avLst/>
          </a:prstGeom>
          <a:solidFill>
            <a:srgbClr val="171A33"/>
          </a:solidFill>
          <a:ln w="12700">
            <a:solidFill>
              <a:srgbClr val="9D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3774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4FF"/>
                </a:solidFill>
                <a:latin typeface="Outfit"/>
              </a:defRPr>
            </a:pPr>
            <a:r>
              <a:t>SIGNALING SERVER</a:t>
            </a:r>
            <a:br/>
            <a:r>
              <a:t>Node.js + Socket.io :3001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2286000"/>
            <a:ext cx="2286000" cy="1371600"/>
          </a:xfrm>
          <a:prstGeom prst="roundRect">
            <a:avLst/>
          </a:prstGeom>
          <a:solidFill>
            <a:srgbClr val="171A33"/>
          </a:solidFill>
          <a:ln w="12700">
            <a:solidFill>
              <a:srgbClr val="74E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4FF"/>
                </a:solidFill>
                <a:latin typeface="Outfit"/>
              </a:defRPr>
            </a:pPr>
            <a:r>
              <a:t>HOST (Cloud GPU)</a:t>
            </a:r>
            <a:br/>
            <a:r>
              <a:t>Sunshine / Custom WebRTC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7E5FF"/>
                </a:solidFill>
                <a:latin typeface="DM Mono"/>
              </a:defRPr>
            </a:pPr>
            <a:r>
              <a:t>1. join-room(role=viewer)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7E5FF"/>
                </a:solidFill>
                <a:latin typeface="DM Mono"/>
              </a:defRPr>
            </a:pPr>
            <a:r>
              <a:t>2. room-joined(offer)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4E7A8"/>
                </a:solidFill>
                <a:latin typeface="DM Mono"/>
              </a:defRPr>
            </a:pPr>
            <a:r>
              <a:t>3. join-room(role=host, offer)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4E7A8"/>
                </a:solidFill>
                <a:latin typeface="DM Mono"/>
              </a:defRPr>
            </a:pPr>
            <a:r>
              <a:t>4. offer → 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7E5FF"/>
                </a:solidFill>
                <a:latin typeface="DM Mono"/>
              </a:defRPr>
            </a:pPr>
            <a:r>
              <a:t>5. answer → 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3C96D"/>
                </a:solidFill>
                <a:latin typeface="DM Mono"/>
              </a:defRPr>
            </a:pPr>
            <a:r>
              <a:t>6. ICE candidates 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4E7A8"/>
                </a:solidFill>
                <a:latin typeface="DM Mono"/>
              </a:defRPr>
            </a:pPr>
            <a:r>
              <a:t>7. WebRTC Peer Connection Established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11247120" cy="2011680"/>
          </a:xfrm>
          <a:prstGeom prst="roundRect">
            <a:avLst/>
          </a:prstGeom>
          <a:solidFill>
            <a:srgbClr val="0E1024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9"/>
              </a:spcAft>
              <a:defRPr b="0" sz="1100">
                <a:solidFill>
                  <a:srgbClr val="87E5FF"/>
                </a:solidFill>
                <a:latin typeface="DM Mono"/>
              </a:defRPr>
            </a:pPr>
            <a:r>
              <a:t>// signaling/index.js — Core room logic</a:t>
            </a:r>
          </a:p>
          <a:p>
            <a:pPr>
              <a:spcAft>
                <a:spcPts val="219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socket.on('join-room', ({ roomId, role, offer }) =&gt; {</a:t>
            </a:r>
          </a:p>
          <a:p>
            <a:pPr>
              <a:spcAft>
                <a:spcPts val="219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  if (role === 'host') { room.host = socket.id; room.offer = offer }</a:t>
            </a:r>
          </a:p>
          <a:p>
            <a:pPr>
              <a:spcAft>
                <a:spcPts val="219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  else { room.viewers.add(socket.id); socket.emit('offer', { offer: room.offer }) }</a:t>
            </a:r>
          </a:p>
          <a:p>
            <a:pPr>
              <a:spcAft>
                <a:spcPts val="219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})</a:t>
            </a:r>
          </a:p>
          <a:p>
            <a:pPr>
              <a:spcAft>
                <a:spcPts val="219"/>
              </a:spcAft>
              <a:defRPr b="0" sz="600">
                <a:solidFill>
                  <a:srgbClr val="F5F4FF"/>
                </a:solidFill>
                <a:latin typeface="DM Mono"/>
              </a:defRPr>
            </a:pPr>
          </a:p>
          <a:p>
            <a:pPr>
              <a:spcAft>
                <a:spcPts val="219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socket.on('offer', ({ roomId, offer }) =&gt; socket.to(roomId).emit('offer', { offer }))</a:t>
            </a:r>
          </a:p>
          <a:p>
            <a:pPr>
              <a:spcAft>
                <a:spcPts val="219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socket.on('answer', ({ roomId, answer }) =&gt; socket.to(roomId).emit('answer', { answer }))</a:t>
            </a:r>
          </a:p>
          <a:p>
            <a:pPr>
              <a:spcAft>
                <a:spcPts val="219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socket.on('candidate', ({ roomId, candidate }) =&gt; io.to(room.host).emit('candidate', { candidate }))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7E5FF"/>
                </a:solidFill>
                <a:latin typeface="DM Mono"/>
              </a:defRPr>
            </a:pPr>
            <a:r>
              <a:t>NIGHT ARENA — DASHBOARD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F"/>
                </a:solidFill>
                <a:latin typeface="Outfit"/>
              </a:defRPr>
            </a:pPr>
            <a:r>
              <a:t>NightArena.jsx — 500+ Lines of Real-time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1612880" cy="4846320"/>
          </a:xfrm>
          <a:prstGeom prst="roundRect">
            <a:avLst/>
          </a:prstGeom>
          <a:solidFill>
            <a:srgbClr val="0E1024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4"/>
              </a:spcAft>
              <a:defRPr b="0" sz="1100">
                <a:solidFill>
                  <a:srgbClr val="87E5FF"/>
                </a:solidFill>
                <a:latin typeface="DM Mono"/>
              </a:defRPr>
            </a:pPr>
            <a:r>
              <a:t>// State Management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const [sessionStatus, setSessionStatus] = useState('ready')  // ready | connecting | active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const [connectionState, setConnectionState] = useState('disconnected')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const [bootProgress, setBootProgress] = useState(0)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const [logs, setLogs] = useState([])  // Real-time console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const [latency, setLatency] = useState(12)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const [fps, setFps] = useState(60)</a:t>
            </a:r>
          </a:p>
          <a:p>
            <a:pPr>
              <a:spcAft>
                <a:spcPts val="164"/>
              </a:spcAft>
              <a:defRPr b="0" sz="600">
                <a:solidFill>
                  <a:srgbClr val="F5F4FF"/>
                </a:solidFill>
                <a:latin typeface="DM Mono"/>
              </a:defRPr>
            </a:pPr>
          </a:p>
          <a:p>
            <a:pPr>
              <a:spcAft>
                <a:spcPts val="164"/>
              </a:spcAft>
              <a:defRPr b="0" sz="1100">
                <a:solidFill>
                  <a:srgbClr val="87E5FF"/>
                </a:solidFill>
                <a:latin typeface="DM Mono"/>
              </a:defRPr>
            </a:pPr>
            <a:r>
              <a:t>// Boot Sequence Simulation (6 stages)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const stages = [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  { label: 'Provisioning GPU instance', duration: 1500 },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  { label: 'Booting Windows 11 Pro', duration: 2000 },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  { label: 'Initializing RTX 4090 / NVENC', duration: 1200 },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  { label: 'Establishing network (Mumbai edge)', duration: 800 },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  { label: 'Launching Game', duration: 2500 },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  { label: 'Starting WebRTC encoder', duration: 800 },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]</a:t>
            </a:r>
          </a:p>
          <a:p>
            <a:pPr>
              <a:spcAft>
                <a:spcPts val="164"/>
              </a:spcAft>
              <a:defRPr b="0" sz="600">
                <a:solidFill>
                  <a:srgbClr val="F5F4FF"/>
                </a:solidFill>
                <a:latin typeface="DM Mono"/>
              </a:defRPr>
            </a:pPr>
          </a:p>
          <a:p>
            <a:pPr>
              <a:spcAft>
                <a:spcPts val="164"/>
              </a:spcAft>
              <a:defRPr b="0" sz="1100">
                <a:solidFill>
                  <a:srgbClr val="87E5FF"/>
                </a:solidFill>
                <a:latin typeface="DM Mono"/>
              </a:defRPr>
            </a:pPr>
            <a:r>
              <a:t>// WebRTC Connection Handling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const handleOffer = async (offer) =&gt; {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  const pc = new RTCPeerConnection({ iceServers: [{ urls: 'stun:stun.l.google.com:19302' }] })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  pc.ontrack = (e) =&gt; { videoRef.current.srcObject = e.streams[0] }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  pc.onconnectionstatechange = () =&gt; { setConnectionState(pc.connectionState) }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  await pc.setRemoteDescription(offer); const answer = await pc.createAnswer()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  socket.emit('answer', { roomId, answer: pc.localDescription })</a:t>
            </a:r>
          </a:p>
          <a:p>
            <a:pPr>
              <a:spcAft>
                <a:spcPts val="164"/>
              </a:spcAft>
              <a:defRPr b="0" sz="1100">
                <a:solidFill>
                  <a:srgbClr val="F5F4FF"/>
                </a:solidFill>
                <a:latin typeface="DM Mono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C96D"/>
                </a:solidFill>
                <a:latin typeface="DM Mono"/>
              </a:defRPr>
            </a:pPr>
            <a:r>
              <a:t>PLAYER PROFILE &amp; GAMIFICATION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F"/>
                </a:solidFill>
                <a:latin typeface="Outfit"/>
              </a:defRPr>
            </a:pPr>
            <a:r>
              <a:t>Persistent Identity, Badges, Streaks &amp; Leaderboards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743200" cy="457200"/>
          </a:xfrm>
          <a:prstGeom prst="roundRect">
            <a:avLst/>
          </a:prstGeom>
          <a:solidFill>
            <a:srgbClr val="9D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74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B18"/>
                </a:solidFill>
                <a:latin typeface="DM Mono"/>
              </a:defRPr>
            </a:pPr>
            <a:r>
              <a:t>AVATAR &amp; IDENTITY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743200" cy="411480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12 unlockable emoji avatars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Editable display name (localStorage)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Member since date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Click avatar → picker modal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743200" cy="457200"/>
          </a:xfrm>
          <a:prstGeom prst="roundRect">
            <a:avLst/>
          </a:prstGeom>
          <a:solidFill>
            <a:srgbClr val="87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B18"/>
                </a:solidFill>
                <a:latin typeface="DM Mono"/>
              </a:defRPr>
            </a:pPr>
            <a:r>
              <a:t>STATS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377440"/>
            <a:ext cx="2743200" cy="411480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Games Played (total across all games)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Total Score (cumulative)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749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Badges Earned (0/6 progress)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Per-game best streaks (5 games)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2743200" cy="457200"/>
          </a:xfrm>
          <a:prstGeom prst="roundRect">
            <a:avLst/>
          </a:prstGeom>
          <a:solidFill>
            <a:srgbClr val="F3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874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B18"/>
                </a:solidFill>
                <a:latin typeface="DM Mono"/>
              </a:defRPr>
            </a:pPr>
            <a:r>
              <a:t>BADGE SYSTEM (6)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377440"/>
            <a:ext cx="2743200" cy="411480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F4FF"/>
                </a:solidFill>
                <a:latin typeface="Outfit"/>
              </a:defRPr>
            </a:pPr>
            <a:r>
              <a:t>🎖️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Veteran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8163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Play 10 games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54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F4FF"/>
                </a:solidFill>
                <a:latin typeface="Outfit"/>
              </a:defRPr>
            </a:pPr>
            <a:r>
              <a:t>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154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Legend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410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Play 50 games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49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F4FF"/>
                </a:solidFill>
                <a:latin typeface="Outfit"/>
              </a:defRPr>
            </a:pPr>
            <a:r>
              <a:t>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749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Scorer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0050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1,000 total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343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F4FF"/>
                </a:solidFill>
                <a:latin typeface="Outfit"/>
              </a:defRPr>
            </a:pPr>
            <a:r>
              <a:t>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Master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5994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5,000 total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937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F4FF"/>
                </a:solidFill>
                <a:latin typeface="Outfit"/>
              </a:defRPr>
            </a:pPr>
            <a:r>
              <a:t>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Streaker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193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10+ streak any game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532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F4FF"/>
                </a:solidFill>
                <a:latin typeface="Outfit"/>
              </a:defRPr>
            </a:pPr>
            <a:r>
              <a:t>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532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4FF"/>
                </a:solidFill>
                <a:latin typeface="Outfit"/>
              </a:defRPr>
            </a:pPr>
            <a:r>
              <a:t>Completionist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788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6B8D1"/>
                </a:solidFill>
                <a:latin typeface="Outfit"/>
              </a:defRPr>
            </a:pPr>
            <a:r>
              <a:t>Play all 5 games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1828800"/>
            <a:ext cx="2743200" cy="457200"/>
          </a:xfrm>
          <a:prstGeom prst="roundRect">
            <a:avLst/>
          </a:prstGeom>
          <a:solidFill>
            <a:srgbClr val="74E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1874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B18"/>
                </a:solidFill>
                <a:latin typeface="DM Mono"/>
              </a:defRPr>
            </a:pPr>
            <a:r>
              <a:t>LEADERBOARDS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0" y="2377440"/>
            <a:ext cx="2743200" cy="411480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Per-game top 10 (localStorage)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Global weekly ranking (demo data)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749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Current player highlighted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• Separate Solo vs Versus boards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7E5FF"/>
                </a:solidFill>
                <a:latin typeface="DM Mono"/>
              </a:defRPr>
            </a:pPr>
            <a:r>
              <a:t>DESIGN SYSTEM &amp; STYLING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F"/>
                </a:solidFill>
                <a:latin typeface="Outfit"/>
              </a:defRPr>
            </a:pPr>
            <a:r>
              <a:t>CSS Custom Properties • Responsive • Accessible • Dark-First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0E1024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b="0" sz="1200">
                <a:solidFill>
                  <a:srgbClr val="87E5FF"/>
                </a:solidFill>
                <a:latin typeface="DM Mono"/>
              </a:defRPr>
            </a:pPr>
            <a:r>
              <a:t>:root {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--bg: #080b18;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--card: #10132a;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--border: #ffffff16;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--text: #f5f4ff;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--muted: #b6b8d1;</a:t>
            </a:r>
          </a:p>
          <a:p>
            <a:pPr>
              <a:spcAft>
                <a:spcPts val="239"/>
              </a:spcAft>
              <a:defRPr b="0" sz="1200">
                <a:solidFill>
                  <a:srgbClr val="9D6CFF"/>
                </a:solidFill>
                <a:latin typeface="DM Mono"/>
              </a:defRPr>
            </a:pPr>
            <a:r>
              <a:t>  --accent-purple: #9d6cff;</a:t>
            </a:r>
          </a:p>
          <a:p>
            <a:pPr>
              <a:spcAft>
                <a:spcPts val="239"/>
              </a:spcAft>
              <a:defRPr b="0" sz="1200">
                <a:solidFill>
                  <a:srgbClr val="87E5FF"/>
                </a:solidFill>
                <a:latin typeface="DM Mono"/>
              </a:defRPr>
            </a:pPr>
            <a:r>
              <a:t>  --accent-cyan: #87e5ff;</a:t>
            </a:r>
          </a:p>
          <a:p>
            <a:pPr>
              <a:spcAft>
                <a:spcPts val="239"/>
              </a:spcAft>
              <a:defRPr b="0" sz="1200">
                <a:solidFill>
                  <a:srgbClr val="74E7A8"/>
                </a:solidFill>
                <a:latin typeface="DM Mono"/>
              </a:defRPr>
            </a:pPr>
            <a:r>
              <a:t>  --accent-green: #74e7a8;</a:t>
            </a:r>
          </a:p>
          <a:p>
            <a:pPr>
              <a:spcAft>
                <a:spcPts val="239"/>
              </a:spcAft>
              <a:defRPr b="0" sz="1200">
                <a:solidFill>
                  <a:srgbClr val="F3C96D"/>
                </a:solidFill>
                <a:latin typeface="DM Mono"/>
              </a:defRPr>
            </a:pPr>
            <a:r>
              <a:t>  --accent-gold: #f3c96d;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--font-mono: 'DM Mono', monospace;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--font-ui: 'Outfit', sans-serif;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--radius-sm: 8px;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--radius-md: 16px;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--radius-lg: 24px;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  --shadow-glow: 0 0 30px #9d6cff55;</a:t>
            </a:r>
          </a:p>
          <a:p>
            <a:pPr>
              <a:spcAft>
                <a:spcPts val="239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7E5FF"/>
                </a:solidFill>
                <a:latin typeface="DM Mono"/>
              </a:defRPr>
            </a:pPr>
            <a:r>
              <a:t>BUTTON VARIANTS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1645920" cy="5029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3317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7E5FF"/>
                </a:solidFill>
                <a:latin typeface="DM Mono"/>
              </a:defRPr>
            </a:pPr>
            <a:r>
              <a:t>.primary-button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4203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6B8D1"/>
                </a:solidFill>
                <a:latin typeface="Outfit"/>
              </a:defRPr>
            </a:pPr>
            <a:r>
              <a:t>Gradient purple, glow shadow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1645920" cy="5029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971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7E5FF"/>
                </a:solidFill>
                <a:latin typeface="DM Mono"/>
              </a:defRPr>
            </a:pPr>
            <a:r>
              <a:t>.outline-button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82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6B8D1"/>
                </a:solidFill>
                <a:latin typeface="Outfit"/>
              </a:defRPr>
            </a:pPr>
            <a:r>
              <a:t>Indigo border, transparent bg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566160"/>
            <a:ext cx="1645920" cy="5029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6118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7E5FF"/>
                </a:solidFill>
                <a:latin typeface="DM Mono"/>
              </a:defRPr>
            </a:pPr>
            <a:r>
              <a:t>.launch-button.danger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221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6B8D1"/>
                </a:solidFill>
                <a:latin typeface="Outfit"/>
              </a:defRPr>
            </a:pPr>
            <a:r>
              <a:t>Red gradient for destructive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06240"/>
            <a:ext cx="1645920" cy="5029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519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7E5FF"/>
                </a:solidFill>
                <a:latin typeface="DM Mono"/>
              </a:defRPr>
            </a:pPr>
            <a:r>
              <a:t>.diff-btn.active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6227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6B8D1"/>
                </a:solidFill>
                <a:latin typeface="Outfit"/>
              </a:defRPr>
            </a:pPr>
            <a:r>
              <a:t>Violet gradient when selected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7E5FF"/>
                </a:solidFill>
                <a:latin typeface="DM Mono"/>
              </a:defRPr>
            </a:pPr>
            <a:r>
              <a:t>CARD TONES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286000"/>
            <a:ext cx="1645920" cy="5029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3317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7E5FF"/>
                </a:solidFill>
                <a:latin typeface="DM Mono"/>
              </a:defRPr>
            </a:pPr>
            <a:r>
              <a:t>.game-card.violet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4203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6B8D1"/>
                </a:solidFill>
                <a:latin typeface="Outfit"/>
              </a:defRPr>
            </a:pPr>
            <a:r>
              <a:t>Learning zone — deep purple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926080"/>
            <a:ext cx="1645920" cy="5029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971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7E5FF"/>
                </a:solidFill>
                <a:latin typeface="DM Mono"/>
              </a:defRPr>
            </a:pPr>
            <a:r>
              <a:t>.game-card.blue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182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6B8D1"/>
                </a:solidFill>
                <a:latin typeface="Outfit"/>
              </a:defRPr>
            </a:pPr>
            <a:r>
              <a:t>Rising/Tech — cyan-blue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566160"/>
            <a:ext cx="1645920" cy="5029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6118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7E5FF"/>
                </a:solidFill>
                <a:latin typeface="DM Mono"/>
              </a:defRPr>
            </a:pPr>
            <a:r>
              <a:t>.game-card.pink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8221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6B8D1"/>
                </a:solidFill>
                <a:latin typeface="Outfit"/>
              </a:defRPr>
            </a:pPr>
            <a:r>
              <a:t>Challenge — magenta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206240"/>
            <a:ext cx="1645920" cy="5029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2519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7E5FF"/>
                </a:solidFill>
                <a:latin typeface="DM Mono"/>
              </a:defRPr>
            </a:pPr>
            <a:r>
              <a:t>.badge-card.earned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46227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6B8D1"/>
                </a:solidFill>
                <a:latin typeface="Outfit"/>
              </a:defRPr>
            </a:pPr>
            <a:r>
              <a:t>Gold border + warm bg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7E5FF"/>
                </a:solidFill>
                <a:latin typeface="DM Mono"/>
              </a:defRPr>
            </a:pPr>
            <a:r>
              <a:t>ANIMATIONS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2286000"/>
            <a:ext cx="1645920" cy="5029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23317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7E5FF"/>
                </a:solidFill>
                <a:latin typeface="DM Mono"/>
              </a:defRPr>
            </a:pPr>
            <a:r>
              <a:t>@keyframes flicker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254203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6B8D1"/>
                </a:solidFill>
                <a:latin typeface="Outfit"/>
              </a:defRPr>
            </a:pPr>
            <a:r>
              <a:t>Streak fire emoji pulse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2926080"/>
            <a:ext cx="1645920" cy="5029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2971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7E5FF"/>
                </a:solidFill>
                <a:latin typeface="DM Mono"/>
              </a:defRPr>
            </a:pPr>
            <a:r>
              <a:t>@keyframes pulse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1821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6B8D1"/>
                </a:solidFill>
                <a:latin typeface="Outfit"/>
              </a:defRPr>
            </a:pPr>
            <a:r>
              <a:t>Timer dot heartbeat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3566160"/>
            <a:ext cx="1645920" cy="5029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36118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7E5FF"/>
                </a:solidFill>
                <a:latin typeface="DM Mono"/>
              </a:defRPr>
            </a:pPr>
            <a:r>
              <a:t>transition: .2s ease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38221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6B8D1"/>
                </a:solidFill>
                <a:latin typeface="Outfit"/>
              </a:defRPr>
            </a:pPr>
            <a:r>
              <a:t>Hover lift + shadow grow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4206240"/>
            <a:ext cx="1645920" cy="50292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42519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7E5FF"/>
                </a:solidFill>
                <a:latin typeface="DM Mono"/>
              </a:defRPr>
            </a:pPr>
            <a:r>
              <a:t>transform: rotateY(180deg)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446227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6B8D1"/>
                </a:solidFill>
                <a:latin typeface="Outfit"/>
              </a:defRPr>
            </a:pPr>
            <a:r>
              <a:t>Memory card 3D flip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35040"/>
            <a:ext cx="11247120" cy="640080"/>
          </a:xfrm>
          <a:prstGeom prst="roundRect">
            <a:avLst/>
          </a:prstGeom>
          <a:solidFill>
            <a:srgbClr val="1A1D3A"/>
          </a:solidFill>
          <a:ln w="12700">
            <a:solidFill>
              <a:srgbClr val="9D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080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b="1" sz="1200">
                <a:solidFill>
                  <a:srgbClr val="9D6CFF"/>
                </a:solidFill>
                <a:latin typeface="Outfit"/>
              </a:defRPr>
            </a:pPr>
            <a:r>
              <a:t>RESPONSIVE BREAKPOINTS:</a:t>
            </a:r>
          </a:p>
          <a:p>
            <a:pPr>
              <a:spcAft>
                <a:spcPts val="330"/>
              </a:spcAft>
              <a:defRPr b="0" sz="1100">
                <a:solidFill>
                  <a:srgbClr val="B6B8D1"/>
                </a:solidFill>
                <a:latin typeface="Outfit"/>
              </a:defRPr>
            </a:pPr>
            <a:r>
              <a:t>@media (max-width: 820px) → 2-col grids, stacked layouts  •  @media (max-width: 520px) → 1-col, full-width buttons, condensed nav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4E7A8"/>
                </a:solidFill>
                <a:latin typeface="DM Mono"/>
              </a:defRPr>
            </a:pPr>
            <a:r>
              <a:t>DEPLOYMENT &amp; WINDOWS HOST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F"/>
                </a:solidFill>
                <a:latin typeface="Outfit"/>
              </a:defRPr>
            </a:pPr>
            <a:r>
              <a:t>From Local Dev → Production Cloud Gaming 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743200" cy="457200"/>
          </a:xfrm>
          <a:prstGeom prst="roundRect">
            <a:avLst/>
          </a:prstGeom>
          <a:solidFill>
            <a:srgbClr val="87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B18"/>
                </a:solidFill>
                <a:latin typeface="DM Mono"/>
              </a:defRPr>
            </a:pPr>
            <a:r>
              <a:t>DEV MACHINE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743200" cy="320040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1. npm run dev:all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2. Client: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3. Server: localhost:3001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4. Hot reload + concurrent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743200" cy="457200"/>
          </a:xfrm>
          <a:prstGeom prst="roundRect">
            <a:avLst/>
          </a:prstGeom>
          <a:solidFill>
            <a:srgbClr val="9D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B18"/>
                </a:solidFill>
                <a:latin typeface="DM Mono"/>
              </a:defRPr>
            </a:pPr>
            <a:r>
              <a:t>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377440"/>
            <a:ext cx="2743200" cy="320040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1. npm run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2. Output: /dist (static)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3. Deploy to Netlify/Vercel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480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4. Or serve from Windows host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2743200" cy="457200"/>
          </a:xfrm>
          <a:prstGeom prst="roundRect">
            <a:avLst/>
          </a:prstGeom>
          <a:solidFill>
            <a:srgbClr val="74E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874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B18"/>
                </a:solidFill>
                <a:latin typeface="DM Mono"/>
              </a:defRPr>
            </a:pPr>
            <a:r>
              <a:t>WINDOWS HOST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377440"/>
            <a:ext cx="2743200" cy="320040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1. 1. Enable Hyper-V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2. 2. Create Game 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3. 3. Install Sunshine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80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4. 4. Run Signaling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20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5. 5. Configure Firewall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828800"/>
            <a:ext cx="2743200" cy="457200"/>
          </a:xfrm>
          <a:prstGeom prst="roundRect">
            <a:avLst/>
          </a:prstGeom>
          <a:solidFill>
            <a:srgbClr val="F3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1874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B18"/>
                </a:solidFill>
                <a:latin typeface="DM Mono"/>
              </a:defRPr>
            </a:pPr>
            <a:r>
              <a:t>CLIENT ACCESS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2377440"/>
            <a:ext cx="2743200" cy="320040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1. Browser → NightArena 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2. Select game → Launch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3. WebRTC stream from VM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4480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5FF"/>
                </a:solidFill>
                <a:latin typeface="Outfit"/>
              </a:defRPr>
            </a:pPr>
            <a:r>
              <a:t>4. Console logs show connection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0E1024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b="1" sz="1300">
                <a:solidFill>
                  <a:srgbClr val="74E7A8"/>
                </a:solidFill>
                <a:latin typeface="Outfit"/>
              </a:defRPr>
            </a:pPr>
            <a:r>
              <a:t>WINDOWS HOST COMMANDS:</a:t>
            </a:r>
          </a:p>
          <a:p>
            <a:pPr>
              <a:spcAft>
                <a:spcPts val="330"/>
              </a:spcAft>
              <a:defRPr b="0" sz="1100">
                <a:solidFill>
                  <a:srgbClr val="F5F4FF"/>
                </a:solidFill>
                <a:latin typeface="Outfit"/>
              </a:defRPr>
            </a:pPr>
            <a:r>
              <a:t>Enable-WindowsOptionalFeature -Online -FeatureName Microsoft-Hyper-V -All  •  pm2 start index.js --name signaling  •  New-NetFirewallRule -DisplayName 'NightHours' -LocalPort 3001,47984,47989,47990 -Action Allow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7E5FF"/>
                </a:solidFill>
                <a:latin typeface="DM Mono"/>
              </a:defRPr>
            </a:pPr>
            <a:r>
              <a:t>PROJECT 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F"/>
                </a:solidFill>
                <a:latin typeface="Outfit"/>
              </a:defRPr>
            </a:pPr>
            <a:r>
              <a:t>Organized by Feature • Scalable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4389120"/>
          </a:xfrm>
          <a:prstGeom prst="roundRect">
            <a:avLst/>
          </a:prstGeom>
          <a:solidFill>
            <a:srgbClr val="0E1024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4"/>
              </a:spcAft>
              <a:defRPr b="0" sz="1200">
                <a:solidFill>
                  <a:srgbClr val="87E5FF"/>
                </a:solidFill>
                <a:latin typeface="DM Mono"/>
              </a:defRPr>
            </a:pPr>
            <a:r>
              <a:t>night-hours/</a:t>
            </a:r>
          </a:p>
          <a:p>
            <a:pPr>
              <a:spcAft>
                <a:spcPts val="164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├── src/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├── main.jsx                 # Entry + BrowserRouter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├── App.jsx                  # Routes (7 zones)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├── styles/global.css        # Design system (274 lines)</a:t>
            </a:r>
          </a:p>
          <a:p>
            <a:pPr>
              <a:spcAft>
                <a:spcPts val="164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│   ├── components/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│   ├── Navbar.jsx           # Top nav + brand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│   └── Footer.jsx</a:t>
            </a:r>
          </a:p>
          <a:p>
            <a:pPr>
              <a:spcAft>
                <a:spcPts val="164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│   ├── pages/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│   ├── Home.jsx             # Hero, zones, featured, stats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│   ├── NightArena.jsx       # Cloud gaming dashboard (500+ lines)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│   ├── Profile.jsx          # Avatar, stats, badges, streaks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│   └── PlaceholderPage.jsx  # Coming soon zones</a:t>
            </a:r>
          </a:p>
          <a:p>
            <a:pPr>
              <a:spcAft>
                <a:spcPts val="164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│   └── games/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    ├── MemoryMatch.jsx      # 12-card flip game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    ├── TypeSprint.jsx       # 60s typing + WPM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    ├── MathQuest.jsx        # 3 difficulties, streak scoring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    ├── QuizRush.jsx         # 5Q sprint, shuffled bank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    ├── QuizBattle.jsx       # Solo/Versus, 4 cats, time bonus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    └── PatternRecall.jsx    # Timer-free pattern memory</a:t>
            </a:r>
          </a:p>
          <a:p>
            <a:pPr>
              <a:spcAft>
                <a:spcPts val="164"/>
              </a:spcAft>
              <a:defRPr b="0" sz="1200">
                <a:solidFill>
                  <a:srgbClr val="F5F4FF"/>
                </a:solidFill>
                <a:latin typeface="DM Mono"/>
              </a:defRPr>
            </a:pPr>
            <a:r>
              <a:t>├── server/signaling/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├── index.js                 # Socket.io signaling (93 lines)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│   └── package.json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├── package.json                 # Vite, React, Router, Socket.io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├── vite.config.js</a:t>
            </a:r>
          </a:p>
          <a:p>
            <a:pPr>
              <a:spcAft>
                <a:spcPts val="164"/>
              </a:spcAft>
              <a:defRPr b="0" sz="1100">
                <a:solidFill>
                  <a:srgbClr val="B6B8D1"/>
                </a:solidFill>
                <a:latin typeface="DM Mono"/>
              </a:defRPr>
            </a:pPr>
            <a:r>
              <a:t>└── index.html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C96D"/>
                </a:solidFill>
                <a:latin typeface="DM Mono"/>
              </a:defRPr>
            </a:pPr>
            <a:r>
              <a:t>ROADMAP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4FF"/>
                </a:solidFill>
                <a:latin typeface="Outfit"/>
              </a:defRPr>
            </a:pPr>
            <a:r>
              <a:t>From Prototype → Production Cloud Gaming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743200" cy="457200"/>
          </a:xfrm>
          <a:prstGeom prst="roundRect">
            <a:avLst/>
          </a:prstGeom>
          <a:solidFill>
            <a:srgbClr val="74E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0B18"/>
                </a:solidFill>
                <a:latin typeface="DM Mono"/>
              </a:defRPr>
            </a:pPr>
            <a:r>
              <a:t>PHASE 1: FOUNDATION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743200" cy="365760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✓ 6 games across 4 zones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✓ Shared stats &amp; badge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✓ WebRTC signaling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✓ Night Arena dashboard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✓ Responsive dark-first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828800"/>
            <a:ext cx="2743200" cy="457200"/>
          </a:xfrm>
          <a:prstGeom prst="roundRect">
            <a:avLst/>
          </a:prstGeom>
          <a:solidFill>
            <a:srgbClr val="87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874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0B18"/>
                </a:solidFill>
                <a:latin typeface="DM Mono"/>
              </a:defRPr>
            </a:pPr>
            <a:r>
              <a:t>PHASE 2: HOST INFRASTRUCTURE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377440"/>
            <a:ext cx="2743200" cy="365760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Sunshine integration on Windows 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Hyper-V VM with GPU passthrough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Tailscale mesh for secure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480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Auto-scaling session provisioning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120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Stream quality negotiation (WHIP/WHEP)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2743200" cy="457200"/>
          </a:xfrm>
          <a:prstGeom prst="roundRect">
            <a:avLst/>
          </a:prstGeom>
          <a:solidFill>
            <a:srgbClr val="9D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874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0B18"/>
                </a:solidFill>
                <a:latin typeface="DM Mono"/>
              </a:defRPr>
            </a:pPr>
            <a:r>
              <a:t>PHASE 3: BACKEND &amp; AUTH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377440"/>
            <a:ext cx="2743200" cy="365760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PostgreSQL + Prisma 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NextAuth.js / Clerk 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Real user accounts &amp; cloud 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80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Session request approval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20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Admin dashboard for host management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828800"/>
            <a:ext cx="2743200" cy="457200"/>
          </a:xfrm>
          <a:prstGeom prst="roundRect">
            <a:avLst/>
          </a:prstGeom>
          <a:solidFill>
            <a:srgbClr val="F3C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1874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0B18"/>
                </a:solidFill>
                <a:latin typeface="DM Mono"/>
              </a:defRPr>
            </a:pPr>
            <a:r>
              <a:t>PHASE 4: PLATFORM FEATURES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377440"/>
            <a:ext cx="2743200" cy="3657600"/>
          </a:xfrm>
          <a:prstGeom prst="roundRect">
            <a:avLst/>
          </a:prstGeom>
          <a:solidFill>
            <a:srgbClr val="1013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Multi-host fleet orchestration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Game library API (Steam/Epic integration)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Tournament brackets &amp; matchmaking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480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Spectator mode + chat overlay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5120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5FF"/>
                </a:solidFill>
                <a:latin typeface="Outfit"/>
              </a:defRPr>
            </a:pPr>
            <a:r>
              <a:t>→ Mobile app (React Native)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4572000" cy="4572000"/>
          </a:xfrm>
          <a:prstGeom prst="ellipse">
            <a:avLst/>
          </a:prstGeom>
          <a:solidFill>
            <a:srgbClr val="8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6D5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5F4FF"/>
                </a:solidFill>
                <a:latin typeface="Outfit"/>
              </a:defRPr>
            </a:pPr>
            <a:r>
              <a:t>NIGHT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7E5FF"/>
                </a:solidFill>
                <a:latin typeface="Outfit"/>
              </a:defRPr>
            </a:pPr>
            <a:r>
              <a:t>Play beyond the clock.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b="0" sz="2000">
                <a:solidFill>
                  <a:srgbClr val="B6B8D1"/>
                </a:solidFill>
                <a:latin typeface="Outfit"/>
              </a:defRPr>
            </a:pPr>
            <a:r>
              <a:t>A complete gaming universe built with modern web technologies</a:t>
            </a:r>
          </a:p>
          <a:p>
            <a:pPr>
              <a:spcAft>
                <a:spcPts val="900"/>
              </a:spcAft>
              <a:defRPr b="0" sz="1000">
                <a:solidFill>
                  <a:srgbClr val="F5F4FF"/>
                </a:solidFill>
                <a:latin typeface="Outfit"/>
              </a:defRPr>
            </a:pPr>
          </a:p>
          <a:p>
            <a:pPr>
              <a:spcAft>
                <a:spcPts val="900"/>
              </a:spcAft>
              <a:defRPr b="0" sz="1600">
                <a:solidFill>
                  <a:srgbClr val="9D6CFF"/>
                </a:solidFill>
                <a:latin typeface="Outfit"/>
              </a:defRPr>
            </a:pPr>
            <a:r>
              <a:t>React 18 • Vite • WebRTC • Socket.io • CSS Variables • LocalStorage</a:t>
            </a:r>
          </a:p>
          <a:p>
            <a:pPr>
              <a:spcAft>
                <a:spcPts val="900"/>
              </a:spcAft>
              <a:defRPr b="0" sz="1000">
                <a:solidFill>
                  <a:srgbClr val="F5F4FF"/>
                </a:solidFill>
                <a:latin typeface="Outfit"/>
              </a:defRPr>
            </a:pPr>
          </a:p>
          <a:p>
            <a:pPr>
              <a:spcAft>
                <a:spcPts val="900"/>
              </a:spcAft>
              <a:defRPr b="0" sz="1800">
                <a:solidFill>
                  <a:srgbClr val="74E7A8"/>
                </a:solidFill>
                <a:latin typeface="Outfit"/>
              </a:defRPr>
            </a:pPr>
            <a:r>
              <a:t>Ready for Windows Host + VM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D8A"/>
                </a:solidFill>
                <a:latin typeface="DM Mono"/>
              </a:defRPr>
            </a:pPr>
            <a:r>
              <a:t>Built for late-night players of every generation.  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