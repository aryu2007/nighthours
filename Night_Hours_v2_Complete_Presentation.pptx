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Outfit"/>
      <p:bold r:id="rId24"/>
    </p:embeddedFont>
    <p:embeddedFont>
      <p:font typeface="Outfit Medium"/>
      <p:regular r:id="rId25"/>
      <p:bold r:id="rId26"/>
    </p:embeddedFont>
    <p:embeddedFont>
      <p:font typeface="Outfit SemiBold"/>
      <p:regular r:id="rId27"/>
      <p:bold r:id="rId28"/>
    </p:embeddedFont>
    <p:embeddedFont>
      <p:font typeface="DM Mono"/>
      <p:regular r:id="rId29"/>
      <p: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Outfit-bold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utfitMedium-bold.fntdata"/><Relationship Id="rId25" Type="http://schemas.openxmlformats.org/officeDocument/2006/relationships/font" Target="fonts/OutfitMedium-regular.fntdata"/><Relationship Id="rId28" Type="http://schemas.openxmlformats.org/officeDocument/2006/relationships/font" Target="fonts/OutfitSemiBold-bold.fntdata"/><Relationship Id="rId27" Type="http://schemas.openxmlformats.org/officeDocument/2006/relationships/font" Target="fonts/Outfit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DMMon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DM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78d34c3444281f4c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78d34c3444281f4c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78d34c3444281f4c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h78d34c3444281f4c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h78d34c3444281f4c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h78d34c3444281f4c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h78d34c3444281f4c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h78d34c3444281f4c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h78d34c3444281f4c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h78d34c3444281f4c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h78d34c3444281f4c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h78d34c3444281f4c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h78d34c3444281f4c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h78d34c3444281f4c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h78d34c3444281f4c_1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h78d34c3444281f4c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h78d34c3444281f4c_1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h78d34c3444281f4c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h78d34c3444281f4c_1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h78d34c3444281f4c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h78d34c3444281f4c_1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h78d34c3444281f4c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h78d34c3444281f4c_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h78d34c3444281f4c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h78d34c3444281f4c_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h78d34c3444281f4c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h78d34c3444281f4c_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h78d34c3444281f4c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h78d34c3444281f4c_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h78d34c3444281f4c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h78d34c3444281f4c_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h78d34c3444281f4c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h78d34c3444281f4c_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h78d34c3444281f4c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h78d34c3444281f4c_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h78d34c3444281f4c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78d34c3444281f4c_2_0)">
  <p:cSld name="Generated (h78d34c3444281f4c_2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6.png"/><Relationship Id="rId10" Type="http://schemas.openxmlformats.org/officeDocument/2006/relationships/image" Target="../media/image18.png"/><Relationship Id="rId1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9" Type="http://schemas.openxmlformats.org/officeDocument/2006/relationships/image" Target="../media/image14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Relationship Id="rId7" Type="http://schemas.openxmlformats.org/officeDocument/2006/relationships/image" Target="../media/image7.png"/><Relationship Id="rId8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Relationship Id="rId4" Type="http://schemas.openxmlformats.org/officeDocument/2006/relationships/image" Target="../media/image1.png"/><Relationship Id="rId5" Type="http://schemas.openxmlformats.org/officeDocument/2006/relationships/image" Target="../media/image31.png"/><Relationship Id="rId6" Type="http://schemas.openxmlformats.org/officeDocument/2006/relationships/image" Target="../media/image26.png"/><Relationship Id="rId7" Type="http://schemas.openxmlformats.org/officeDocument/2006/relationships/image" Target="../media/image39.png"/><Relationship Id="rId8" Type="http://schemas.openxmlformats.org/officeDocument/2006/relationships/image" Target="../media/image3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61.png"/><Relationship Id="rId6" Type="http://schemas.openxmlformats.org/officeDocument/2006/relationships/image" Target="../media/image60.png"/><Relationship Id="rId7" Type="http://schemas.openxmlformats.org/officeDocument/2006/relationships/image" Target="../media/image57.png"/><Relationship Id="rId8" Type="http://schemas.openxmlformats.org/officeDocument/2006/relationships/image" Target="../media/image6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67.png"/><Relationship Id="rId5" Type="http://schemas.openxmlformats.org/officeDocument/2006/relationships/image" Target="../media/image66.png"/><Relationship Id="rId6" Type="http://schemas.openxmlformats.org/officeDocument/2006/relationships/image" Target="../media/image1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31.png"/><Relationship Id="rId5" Type="http://schemas.openxmlformats.org/officeDocument/2006/relationships/image" Target="../media/image26.png"/><Relationship Id="rId6" Type="http://schemas.openxmlformats.org/officeDocument/2006/relationships/image" Target="../media/image39.png"/><Relationship Id="rId7" Type="http://schemas.openxmlformats.org/officeDocument/2006/relationships/image" Target="../media/image3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Relationship Id="rId4" Type="http://schemas.openxmlformats.org/officeDocument/2006/relationships/image" Target="../media/image119.png"/><Relationship Id="rId9" Type="http://schemas.openxmlformats.org/officeDocument/2006/relationships/image" Target="../media/image139.png"/><Relationship Id="rId5" Type="http://schemas.openxmlformats.org/officeDocument/2006/relationships/image" Target="../media/image132.png"/><Relationship Id="rId6" Type="http://schemas.openxmlformats.org/officeDocument/2006/relationships/image" Target="../media/image124.png"/><Relationship Id="rId7" Type="http://schemas.openxmlformats.org/officeDocument/2006/relationships/image" Target="../media/image134.png"/><Relationship Id="rId8" Type="http://schemas.openxmlformats.org/officeDocument/2006/relationships/image" Target="../media/image12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image" Target="../media/image7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Relationship Id="rId4" Type="http://schemas.openxmlformats.org/officeDocument/2006/relationships/image" Target="../media/image21.png"/><Relationship Id="rId5" Type="http://schemas.openxmlformats.org/officeDocument/2006/relationships/image" Target="../media/image7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Relationship Id="rId4" Type="http://schemas.openxmlformats.org/officeDocument/2006/relationships/image" Target="../media/image1.png"/><Relationship Id="rId5" Type="http://schemas.openxmlformats.org/officeDocument/2006/relationships/image" Target="../media/image1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9" Type="http://schemas.openxmlformats.org/officeDocument/2006/relationships/image" Target="../media/image157.png"/><Relationship Id="rId5" Type="http://schemas.openxmlformats.org/officeDocument/2006/relationships/image" Target="../media/image158.png"/><Relationship Id="rId6" Type="http://schemas.openxmlformats.org/officeDocument/2006/relationships/image" Target="../media/image144.png"/><Relationship Id="rId7" Type="http://schemas.openxmlformats.org/officeDocument/2006/relationships/image" Target="../media/image148.png"/><Relationship Id="rId8" Type="http://schemas.openxmlformats.org/officeDocument/2006/relationships/image" Target="../media/image147.png"/></Relationships>
</file>

<file path=ppt/slides/_rels/slide18.xml.rels><?xml version="1.0" encoding="UTF-8" standalone="yes"?><Relationships xmlns="http://schemas.openxmlformats.org/package/2006/relationships"><Relationship Id="rId10" Type="http://schemas.openxmlformats.org/officeDocument/2006/relationships/image" Target="../media/image15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Relationship Id="rId4" Type="http://schemas.openxmlformats.org/officeDocument/2006/relationships/image" Target="../media/image1.png"/><Relationship Id="rId9" Type="http://schemas.openxmlformats.org/officeDocument/2006/relationships/image" Target="../media/image149.png"/><Relationship Id="rId5" Type="http://schemas.openxmlformats.org/officeDocument/2006/relationships/image" Target="../media/image151.png"/><Relationship Id="rId6" Type="http://schemas.openxmlformats.org/officeDocument/2006/relationships/image" Target="../media/image145.png"/><Relationship Id="rId7" Type="http://schemas.openxmlformats.org/officeDocument/2006/relationships/image" Target="../media/image146.png"/><Relationship Id="rId8" Type="http://schemas.openxmlformats.org/officeDocument/2006/relationships/image" Target="../media/image15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0132A">
                  <a:alpha val="89804"/>
                </a:srgbClr>
              </a:gs>
              <a:gs pos="100000">
                <a:srgbClr val="080B18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" name="Google Shape;57;p14"/>
          <p:cNvGrpSpPr/>
          <p:nvPr/>
        </p:nvGrpSpPr>
        <p:grpSpPr>
          <a:xfrm>
            <a:off x="381000" y="209550"/>
            <a:ext cx="381000" cy="381000"/>
            <a:chOff x="0" y="0"/>
            <a:chExt cx="381000" cy="381000"/>
          </a:xfrm>
        </p:grpSpPr>
        <p:sp>
          <p:nvSpPr>
            <p:cNvPr id="58" name="Google Shape;58;p14"/>
            <p:cNvSpPr/>
            <p:nvPr/>
          </p:nvSpPr>
          <p:spPr>
            <a:xfrm>
              <a:off x="0" y="0"/>
              <a:ext cx="381000" cy="3810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30000"/>
                  </a:lnTo>
                  <a:lnTo>
                    <a:pt x="120000" y="90000"/>
                  </a:lnTo>
                  <a:lnTo>
                    <a:pt x="60000" y="120000"/>
                  </a:lnTo>
                  <a:lnTo>
                    <a:pt x="0" y="90000"/>
                  </a:lnTo>
                  <a:lnTo>
                    <a:pt x="0" y="3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9D6C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>
              <a:off x="38100" y="38100"/>
              <a:ext cx="304800" cy="3048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30000"/>
                  </a:lnTo>
                  <a:lnTo>
                    <a:pt x="120000" y="90000"/>
                  </a:lnTo>
                  <a:lnTo>
                    <a:pt x="60000" y="120000"/>
                  </a:lnTo>
                  <a:lnTo>
                    <a:pt x="0" y="90000"/>
                  </a:lnTo>
                  <a:lnTo>
                    <a:pt x="0" y="30000"/>
                  </a:lnTo>
                  <a:close/>
                </a:path>
              </a:pathLst>
            </a:custGeom>
            <a:solidFill>
              <a:srgbClr val="10132A"/>
            </a:solidFill>
            <a:ln cap="flat" cmpd="sng" w="9525">
              <a:solidFill>
                <a:srgbClr val="87E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/>
            <p:nvPr/>
          </p:nvSpPr>
          <p:spPr>
            <a:xfrm>
              <a:off x="114300" y="142875"/>
              <a:ext cx="152400" cy="95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moveTo>
                    <a:pt x="0" y="0"/>
                  </a:moveTo>
                  <a:lnTo>
                    <a:pt x="60000" y="120000"/>
                  </a:lnTo>
                  <a:moveTo>
                    <a:pt x="60000" y="0"/>
                  </a:moveTo>
                  <a:lnTo>
                    <a:pt x="60000" y="120000"/>
                  </a:lnTo>
                  <a:moveTo>
                    <a:pt x="120000" y="0"/>
                  </a:moveTo>
                  <a:lnTo>
                    <a:pt x="120000" y="120000"/>
                  </a:lnTo>
                  <a:moveTo>
                    <a:pt x="82500" y="60000"/>
                  </a:moveTo>
                  <a:lnTo>
                    <a:pt x="120000" y="6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" name="Google Shape;61;p14"/>
          <p:cNvGrpSpPr/>
          <p:nvPr/>
        </p:nvGrpSpPr>
        <p:grpSpPr>
          <a:xfrm>
            <a:off x="7810500" y="228600"/>
            <a:ext cx="981225" cy="133500"/>
            <a:chOff x="0" y="-9525"/>
            <a:chExt cx="981225" cy="133500"/>
          </a:xfrm>
        </p:grpSpPr>
        <p:pic>
          <p:nvPicPr>
            <p:cNvPr id="62" name="Google Shape;62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-9525"/>
              <a:ext cx="952500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" name="Google Shape;63;p14"/>
            <p:cNvSpPr/>
            <p:nvPr/>
          </p:nvSpPr>
          <p:spPr>
            <a:xfrm>
              <a:off x="923925" y="66675"/>
              <a:ext cx="57300" cy="57300"/>
            </a:xfrm>
            <a:prstGeom prst="ellipse">
              <a:avLst/>
            </a:prstGeom>
            <a:solidFill>
              <a:srgbClr val="87E5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476250" y="57150"/>
              <a:ext cx="142800" cy="19200"/>
            </a:xfrm>
            <a:prstGeom prst="rect">
              <a:avLst/>
            </a:prstGeom>
            <a:solidFill>
              <a:srgbClr val="74E7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" name="Google Shape;65;p14"/>
          <p:cNvSpPr txBox="1"/>
          <p:nvPr/>
        </p:nvSpPr>
        <p:spPr>
          <a:xfrm>
            <a:off x="876300" y="152400"/>
            <a:ext cx="78867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NIGHT HOURS v2.0: A Cross-Generational Gaming &amp; Cloud VM Universe</a:t>
            </a:r>
            <a:endParaRPr b="1" sz="170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87E5FF"/>
                </a:solidFill>
                <a:latin typeface="Outfit Medium"/>
                <a:ea typeface="Outfit Medium"/>
                <a:cs typeface="Outfit Medium"/>
                <a:sym typeface="Outfit Medium"/>
              </a:rPr>
              <a:t>Complete Project Breakdown &amp; Evolution from v1.0 Prototype to v2.0 Full-Stack Cloud Platform</a:t>
            </a:r>
            <a:endParaRPr b="0" sz="1050">
              <a:solidFill>
                <a:srgbClr val="87E5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381000" y="819150"/>
            <a:ext cx="8382000" cy="19200"/>
          </a:xfrm>
          <a:prstGeom prst="rect">
            <a:avLst/>
          </a:prstGeom>
          <a:gradFill>
            <a:gsLst>
              <a:gs pos="0">
                <a:srgbClr val="87E5FF"/>
              </a:gs>
              <a:gs pos="50000">
                <a:srgbClr val="9D6CFF"/>
              </a:gs>
              <a:gs pos="100000">
                <a:srgbClr val="080B18"/>
              </a:gs>
            </a:gsLst>
            <a:lin ang="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" name="Google Shape;67;p14"/>
          <p:cNvGrpSpPr/>
          <p:nvPr/>
        </p:nvGrpSpPr>
        <p:grpSpPr>
          <a:xfrm>
            <a:off x="381000" y="933450"/>
            <a:ext cx="8382000" cy="324000"/>
            <a:chOff x="0" y="0"/>
            <a:chExt cx="8382000" cy="324000"/>
          </a:xfrm>
        </p:grpSpPr>
        <p:sp>
          <p:nvSpPr>
            <p:cNvPr id="68" name="Google Shape;68;p14"/>
            <p:cNvSpPr/>
            <p:nvPr/>
          </p:nvSpPr>
          <p:spPr>
            <a:xfrm>
              <a:off x="0" y="0"/>
              <a:ext cx="8382000" cy="324000"/>
            </a:xfrm>
            <a:prstGeom prst="roundRect">
              <a:avLst>
                <a:gd fmla="val 11764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0" y="0"/>
              <a:ext cx="38100" cy="324000"/>
            </a:xfrm>
            <a:prstGeom prst="roundRect">
              <a:avLst>
                <a:gd fmla="val 50000" name="adj"/>
              </a:avLst>
            </a:prstGeom>
            <a:solidFill>
              <a:srgbClr val="9D6C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 txBox="1"/>
            <p:nvPr/>
          </p:nvSpPr>
          <p:spPr>
            <a:xfrm>
              <a:off x="152400" y="0"/>
              <a:ext cx="80772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05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"When the world rests, the game begins."</a:t>
              </a:r>
              <a:endParaRPr b="0" i="1" sz="105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71" name="Google Shape;71;p14"/>
          <p:cNvGrpSpPr/>
          <p:nvPr/>
        </p:nvGrpSpPr>
        <p:grpSpPr>
          <a:xfrm>
            <a:off x="381000" y="1352550"/>
            <a:ext cx="4048200" cy="876300"/>
            <a:chOff x="0" y="0"/>
            <a:chExt cx="4048200" cy="876300"/>
          </a:xfrm>
        </p:grpSpPr>
        <p:sp>
          <p:nvSpPr>
            <p:cNvPr id="72" name="Google Shape;72;p14"/>
            <p:cNvSpPr/>
            <p:nvPr/>
          </p:nvSpPr>
          <p:spPr>
            <a:xfrm>
              <a:off x="0" y="0"/>
              <a:ext cx="4048200" cy="876300"/>
            </a:xfrm>
            <a:prstGeom prst="roundRect">
              <a:avLst>
                <a:gd fmla="val 6521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0" y="0"/>
              <a:ext cx="38100" cy="876300"/>
            </a:xfrm>
            <a:prstGeom prst="roundRect">
              <a:avLst>
                <a:gd fmla="val 50000" name="adj"/>
              </a:avLst>
            </a:prstGeom>
            <a:solidFill>
              <a:srgbClr val="87E5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 txBox="1"/>
            <p:nvPr/>
          </p:nvSpPr>
          <p:spPr>
            <a:xfrm>
              <a:off x="171450" y="114300"/>
              <a:ext cx="37338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87E5FF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Learning Hours </a:t>
              </a:r>
              <a:r>
                <a:rPr b="0" lang="en" sz="800">
                  <a:solidFill>
                    <a:srgbClr val="F3C96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Ages 5–12</a:t>
              </a:r>
              <a:endParaRPr b="0" sz="1300">
                <a:solidFill>
                  <a:srgbClr val="87E5FF"/>
                </a:solidFill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Skill building &amp; cognitive games.</a:t>
              </a:r>
              <a:endParaRPr b="0" sz="105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75" name="Google Shape;75;p14"/>
          <p:cNvGrpSpPr/>
          <p:nvPr/>
        </p:nvGrpSpPr>
        <p:grpSpPr>
          <a:xfrm>
            <a:off x="4714875" y="1352550"/>
            <a:ext cx="4048200" cy="876300"/>
            <a:chOff x="0" y="0"/>
            <a:chExt cx="4048200" cy="876300"/>
          </a:xfrm>
        </p:grpSpPr>
        <p:sp>
          <p:nvSpPr>
            <p:cNvPr id="76" name="Google Shape;76;p14"/>
            <p:cNvSpPr/>
            <p:nvPr/>
          </p:nvSpPr>
          <p:spPr>
            <a:xfrm>
              <a:off x="0" y="0"/>
              <a:ext cx="4048200" cy="876300"/>
            </a:xfrm>
            <a:prstGeom prst="roundRect">
              <a:avLst>
                <a:gd fmla="val 6521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0" y="0"/>
              <a:ext cx="38100" cy="876300"/>
            </a:xfrm>
            <a:prstGeom prst="roundRect">
              <a:avLst>
                <a:gd fmla="val 50000" name="adj"/>
              </a:avLst>
            </a:prstGeom>
            <a:solidFill>
              <a:srgbClr val="9D6C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4"/>
            <p:cNvSpPr txBox="1"/>
            <p:nvPr/>
          </p:nvSpPr>
          <p:spPr>
            <a:xfrm>
              <a:off x="171450" y="114300"/>
              <a:ext cx="37338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9D6CFF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Rising Hours </a:t>
              </a:r>
              <a:r>
                <a:rPr b="0" lang="en" sz="800">
                  <a:solidFill>
                    <a:srgbClr val="F3C96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Ages 13–18</a:t>
              </a:r>
              <a:endParaRPr b="0" sz="1300">
                <a:solidFill>
                  <a:srgbClr val="9D6CFF"/>
                </a:solidFill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Competitive trivia &amp; battle modes.</a:t>
              </a:r>
              <a:endParaRPr b="0" sz="105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79" name="Google Shape;79;p14"/>
          <p:cNvGrpSpPr/>
          <p:nvPr/>
        </p:nvGrpSpPr>
        <p:grpSpPr>
          <a:xfrm>
            <a:off x="381000" y="2324100"/>
            <a:ext cx="4048200" cy="876300"/>
            <a:chOff x="0" y="0"/>
            <a:chExt cx="4048200" cy="876300"/>
          </a:xfrm>
        </p:grpSpPr>
        <p:sp>
          <p:nvSpPr>
            <p:cNvPr id="80" name="Google Shape;80;p14"/>
            <p:cNvSpPr/>
            <p:nvPr/>
          </p:nvSpPr>
          <p:spPr>
            <a:xfrm>
              <a:off x="0" y="0"/>
              <a:ext cx="4048200" cy="876300"/>
            </a:xfrm>
            <a:prstGeom prst="roundRect">
              <a:avLst>
                <a:gd fmla="val 6521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0" y="0"/>
              <a:ext cx="38100" cy="876300"/>
            </a:xfrm>
            <a:prstGeom prst="roundRect">
              <a:avLst>
                <a:gd fmla="val 50000" name="adj"/>
              </a:avLst>
            </a:prstGeom>
            <a:solidFill>
              <a:srgbClr val="74E7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4"/>
            <p:cNvSpPr txBox="1"/>
            <p:nvPr/>
          </p:nvSpPr>
          <p:spPr>
            <a:xfrm>
              <a:off x="171450" y="114300"/>
              <a:ext cx="37338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74E7A8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Night Arena </a:t>
              </a:r>
              <a:r>
                <a:rPr b="0" lang="en" sz="800">
                  <a:solidFill>
                    <a:srgbClr val="F3C96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All Ages</a:t>
              </a:r>
              <a:endParaRPr b="0" sz="1300">
                <a:solidFill>
                  <a:srgbClr val="74E7A8"/>
                </a:solidFill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Real-time cloud VM streaming &amp; PC keymapper.</a:t>
              </a:r>
              <a:endParaRPr b="0" sz="105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83" name="Google Shape;83;p14"/>
          <p:cNvGrpSpPr/>
          <p:nvPr/>
        </p:nvGrpSpPr>
        <p:grpSpPr>
          <a:xfrm>
            <a:off x="4714875" y="2324100"/>
            <a:ext cx="4048200" cy="876300"/>
            <a:chOff x="0" y="0"/>
            <a:chExt cx="4048200" cy="876300"/>
          </a:xfrm>
        </p:grpSpPr>
        <p:sp>
          <p:nvSpPr>
            <p:cNvPr id="84" name="Google Shape;84;p14"/>
            <p:cNvSpPr/>
            <p:nvPr/>
          </p:nvSpPr>
          <p:spPr>
            <a:xfrm>
              <a:off x="0" y="0"/>
              <a:ext cx="4048200" cy="876300"/>
            </a:xfrm>
            <a:prstGeom prst="roundRect">
              <a:avLst>
                <a:gd fmla="val 6521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4"/>
            <p:cNvSpPr/>
            <p:nvPr/>
          </p:nvSpPr>
          <p:spPr>
            <a:xfrm>
              <a:off x="0" y="0"/>
              <a:ext cx="38100" cy="876300"/>
            </a:xfrm>
            <a:prstGeom prst="roundRect">
              <a:avLst>
                <a:gd fmla="val 50000" name="adj"/>
              </a:avLst>
            </a:prstGeom>
            <a:solidFill>
              <a:srgbClr val="F3C96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4"/>
            <p:cNvSpPr txBox="1"/>
            <p:nvPr/>
          </p:nvSpPr>
          <p:spPr>
            <a:xfrm>
              <a:off x="171450" y="114300"/>
              <a:ext cx="37338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3C96D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Golden Hours </a:t>
              </a:r>
              <a:r>
                <a:rPr b="0" lang="en" sz="800">
                  <a:solidFill>
                    <a:srgbClr val="F3C96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All Ages</a:t>
              </a:r>
              <a:endParaRPr b="0" sz="1300">
                <a:solidFill>
                  <a:srgbClr val="F3C96D"/>
                </a:solidFill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Calm progressive visual memory training.</a:t>
              </a:r>
              <a:endParaRPr b="0" sz="105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87" name="Google Shape;87;p14"/>
          <p:cNvGrpSpPr/>
          <p:nvPr/>
        </p:nvGrpSpPr>
        <p:grpSpPr>
          <a:xfrm>
            <a:off x="381000" y="3314700"/>
            <a:ext cx="8382000" cy="1352700"/>
            <a:chOff x="0" y="0"/>
            <a:chExt cx="8382000" cy="1352700"/>
          </a:xfrm>
        </p:grpSpPr>
        <p:sp>
          <p:nvSpPr>
            <p:cNvPr id="88" name="Google Shape;88;p14"/>
            <p:cNvSpPr/>
            <p:nvPr/>
          </p:nvSpPr>
          <p:spPr>
            <a:xfrm>
              <a:off x="0" y="0"/>
              <a:ext cx="8382000" cy="1352700"/>
            </a:xfrm>
            <a:prstGeom prst="roundRect">
              <a:avLst>
                <a:gd fmla="val 4225" name="adj"/>
              </a:avLst>
            </a:prstGeom>
            <a:solidFill>
              <a:srgbClr val="05070F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0" y="0"/>
              <a:ext cx="8382000" cy="247800"/>
            </a:xfrm>
            <a:prstGeom prst="roundRect">
              <a:avLst>
                <a:gd fmla="val 23076" name="adj"/>
              </a:avLst>
            </a:prstGeom>
            <a:solidFill>
              <a:srgbClr val="1013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>
              <a:off x="95250" y="85725"/>
              <a:ext cx="76200" cy="762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4"/>
            <p:cNvSpPr/>
            <p:nvPr/>
          </p:nvSpPr>
          <p:spPr>
            <a:xfrm>
              <a:off x="228600" y="85725"/>
              <a:ext cx="76200" cy="762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4"/>
            <p:cNvSpPr/>
            <p:nvPr/>
          </p:nvSpPr>
          <p:spPr>
            <a:xfrm>
              <a:off x="361950" y="85725"/>
              <a:ext cx="76200" cy="762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4"/>
            <p:cNvSpPr txBox="1"/>
            <p:nvPr/>
          </p:nvSpPr>
          <p:spPr>
            <a:xfrm>
              <a:off x="571500" y="19050"/>
              <a:ext cx="3810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A0AEC0"/>
                  </a:solidFill>
                  <a:latin typeface="DM Mono"/>
                  <a:ea typeface="DM Mono"/>
                  <a:cs typeface="DM Mono"/>
                  <a:sym typeface="DM Mono"/>
                </a:rPr>
                <a:t>tech-stack-infrastructure.config</a:t>
              </a:r>
              <a:endParaRPr b="0" sz="85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sp>
          <p:nvSpPr>
            <p:cNvPr id="94" name="Google Shape;94;p14"/>
            <p:cNvSpPr txBox="1"/>
            <p:nvPr/>
          </p:nvSpPr>
          <p:spPr>
            <a:xfrm>
              <a:off x="171450" y="285750"/>
              <a:ext cx="28575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9D6C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TECH STACK INFRASTRUCTURE</a:t>
              </a:r>
              <a:endParaRPr b="0" sz="850">
                <a:solidFill>
                  <a:srgbClr val="9D6C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grpSp>
          <p:nvGrpSpPr>
            <p:cNvPr id="95" name="Google Shape;95;p14"/>
            <p:cNvGrpSpPr/>
            <p:nvPr/>
          </p:nvGrpSpPr>
          <p:grpSpPr>
            <a:xfrm>
              <a:off x="171450" y="495300"/>
              <a:ext cx="2571900" cy="228600"/>
              <a:chOff x="0" y="0"/>
              <a:chExt cx="2571900" cy="228600"/>
            </a:xfrm>
          </p:grpSpPr>
          <p:sp>
            <p:nvSpPr>
              <p:cNvPr id="96" name="Google Shape;96;p14"/>
              <p:cNvSpPr/>
              <p:nvPr/>
            </p:nvSpPr>
            <p:spPr>
              <a:xfrm>
                <a:off x="0" y="0"/>
                <a:ext cx="25719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10132A"/>
              </a:solidFill>
              <a:ln cap="flat" cmpd="sng" w="9525">
                <a:solidFill>
                  <a:srgbClr val="2A305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14"/>
              <p:cNvSpPr/>
              <p:nvPr/>
            </p:nvSpPr>
            <p:spPr>
              <a:xfrm>
                <a:off x="85725" y="85725"/>
                <a:ext cx="57300" cy="57300"/>
              </a:xfrm>
              <a:prstGeom prst="ellipse">
                <a:avLst/>
              </a:prstGeom>
              <a:solidFill>
                <a:srgbClr val="74E7A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14"/>
              <p:cNvSpPr txBox="1"/>
              <p:nvPr/>
            </p:nvSpPr>
            <p:spPr>
              <a:xfrm>
                <a:off x="209550" y="0"/>
                <a:ext cx="2286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87E5FF"/>
                    </a:solidFill>
                    <a:latin typeface="DM Mono"/>
                    <a:ea typeface="DM Mono"/>
                    <a:cs typeface="DM Mono"/>
                    <a:sym typeface="DM Mono"/>
                  </a:rPr>
                  <a:t>React 18.3</a:t>
                </a:r>
                <a:endParaRPr b="0" sz="95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endParaRPr>
              </a:p>
            </p:txBody>
          </p:sp>
        </p:grpSp>
        <p:grpSp>
          <p:nvGrpSpPr>
            <p:cNvPr id="99" name="Google Shape;99;p14"/>
            <p:cNvGrpSpPr/>
            <p:nvPr/>
          </p:nvGrpSpPr>
          <p:grpSpPr>
            <a:xfrm>
              <a:off x="2905125" y="495300"/>
              <a:ext cx="2571900" cy="228600"/>
              <a:chOff x="0" y="0"/>
              <a:chExt cx="2571900" cy="228600"/>
            </a:xfrm>
          </p:grpSpPr>
          <p:sp>
            <p:nvSpPr>
              <p:cNvPr id="100" name="Google Shape;100;p14"/>
              <p:cNvSpPr/>
              <p:nvPr/>
            </p:nvSpPr>
            <p:spPr>
              <a:xfrm>
                <a:off x="0" y="0"/>
                <a:ext cx="25719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10132A"/>
              </a:solidFill>
              <a:ln cap="flat" cmpd="sng" w="9525">
                <a:solidFill>
                  <a:srgbClr val="2A305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14"/>
              <p:cNvSpPr/>
              <p:nvPr/>
            </p:nvSpPr>
            <p:spPr>
              <a:xfrm>
                <a:off x="85725" y="85725"/>
                <a:ext cx="57300" cy="57300"/>
              </a:xfrm>
              <a:prstGeom prst="ellipse">
                <a:avLst/>
              </a:prstGeom>
              <a:solidFill>
                <a:srgbClr val="74E7A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14"/>
              <p:cNvSpPr txBox="1"/>
              <p:nvPr/>
            </p:nvSpPr>
            <p:spPr>
              <a:xfrm>
                <a:off x="209550" y="0"/>
                <a:ext cx="2286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87E5FF"/>
                    </a:solidFill>
                    <a:latin typeface="DM Mono"/>
                    <a:ea typeface="DM Mono"/>
                    <a:cs typeface="DM Mono"/>
                    <a:sym typeface="DM Mono"/>
                  </a:rPr>
                  <a:t>JWT &amp; bcrypt</a:t>
                </a:r>
                <a:endParaRPr b="0" sz="95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endParaRPr>
              </a:p>
            </p:txBody>
          </p:sp>
        </p:grpSp>
        <p:grpSp>
          <p:nvGrpSpPr>
            <p:cNvPr id="103" name="Google Shape;103;p14"/>
            <p:cNvGrpSpPr/>
            <p:nvPr/>
          </p:nvGrpSpPr>
          <p:grpSpPr>
            <a:xfrm>
              <a:off x="5638800" y="495300"/>
              <a:ext cx="2571900" cy="228600"/>
              <a:chOff x="0" y="0"/>
              <a:chExt cx="2571900" cy="228600"/>
            </a:xfrm>
          </p:grpSpPr>
          <p:sp>
            <p:nvSpPr>
              <p:cNvPr id="104" name="Google Shape;104;p14"/>
              <p:cNvSpPr/>
              <p:nvPr/>
            </p:nvSpPr>
            <p:spPr>
              <a:xfrm>
                <a:off x="0" y="0"/>
                <a:ext cx="25719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10132A"/>
              </a:solidFill>
              <a:ln cap="flat" cmpd="sng" w="9525">
                <a:solidFill>
                  <a:srgbClr val="2A305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14"/>
              <p:cNvSpPr/>
              <p:nvPr/>
            </p:nvSpPr>
            <p:spPr>
              <a:xfrm>
                <a:off x="85725" y="85725"/>
                <a:ext cx="57300" cy="57300"/>
              </a:xfrm>
              <a:prstGeom prst="ellipse">
                <a:avLst/>
              </a:prstGeom>
              <a:solidFill>
                <a:srgbClr val="74E7A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14"/>
              <p:cNvSpPr txBox="1"/>
              <p:nvPr/>
            </p:nvSpPr>
            <p:spPr>
              <a:xfrm>
                <a:off x="209550" y="0"/>
                <a:ext cx="2286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87E5FF"/>
                    </a:solidFill>
                    <a:latin typeface="DM Mono"/>
                    <a:ea typeface="DM Mono"/>
                    <a:cs typeface="DM Mono"/>
                    <a:sym typeface="DM Mono"/>
                  </a:rPr>
                  <a:t>BlueStacks ADB Bridge</a:t>
                </a:r>
                <a:endParaRPr b="0" sz="95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endParaRPr>
              </a:p>
            </p:txBody>
          </p:sp>
        </p:grpSp>
        <p:grpSp>
          <p:nvGrpSpPr>
            <p:cNvPr id="107" name="Google Shape;107;p14"/>
            <p:cNvGrpSpPr/>
            <p:nvPr/>
          </p:nvGrpSpPr>
          <p:grpSpPr>
            <a:xfrm>
              <a:off x="171450" y="781050"/>
              <a:ext cx="2571900" cy="228600"/>
              <a:chOff x="0" y="0"/>
              <a:chExt cx="2571900" cy="228600"/>
            </a:xfrm>
          </p:grpSpPr>
          <p:sp>
            <p:nvSpPr>
              <p:cNvPr id="108" name="Google Shape;108;p14"/>
              <p:cNvSpPr/>
              <p:nvPr/>
            </p:nvSpPr>
            <p:spPr>
              <a:xfrm>
                <a:off x="0" y="0"/>
                <a:ext cx="25719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10132A"/>
              </a:solidFill>
              <a:ln cap="flat" cmpd="sng" w="9525">
                <a:solidFill>
                  <a:srgbClr val="2A305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14"/>
              <p:cNvSpPr/>
              <p:nvPr/>
            </p:nvSpPr>
            <p:spPr>
              <a:xfrm>
                <a:off x="85725" y="85725"/>
                <a:ext cx="57300" cy="57300"/>
              </a:xfrm>
              <a:prstGeom prst="ellipse">
                <a:avLst/>
              </a:prstGeom>
              <a:solidFill>
                <a:srgbClr val="74E7A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14"/>
              <p:cNvSpPr txBox="1"/>
              <p:nvPr/>
            </p:nvSpPr>
            <p:spPr>
              <a:xfrm>
                <a:off x="209550" y="0"/>
                <a:ext cx="2286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87E5FF"/>
                    </a:solidFill>
                    <a:latin typeface="DM Mono"/>
                    <a:ea typeface="DM Mono"/>
                    <a:cs typeface="DM Mono"/>
                    <a:sym typeface="DM Mono"/>
                  </a:rPr>
                  <a:t>Vite 6.1</a:t>
                </a:r>
                <a:endParaRPr b="0" sz="95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endParaRPr>
              </a:p>
            </p:txBody>
          </p:sp>
        </p:grpSp>
        <p:grpSp>
          <p:nvGrpSpPr>
            <p:cNvPr id="111" name="Google Shape;111;p14"/>
            <p:cNvGrpSpPr/>
            <p:nvPr/>
          </p:nvGrpSpPr>
          <p:grpSpPr>
            <a:xfrm>
              <a:off x="2905125" y="781050"/>
              <a:ext cx="2571900" cy="228600"/>
              <a:chOff x="0" y="0"/>
              <a:chExt cx="2571900" cy="228600"/>
            </a:xfrm>
          </p:grpSpPr>
          <p:sp>
            <p:nvSpPr>
              <p:cNvPr id="112" name="Google Shape;112;p14"/>
              <p:cNvSpPr/>
              <p:nvPr/>
            </p:nvSpPr>
            <p:spPr>
              <a:xfrm>
                <a:off x="0" y="0"/>
                <a:ext cx="25719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10132A"/>
              </a:solidFill>
              <a:ln cap="flat" cmpd="sng" w="9525">
                <a:solidFill>
                  <a:srgbClr val="2A305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14"/>
              <p:cNvSpPr/>
              <p:nvPr/>
            </p:nvSpPr>
            <p:spPr>
              <a:xfrm>
                <a:off x="85725" y="85725"/>
                <a:ext cx="57300" cy="57300"/>
              </a:xfrm>
              <a:prstGeom prst="ellipse">
                <a:avLst/>
              </a:prstGeom>
              <a:solidFill>
                <a:srgbClr val="74E7A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14"/>
              <p:cNvSpPr txBox="1"/>
              <p:nvPr/>
            </p:nvSpPr>
            <p:spPr>
              <a:xfrm>
                <a:off x="209550" y="0"/>
                <a:ext cx="2286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87E5FF"/>
                    </a:solidFill>
                    <a:latin typeface="DM Mono"/>
                    <a:ea typeface="DM Mono"/>
                    <a:cs typeface="DM Mono"/>
                    <a:sym typeface="DM Mono"/>
                  </a:rPr>
                  <a:t>Socket.IO 4.7</a:t>
                </a:r>
                <a:endParaRPr b="0" sz="95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endParaRPr>
              </a:p>
            </p:txBody>
          </p:sp>
        </p:grpSp>
        <p:grpSp>
          <p:nvGrpSpPr>
            <p:cNvPr id="115" name="Google Shape;115;p14"/>
            <p:cNvGrpSpPr/>
            <p:nvPr/>
          </p:nvGrpSpPr>
          <p:grpSpPr>
            <a:xfrm>
              <a:off x="5638800" y="781050"/>
              <a:ext cx="2571900" cy="228600"/>
              <a:chOff x="0" y="0"/>
              <a:chExt cx="2571900" cy="228600"/>
            </a:xfrm>
          </p:grpSpPr>
          <p:sp>
            <p:nvSpPr>
              <p:cNvPr id="116" name="Google Shape;116;p14"/>
              <p:cNvSpPr/>
              <p:nvPr/>
            </p:nvSpPr>
            <p:spPr>
              <a:xfrm>
                <a:off x="0" y="0"/>
                <a:ext cx="25719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10132A"/>
              </a:solidFill>
              <a:ln cap="flat" cmpd="sng" w="9525">
                <a:solidFill>
                  <a:srgbClr val="2A305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14"/>
              <p:cNvSpPr/>
              <p:nvPr/>
            </p:nvSpPr>
            <p:spPr>
              <a:xfrm>
                <a:off x="85725" y="85725"/>
                <a:ext cx="57300" cy="57300"/>
              </a:xfrm>
              <a:prstGeom prst="ellipse">
                <a:avLst/>
              </a:prstGeom>
              <a:solidFill>
                <a:srgbClr val="74E7A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14"/>
              <p:cNvSpPr txBox="1"/>
              <p:nvPr/>
            </p:nvSpPr>
            <p:spPr>
              <a:xfrm>
                <a:off x="209550" y="0"/>
                <a:ext cx="2286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87E5FF"/>
                    </a:solidFill>
                    <a:latin typeface="DM Mono"/>
                    <a:ea typeface="DM Mono"/>
                    <a:cs typeface="DM Mono"/>
                    <a:sym typeface="DM Mono"/>
                  </a:rPr>
                  <a:t>Docker Compose</a:t>
                </a:r>
                <a:endParaRPr b="0" sz="95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endParaRPr>
              </a:p>
            </p:txBody>
          </p:sp>
        </p:grpSp>
        <p:grpSp>
          <p:nvGrpSpPr>
            <p:cNvPr id="119" name="Google Shape;119;p14"/>
            <p:cNvGrpSpPr/>
            <p:nvPr/>
          </p:nvGrpSpPr>
          <p:grpSpPr>
            <a:xfrm>
              <a:off x="171450" y="1066800"/>
              <a:ext cx="2571900" cy="228600"/>
              <a:chOff x="0" y="0"/>
              <a:chExt cx="2571900" cy="228600"/>
            </a:xfrm>
          </p:grpSpPr>
          <p:sp>
            <p:nvSpPr>
              <p:cNvPr id="120" name="Google Shape;120;p14"/>
              <p:cNvSpPr/>
              <p:nvPr/>
            </p:nvSpPr>
            <p:spPr>
              <a:xfrm>
                <a:off x="0" y="0"/>
                <a:ext cx="25719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10132A"/>
              </a:solidFill>
              <a:ln cap="flat" cmpd="sng" w="9525">
                <a:solidFill>
                  <a:srgbClr val="2A305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14"/>
              <p:cNvSpPr/>
              <p:nvPr/>
            </p:nvSpPr>
            <p:spPr>
              <a:xfrm>
                <a:off x="85725" y="85725"/>
                <a:ext cx="57300" cy="57300"/>
              </a:xfrm>
              <a:prstGeom prst="ellipse">
                <a:avLst/>
              </a:prstGeom>
              <a:solidFill>
                <a:srgbClr val="74E7A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14"/>
              <p:cNvSpPr txBox="1"/>
              <p:nvPr/>
            </p:nvSpPr>
            <p:spPr>
              <a:xfrm>
                <a:off x="209550" y="0"/>
                <a:ext cx="2286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87E5FF"/>
                    </a:solidFill>
                    <a:latin typeface="DM Mono"/>
                    <a:ea typeface="DM Mono"/>
                    <a:cs typeface="DM Mono"/>
                    <a:sym typeface="DM Mono"/>
                  </a:rPr>
                  <a:t>Express.js</a:t>
                </a:r>
                <a:endParaRPr b="0" sz="95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endParaRPr>
              </a:p>
            </p:txBody>
          </p:sp>
        </p:grpSp>
        <p:grpSp>
          <p:nvGrpSpPr>
            <p:cNvPr id="123" name="Google Shape;123;p14"/>
            <p:cNvGrpSpPr/>
            <p:nvPr/>
          </p:nvGrpSpPr>
          <p:grpSpPr>
            <a:xfrm>
              <a:off x="2905125" y="1066800"/>
              <a:ext cx="2571900" cy="228600"/>
              <a:chOff x="0" y="0"/>
              <a:chExt cx="2571900" cy="228600"/>
            </a:xfrm>
          </p:grpSpPr>
          <p:sp>
            <p:nvSpPr>
              <p:cNvPr id="124" name="Google Shape;124;p14"/>
              <p:cNvSpPr/>
              <p:nvPr/>
            </p:nvSpPr>
            <p:spPr>
              <a:xfrm>
                <a:off x="0" y="0"/>
                <a:ext cx="25719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10132A"/>
              </a:solidFill>
              <a:ln cap="flat" cmpd="sng" w="9525">
                <a:solidFill>
                  <a:srgbClr val="2A305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14"/>
              <p:cNvSpPr/>
              <p:nvPr/>
            </p:nvSpPr>
            <p:spPr>
              <a:xfrm>
                <a:off x="85725" y="85725"/>
                <a:ext cx="57300" cy="57300"/>
              </a:xfrm>
              <a:prstGeom prst="ellipse">
                <a:avLst/>
              </a:prstGeom>
              <a:solidFill>
                <a:srgbClr val="74E7A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14"/>
              <p:cNvSpPr txBox="1"/>
              <p:nvPr/>
            </p:nvSpPr>
            <p:spPr>
              <a:xfrm>
                <a:off x="209550" y="0"/>
                <a:ext cx="2286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87E5FF"/>
                    </a:solidFill>
                    <a:latin typeface="DM Mono"/>
                    <a:ea typeface="DM Mono"/>
                    <a:cs typeface="DM Mono"/>
                    <a:sym typeface="DM Mono"/>
                  </a:rPr>
                  <a:t>WebRTC</a:t>
                </a:r>
                <a:endParaRPr b="0" sz="95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endParaRPr>
              </a:p>
            </p:txBody>
          </p:sp>
        </p:grpSp>
        <p:grpSp>
          <p:nvGrpSpPr>
            <p:cNvPr id="127" name="Google Shape;127;p14"/>
            <p:cNvGrpSpPr/>
            <p:nvPr/>
          </p:nvGrpSpPr>
          <p:grpSpPr>
            <a:xfrm>
              <a:off x="5638800" y="1066800"/>
              <a:ext cx="2571900" cy="228600"/>
              <a:chOff x="0" y="0"/>
              <a:chExt cx="2571900" cy="228600"/>
            </a:xfrm>
          </p:grpSpPr>
          <p:sp>
            <p:nvSpPr>
              <p:cNvPr id="128" name="Google Shape;128;p14"/>
              <p:cNvSpPr/>
              <p:nvPr/>
            </p:nvSpPr>
            <p:spPr>
              <a:xfrm>
                <a:off x="0" y="0"/>
                <a:ext cx="25719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10132A"/>
              </a:solidFill>
              <a:ln cap="flat" cmpd="sng" w="9525">
                <a:solidFill>
                  <a:srgbClr val="2A305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14"/>
              <p:cNvSpPr/>
              <p:nvPr/>
            </p:nvSpPr>
            <p:spPr>
              <a:xfrm>
                <a:off x="85725" y="85725"/>
                <a:ext cx="57300" cy="57300"/>
              </a:xfrm>
              <a:prstGeom prst="ellipse">
                <a:avLst/>
              </a:prstGeom>
              <a:solidFill>
                <a:srgbClr val="74E7A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14"/>
              <p:cNvSpPr txBox="1"/>
              <p:nvPr/>
            </p:nvSpPr>
            <p:spPr>
              <a:xfrm>
                <a:off x="209550" y="0"/>
                <a:ext cx="2286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87E5FF"/>
                    </a:solidFill>
                    <a:latin typeface="DM Mono"/>
                    <a:ea typeface="DM Mono"/>
                    <a:cs typeface="DM Mono"/>
                    <a:sym typeface="DM Mono"/>
                  </a:rPr>
                  <a:t>Prometheus &amp; Grafana</a:t>
                </a:r>
                <a:endParaRPr b="0" sz="95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endParaRPr>
              </a:p>
            </p:txBody>
          </p:sp>
        </p:grpSp>
      </p:grpSp>
      <p:sp>
        <p:nvSpPr>
          <p:cNvPr id="131" name="Google Shape;131;p14"/>
          <p:cNvSpPr txBox="1"/>
          <p:nvPr/>
        </p:nvSpPr>
        <p:spPr>
          <a:xfrm>
            <a:off x="381000" y="481965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5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rPr>
              <a:t>NIGHT HOURS v2.0 • CROSS-GENERATIONAL PLATFORM</a:t>
            </a:r>
            <a:endParaRPr b="0" sz="850">
              <a:solidFill>
                <a:srgbClr val="A0AEC0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32" name="Google Shape;132;p14"/>
          <p:cNvSpPr txBox="1"/>
          <p:nvPr/>
        </p:nvSpPr>
        <p:spPr>
          <a:xfrm>
            <a:off x="4953000" y="481965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5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rPr>
              <a:t>FULL-STACK CLOUD ARCHITECTURE</a:t>
            </a:r>
            <a:endParaRPr b="0" sz="850">
              <a:solidFill>
                <a:srgbClr val="A0AEC0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0132A">
                  <a:alpha val="89804"/>
                </a:srgbClr>
              </a:gs>
              <a:gs pos="100000">
                <a:srgbClr val="080B18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" name="Google Shape;139;p15"/>
          <p:cNvGrpSpPr/>
          <p:nvPr/>
        </p:nvGrpSpPr>
        <p:grpSpPr>
          <a:xfrm>
            <a:off x="381000" y="190500"/>
            <a:ext cx="381000" cy="381000"/>
            <a:chOff x="0" y="0"/>
            <a:chExt cx="381000" cy="381000"/>
          </a:xfrm>
        </p:grpSpPr>
        <p:sp>
          <p:nvSpPr>
            <p:cNvPr id="140" name="Google Shape;140;p15"/>
            <p:cNvSpPr/>
            <p:nvPr/>
          </p:nvSpPr>
          <p:spPr>
            <a:xfrm>
              <a:off x="0" y="0"/>
              <a:ext cx="381000" cy="3810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30000"/>
                  </a:lnTo>
                  <a:lnTo>
                    <a:pt x="120000" y="90000"/>
                  </a:lnTo>
                  <a:lnTo>
                    <a:pt x="60000" y="120000"/>
                  </a:lnTo>
                  <a:lnTo>
                    <a:pt x="0" y="90000"/>
                  </a:lnTo>
                  <a:lnTo>
                    <a:pt x="0" y="3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9D6C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5"/>
            <p:cNvSpPr/>
            <p:nvPr/>
          </p:nvSpPr>
          <p:spPr>
            <a:xfrm>
              <a:off x="38100" y="38100"/>
              <a:ext cx="304800" cy="3048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30000"/>
                  </a:lnTo>
                  <a:lnTo>
                    <a:pt x="120000" y="90000"/>
                  </a:lnTo>
                  <a:lnTo>
                    <a:pt x="60000" y="120000"/>
                  </a:lnTo>
                  <a:lnTo>
                    <a:pt x="0" y="90000"/>
                  </a:lnTo>
                  <a:lnTo>
                    <a:pt x="0" y="30000"/>
                  </a:lnTo>
                  <a:close/>
                </a:path>
              </a:pathLst>
            </a:custGeom>
            <a:solidFill>
              <a:srgbClr val="10132A"/>
            </a:solidFill>
            <a:ln cap="flat" cmpd="sng" w="9525">
              <a:solidFill>
                <a:srgbClr val="87E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5"/>
            <p:cNvSpPr/>
            <p:nvPr/>
          </p:nvSpPr>
          <p:spPr>
            <a:xfrm>
              <a:off x="114300" y="142875"/>
              <a:ext cx="152400" cy="95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moveTo>
                    <a:pt x="0" y="0"/>
                  </a:moveTo>
                  <a:lnTo>
                    <a:pt x="60000" y="120000"/>
                  </a:lnTo>
                  <a:moveTo>
                    <a:pt x="60000" y="0"/>
                  </a:moveTo>
                  <a:lnTo>
                    <a:pt x="60000" y="120000"/>
                  </a:lnTo>
                  <a:moveTo>
                    <a:pt x="120000" y="0"/>
                  </a:moveTo>
                  <a:lnTo>
                    <a:pt x="120000" y="120000"/>
                  </a:lnTo>
                  <a:moveTo>
                    <a:pt x="82500" y="60000"/>
                  </a:moveTo>
                  <a:lnTo>
                    <a:pt x="120000" y="6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" name="Google Shape;143;p15"/>
          <p:cNvGrpSpPr/>
          <p:nvPr/>
        </p:nvGrpSpPr>
        <p:grpSpPr>
          <a:xfrm>
            <a:off x="952500" y="352425"/>
            <a:ext cx="981225" cy="133500"/>
            <a:chOff x="0" y="-9525"/>
            <a:chExt cx="981225" cy="133500"/>
          </a:xfrm>
        </p:grpSpPr>
        <p:pic>
          <p:nvPicPr>
            <p:cNvPr id="144" name="Google Shape;144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-9525"/>
              <a:ext cx="952500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" name="Google Shape;145;p15"/>
            <p:cNvSpPr/>
            <p:nvPr/>
          </p:nvSpPr>
          <p:spPr>
            <a:xfrm>
              <a:off x="923925" y="66675"/>
              <a:ext cx="57300" cy="57300"/>
            </a:xfrm>
            <a:prstGeom prst="ellipse">
              <a:avLst/>
            </a:prstGeom>
            <a:solidFill>
              <a:srgbClr val="87E5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5"/>
            <p:cNvSpPr/>
            <p:nvPr/>
          </p:nvSpPr>
          <p:spPr>
            <a:xfrm>
              <a:off x="476250" y="57150"/>
              <a:ext cx="142800" cy="19200"/>
            </a:xfrm>
            <a:prstGeom prst="rect">
              <a:avLst/>
            </a:prstGeom>
            <a:solidFill>
              <a:srgbClr val="74E7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" name="Google Shape;147;p15"/>
          <p:cNvSpPr txBox="1"/>
          <p:nvPr/>
        </p:nvSpPr>
        <p:spPr>
          <a:xfrm>
            <a:off x="952500" y="142875"/>
            <a:ext cx="7810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5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Executive Overview</a:t>
            </a:r>
            <a:endParaRPr b="1" sz="2405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1295">
                <a:solidFill>
                  <a:srgbClr val="87E5FF"/>
                </a:solidFill>
                <a:latin typeface="Outfit Medium"/>
                <a:ea typeface="Outfit Medium"/>
                <a:cs typeface="Outfit Medium"/>
                <a:sym typeface="Outfit Medium"/>
              </a:rPr>
              <a:t>A Unified Digital Universe and the Four Core Play Zones</a:t>
            </a:r>
            <a:endParaRPr b="0" sz="1295">
              <a:solidFill>
                <a:srgbClr val="87E5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381000" y="838200"/>
            <a:ext cx="8382000" cy="19200"/>
          </a:xfrm>
          <a:prstGeom prst="rect">
            <a:avLst/>
          </a:prstGeom>
          <a:gradFill>
            <a:gsLst>
              <a:gs pos="0">
                <a:srgbClr val="87E5FF"/>
              </a:gs>
              <a:gs pos="50000">
                <a:srgbClr val="9D6CFF"/>
              </a:gs>
              <a:gs pos="100000">
                <a:srgbClr val="080B18"/>
              </a:gs>
            </a:gsLst>
            <a:lin ang="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9" name="Google Shape;149;p15"/>
          <p:cNvGrpSpPr/>
          <p:nvPr/>
        </p:nvGrpSpPr>
        <p:grpSpPr>
          <a:xfrm>
            <a:off x="381000" y="971550"/>
            <a:ext cx="8382000" cy="552600"/>
            <a:chOff x="0" y="0"/>
            <a:chExt cx="8382000" cy="552600"/>
          </a:xfrm>
        </p:grpSpPr>
        <p:sp>
          <p:nvSpPr>
            <p:cNvPr id="150" name="Google Shape;150;p15"/>
            <p:cNvSpPr/>
            <p:nvPr/>
          </p:nvSpPr>
          <p:spPr>
            <a:xfrm>
              <a:off x="0" y="0"/>
              <a:ext cx="8382000" cy="552600"/>
            </a:xfrm>
            <a:prstGeom prst="roundRect">
              <a:avLst>
                <a:gd fmla="val 10344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5"/>
            <p:cNvSpPr/>
            <p:nvPr/>
          </p:nvSpPr>
          <p:spPr>
            <a:xfrm>
              <a:off x="0" y="0"/>
              <a:ext cx="38100" cy="552600"/>
            </a:xfrm>
            <a:prstGeom prst="roundRect">
              <a:avLst>
                <a:gd fmla="val 50000" name="adj"/>
              </a:avLst>
            </a:prstGeom>
            <a:solidFill>
              <a:srgbClr val="87E5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5"/>
            <p:cNvSpPr txBox="1"/>
            <p:nvPr/>
          </p:nvSpPr>
          <p:spPr>
            <a:xfrm>
              <a:off x="190500" y="76200"/>
              <a:ext cx="8048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98">
                  <a:solidFill>
                    <a:srgbClr val="87E5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PLATFORM VISION</a:t>
              </a:r>
              <a:endParaRPr b="0" sz="698">
                <a:solidFill>
                  <a:srgbClr val="87E5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14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Night Hours v2.0 is a unified digital universe combining early-age skill building, competitive trivia, calm cognitive training, and real-time mobile/cloud VM streaming into a single cohesive platform.</a:t>
              </a:r>
              <a:endParaRPr b="0" sz="814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153" name="Google Shape;153;p15"/>
          <p:cNvGrpSpPr/>
          <p:nvPr/>
        </p:nvGrpSpPr>
        <p:grpSpPr>
          <a:xfrm>
            <a:off x="371475" y="1657350"/>
            <a:ext cx="4067250" cy="1366763"/>
            <a:chOff x="-9525" y="-9525"/>
            <a:chExt cx="4067250" cy="1366763"/>
          </a:xfrm>
        </p:grpSpPr>
        <p:pic>
          <p:nvPicPr>
            <p:cNvPr id="154" name="Google Shape;154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4762" y="-4762"/>
              <a:ext cx="4057800" cy="13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15"/>
            <p:cNvSpPr/>
            <p:nvPr/>
          </p:nvSpPr>
          <p:spPr>
            <a:xfrm>
              <a:off x="0" y="0"/>
              <a:ext cx="114300" cy="1352700"/>
            </a:xfrm>
            <a:custGeom>
              <a:rect b="b" l="l" r="r" t="t"/>
              <a:pathLst>
                <a:path extrusionOk="0" h="120000" w="120000">
                  <a:moveTo>
                    <a:pt x="0" y="5070"/>
                  </a:moveTo>
                  <a:lnTo>
                    <a:pt x="0" y="114930"/>
                  </a:lnTo>
                  <a:cubicBezTo>
                    <a:pt x="3" y="117730"/>
                    <a:pt x="26865" y="120000"/>
                    <a:pt x="60000" y="120000"/>
                  </a:cubicBezTo>
                  <a:lnTo>
                    <a:pt x="120000" y="120000"/>
                  </a:lnTo>
                  <a:lnTo>
                    <a:pt x="120000" y="0"/>
                  </a:lnTo>
                  <a:lnTo>
                    <a:pt x="60000" y="0"/>
                  </a:lnTo>
                  <a:cubicBezTo>
                    <a:pt x="44087" y="0"/>
                    <a:pt x="28826" y="534"/>
                    <a:pt x="17574" y="1485"/>
                  </a:cubicBezTo>
                  <a:cubicBezTo>
                    <a:pt x="6321" y="2436"/>
                    <a:pt x="0" y="3726"/>
                    <a:pt x="0" y="5070"/>
                  </a:cubicBezTo>
                  <a:close/>
                </a:path>
              </a:pathLst>
            </a:custGeom>
            <a:solidFill>
              <a:srgbClr val="87E5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6" name="Google Shape;156;p15"/>
            <p:cNvGrpSpPr/>
            <p:nvPr/>
          </p:nvGrpSpPr>
          <p:grpSpPr>
            <a:xfrm>
              <a:off x="-9525" y="-9525"/>
              <a:ext cx="4067250" cy="1352625"/>
              <a:chOff x="-9525" y="-9525"/>
              <a:chExt cx="4067250" cy="1352625"/>
            </a:xfrm>
          </p:grpSpPr>
          <p:pic>
            <p:nvPicPr>
              <p:cNvPr id="157" name="Google Shape;157;p1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-9525" y="-9525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8" name="Google Shape;158;p15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3971925" y="-9525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9" name="Google Shape;159;p15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-9525" y="1257300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0" name="Google Shape;160;p15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3971925" y="1257300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61" name="Google Shape;161;p15"/>
            <p:cNvSpPr txBox="1"/>
            <p:nvPr/>
          </p:nvSpPr>
          <p:spPr>
            <a:xfrm>
              <a:off x="238125" y="114300"/>
              <a:ext cx="3667200" cy="11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87E5FF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Zone 1: Learning Hours</a:t>
              </a:r>
              <a:endParaRPr b="0" sz="1300">
                <a:solidFill>
                  <a:srgbClr val="87E5FF"/>
                </a:solidFill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F3C96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Target: Ages 5–12</a:t>
              </a:r>
              <a:endParaRPr b="0" sz="900">
                <a:solidFill>
                  <a:srgbClr val="F3C96D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Memory Match, Type Sprint, Math Quest — foundational cognitive, typing, and arithmetic skills.</a:t>
              </a:r>
              <a:endParaRPr b="0" sz="105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162" name="Google Shape;162;p15"/>
          <p:cNvGrpSpPr/>
          <p:nvPr/>
        </p:nvGrpSpPr>
        <p:grpSpPr>
          <a:xfrm>
            <a:off x="4705350" y="1657350"/>
            <a:ext cx="4067250" cy="1366763"/>
            <a:chOff x="-9525" y="-9525"/>
            <a:chExt cx="4067250" cy="1366763"/>
          </a:xfrm>
        </p:grpSpPr>
        <p:pic>
          <p:nvPicPr>
            <p:cNvPr id="163" name="Google Shape;163;p1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-4762" y="-4762"/>
              <a:ext cx="4057800" cy="13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" name="Google Shape;164;p15"/>
            <p:cNvSpPr/>
            <p:nvPr/>
          </p:nvSpPr>
          <p:spPr>
            <a:xfrm>
              <a:off x="0" y="0"/>
              <a:ext cx="114300" cy="1352700"/>
            </a:xfrm>
            <a:custGeom>
              <a:rect b="b" l="l" r="r" t="t"/>
              <a:pathLst>
                <a:path extrusionOk="0" h="120000" w="120000">
                  <a:moveTo>
                    <a:pt x="0" y="5070"/>
                  </a:moveTo>
                  <a:lnTo>
                    <a:pt x="0" y="114930"/>
                  </a:lnTo>
                  <a:cubicBezTo>
                    <a:pt x="3" y="117730"/>
                    <a:pt x="26865" y="120000"/>
                    <a:pt x="60000" y="120000"/>
                  </a:cubicBezTo>
                  <a:lnTo>
                    <a:pt x="120000" y="120000"/>
                  </a:lnTo>
                  <a:lnTo>
                    <a:pt x="120000" y="0"/>
                  </a:lnTo>
                  <a:lnTo>
                    <a:pt x="60000" y="0"/>
                  </a:lnTo>
                  <a:cubicBezTo>
                    <a:pt x="44087" y="0"/>
                    <a:pt x="28826" y="534"/>
                    <a:pt x="17574" y="1485"/>
                  </a:cubicBezTo>
                  <a:cubicBezTo>
                    <a:pt x="6321" y="2436"/>
                    <a:pt x="0" y="3726"/>
                    <a:pt x="0" y="5070"/>
                  </a:cubicBezTo>
                  <a:close/>
                </a:path>
              </a:pathLst>
            </a:custGeom>
            <a:solidFill>
              <a:srgbClr val="9D6C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5" name="Google Shape;165;p15"/>
            <p:cNvGrpSpPr/>
            <p:nvPr/>
          </p:nvGrpSpPr>
          <p:grpSpPr>
            <a:xfrm>
              <a:off x="-9525" y="-9525"/>
              <a:ext cx="4067250" cy="1352625"/>
              <a:chOff x="-9525" y="-9525"/>
              <a:chExt cx="4067250" cy="1352625"/>
            </a:xfrm>
          </p:grpSpPr>
          <p:pic>
            <p:nvPicPr>
              <p:cNvPr id="166" name="Google Shape;166;p1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-9525" y="-9525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7" name="Google Shape;167;p15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3971925" y="-9525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8" name="Google Shape;168;p15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-9525" y="1257300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9" name="Google Shape;169;p15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3971925" y="1257300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70" name="Google Shape;170;p15"/>
            <p:cNvSpPr txBox="1"/>
            <p:nvPr/>
          </p:nvSpPr>
          <p:spPr>
            <a:xfrm>
              <a:off x="238125" y="114300"/>
              <a:ext cx="3667200" cy="11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9D6CFF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Zone 2: Rising Hours</a:t>
              </a:r>
              <a:endParaRPr b="0" sz="1300">
                <a:solidFill>
                  <a:srgbClr val="9D6CFF"/>
                </a:solidFill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F3C96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Target: Ages 13–18</a:t>
              </a:r>
              <a:endParaRPr b="0" sz="900">
                <a:solidFill>
                  <a:srgbClr val="F3C96D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Quiz Rush &amp; Quiz Battle — solo sprints and 2-player hotseat trivia across Science, Tech, General Knowledge, and Gaming.</a:t>
              </a:r>
              <a:endParaRPr b="0" sz="105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171" name="Google Shape;171;p15"/>
          <p:cNvGrpSpPr/>
          <p:nvPr/>
        </p:nvGrpSpPr>
        <p:grpSpPr>
          <a:xfrm>
            <a:off x="371475" y="3152775"/>
            <a:ext cx="4067250" cy="1366763"/>
            <a:chOff x="-9525" y="-9525"/>
            <a:chExt cx="4067250" cy="1366763"/>
          </a:xfrm>
        </p:grpSpPr>
        <p:pic>
          <p:nvPicPr>
            <p:cNvPr id="172" name="Google Shape;172;p1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-4762" y="-4762"/>
              <a:ext cx="4057800" cy="13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" name="Google Shape;173;p15"/>
            <p:cNvSpPr/>
            <p:nvPr/>
          </p:nvSpPr>
          <p:spPr>
            <a:xfrm>
              <a:off x="0" y="0"/>
              <a:ext cx="114300" cy="1352700"/>
            </a:xfrm>
            <a:custGeom>
              <a:rect b="b" l="l" r="r" t="t"/>
              <a:pathLst>
                <a:path extrusionOk="0" h="120000" w="120000">
                  <a:moveTo>
                    <a:pt x="0" y="5070"/>
                  </a:moveTo>
                  <a:lnTo>
                    <a:pt x="0" y="114930"/>
                  </a:lnTo>
                  <a:cubicBezTo>
                    <a:pt x="3" y="117730"/>
                    <a:pt x="26865" y="120000"/>
                    <a:pt x="60000" y="120000"/>
                  </a:cubicBezTo>
                  <a:lnTo>
                    <a:pt x="120000" y="120000"/>
                  </a:lnTo>
                  <a:lnTo>
                    <a:pt x="120000" y="0"/>
                  </a:lnTo>
                  <a:lnTo>
                    <a:pt x="60000" y="0"/>
                  </a:lnTo>
                  <a:cubicBezTo>
                    <a:pt x="44087" y="0"/>
                    <a:pt x="28826" y="534"/>
                    <a:pt x="17574" y="1485"/>
                  </a:cubicBezTo>
                  <a:cubicBezTo>
                    <a:pt x="6321" y="2436"/>
                    <a:pt x="0" y="3726"/>
                    <a:pt x="0" y="5070"/>
                  </a:cubicBezTo>
                  <a:close/>
                </a:path>
              </a:pathLst>
            </a:custGeom>
            <a:solidFill>
              <a:srgbClr val="F3C96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4" name="Google Shape;174;p15"/>
            <p:cNvGrpSpPr/>
            <p:nvPr/>
          </p:nvGrpSpPr>
          <p:grpSpPr>
            <a:xfrm>
              <a:off x="-9525" y="-9525"/>
              <a:ext cx="4067250" cy="1352625"/>
              <a:chOff x="-9525" y="-9525"/>
              <a:chExt cx="4067250" cy="1352625"/>
            </a:xfrm>
          </p:grpSpPr>
          <p:pic>
            <p:nvPicPr>
              <p:cNvPr id="175" name="Google Shape;175;p1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-9525" y="-9525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6" name="Google Shape;176;p15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3971925" y="-9525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7" name="Google Shape;177;p15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-9525" y="1257300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8" name="Google Shape;178;p15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3971925" y="1257300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79" name="Google Shape;179;p15"/>
            <p:cNvSpPr txBox="1"/>
            <p:nvPr/>
          </p:nvSpPr>
          <p:spPr>
            <a:xfrm>
              <a:off x="238125" y="114300"/>
              <a:ext cx="3667200" cy="11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3C96D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Zone 3: Golden Hours</a:t>
              </a:r>
              <a:endParaRPr b="0" sz="1300">
                <a:solidFill>
                  <a:srgbClr val="F3C96D"/>
                </a:solidFill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F3C96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Target: All Ages</a:t>
              </a:r>
              <a:endParaRPr b="0" sz="900">
                <a:solidFill>
                  <a:srgbClr val="F3C96D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Pattern Recall — timer-free, calm progressive visual memory training.</a:t>
              </a:r>
              <a:endParaRPr b="0" sz="105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180" name="Google Shape;180;p15"/>
          <p:cNvGrpSpPr/>
          <p:nvPr/>
        </p:nvGrpSpPr>
        <p:grpSpPr>
          <a:xfrm>
            <a:off x="4705350" y="3152775"/>
            <a:ext cx="4067250" cy="1366763"/>
            <a:chOff x="-9525" y="-9525"/>
            <a:chExt cx="4067250" cy="1366763"/>
          </a:xfrm>
        </p:grpSpPr>
        <p:pic>
          <p:nvPicPr>
            <p:cNvPr id="181" name="Google Shape;181;p1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-4762" y="-4762"/>
              <a:ext cx="4057800" cy="13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" name="Google Shape;182;p15"/>
            <p:cNvSpPr/>
            <p:nvPr/>
          </p:nvSpPr>
          <p:spPr>
            <a:xfrm>
              <a:off x="0" y="0"/>
              <a:ext cx="114300" cy="1352700"/>
            </a:xfrm>
            <a:custGeom>
              <a:rect b="b" l="l" r="r" t="t"/>
              <a:pathLst>
                <a:path extrusionOk="0" h="120000" w="120000">
                  <a:moveTo>
                    <a:pt x="0" y="5070"/>
                  </a:moveTo>
                  <a:lnTo>
                    <a:pt x="0" y="114930"/>
                  </a:lnTo>
                  <a:cubicBezTo>
                    <a:pt x="3" y="117730"/>
                    <a:pt x="26865" y="120000"/>
                    <a:pt x="60000" y="120000"/>
                  </a:cubicBezTo>
                  <a:lnTo>
                    <a:pt x="120000" y="120000"/>
                  </a:lnTo>
                  <a:lnTo>
                    <a:pt x="120000" y="0"/>
                  </a:lnTo>
                  <a:lnTo>
                    <a:pt x="60000" y="0"/>
                  </a:lnTo>
                  <a:cubicBezTo>
                    <a:pt x="44087" y="0"/>
                    <a:pt x="28826" y="534"/>
                    <a:pt x="17574" y="1485"/>
                  </a:cubicBezTo>
                  <a:cubicBezTo>
                    <a:pt x="6321" y="2436"/>
                    <a:pt x="0" y="3726"/>
                    <a:pt x="0" y="5070"/>
                  </a:cubicBezTo>
                  <a:close/>
                </a:path>
              </a:pathLst>
            </a:custGeom>
            <a:solidFill>
              <a:srgbClr val="74E7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3" name="Google Shape;183;p15"/>
            <p:cNvGrpSpPr/>
            <p:nvPr/>
          </p:nvGrpSpPr>
          <p:grpSpPr>
            <a:xfrm>
              <a:off x="-9525" y="-9525"/>
              <a:ext cx="4067250" cy="1352625"/>
              <a:chOff x="-9525" y="-9525"/>
              <a:chExt cx="4067250" cy="1352625"/>
            </a:xfrm>
          </p:grpSpPr>
          <p:pic>
            <p:nvPicPr>
              <p:cNvPr id="184" name="Google Shape;184;p1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-9525" y="-9525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5" name="Google Shape;185;p15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3971925" y="-9525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6" name="Google Shape;186;p15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-9525" y="1257300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7" name="Google Shape;187;p15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3971925" y="1257300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88" name="Google Shape;188;p15"/>
            <p:cNvSpPr txBox="1"/>
            <p:nvPr/>
          </p:nvSpPr>
          <p:spPr>
            <a:xfrm>
              <a:off x="238125" y="114300"/>
              <a:ext cx="3667200" cy="11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74E7A8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Zone 4: Night Arena</a:t>
              </a:r>
              <a:endParaRPr b="0" sz="1300">
                <a:solidFill>
                  <a:srgbClr val="74E7A8"/>
                </a:solidFill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74E7A8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Competitive Cloud &amp; VM Gaming</a:t>
              </a:r>
              <a:endParaRPr b="0" sz="900">
                <a:solidFill>
                  <a:srgbClr val="74E7A8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Live BlueStacks Android VM integration (</a:t>
              </a:r>
              <a:r>
                <a:rPr b="0" lang="en" sz="100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127.0.0.1:5555</a:t>
              </a:r>
              <a:r>
                <a:rPr b="0" lang="en" sz="10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), custom PC-to-Mobile ADB Keymapper, 60 FPS built-in simulator, and Dockerized multiplayer game servers.</a:t>
              </a:r>
              <a:endParaRPr b="0" sz="10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89" name="Google Shape;189;p15"/>
          <p:cNvSpPr txBox="1"/>
          <p:nvPr/>
        </p:nvSpPr>
        <p:spPr>
          <a:xfrm>
            <a:off x="381000" y="4714875"/>
            <a:ext cx="8382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rPr>
              <a:t>NIGHT HOURS v2.0 ARCHITECTURE</a:t>
            </a:r>
            <a:r>
              <a:rPr lang="en"/>
              <a:t> </a:t>
            </a:r>
            <a:r>
              <a:rPr b="0" lang="en" sz="9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rPr>
              <a:t>EXECUTIVE OVERVIEW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16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95" name="Google Shape;195;p16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10132A">
                    <a:alpha val="80000"/>
                  </a:srgbClr>
                </a:gs>
                <a:gs pos="100000">
                  <a:srgbClr val="080B18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6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7" name="Google Shape;197;p16"/>
          <p:cNvGrpSpPr/>
          <p:nvPr/>
        </p:nvGrpSpPr>
        <p:grpSpPr>
          <a:xfrm>
            <a:off x="381000" y="238125"/>
            <a:ext cx="381000" cy="381000"/>
            <a:chOff x="0" y="0"/>
            <a:chExt cx="381000" cy="381000"/>
          </a:xfrm>
        </p:grpSpPr>
        <p:sp>
          <p:nvSpPr>
            <p:cNvPr id="198" name="Google Shape;198;p16"/>
            <p:cNvSpPr/>
            <p:nvPr/>
          </p:nvSpPr>
          <p:spPr>
            <a:xfrm>
              <a:off x="0" y="0"/>
              <a:ext cx="381000" cy="3810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30000"/>
                  </a:lnTo>
                  <a:lnTo>
                    <a:pt x="120000" y="90000"/>
                  </a:lnTo>
                  <a:lnTo>
                    <a:pt x="60000" y="120000"/>
                  </a:lnTo>
                  <a:lnTo>
                    <a:pt x="0" y="90000"/>
                  </a:lnTo>
                  <a:lnTo>
                    <a:pt x="0" y="3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9D6C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6"/>
            <p:cNvSpPr/>
            <p:nvPr/>
          </p:nvSpPr>
          <p:spPr>
            <a:xfrm>
              <a:off x="38100" y="38100"/>
              <a:ext cx="304800" cy="3048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30000"/>
                  </a:lnTo>
                  <a:lnTo>
                    <a:pt x="120000" y="90000"/>
                  </a:lnTo>
                  <a:lnTo>
                    <a:pt x="60000" y="120000"/>
                  </a:lnTo>
                  <a:lnTo>
                    <a:pt x="0" y="90000"/>
                  </a:lnTo>
                  <a:lnTo>
                    <a:pt x="0" y="30000"/>
                  </a:lnTo>
                  <a:close/>
                </a:path>
              </a:pathLst>
            </a:custGeom>
            <a:solidFill>
              <a:srgbClr val="10132A"/>
            </a:solidFill>
            <a:ln cap="flat" cmpd="sng" w="9525">
              <a:solidFill>
                <a:srgbClr val="87E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6"/>
            <p:cNvSpPr/>
            <p:nvPr/>
          </p:nvSpPr>
          <p:spPr>
            <a:xfrm>
              <a:off x="114300" y="142875"/>
              <a:ext cx="152400" cy="95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moveTo>
                    <a:pt x="0" y="0"/>
                  </a:moveTo>
                  <a:lnTo>
                    <a:pt x="60000" y="120000"/>
                  </a:lnTo>
                  <a:moveTo>
                    <a:pt x="60000" y="0"/>
                  </a:moveTo>
                  <a:lnTo>
                    <a:pt x="60000" y="120000"/>
                  </a:lnTo>
                  <a:moveTo>
                    <a:pt x="120000" y="0"/>
                  </a:moveTo>
                  <a:lnTo>
                    <a:pt x="120000" y="120000"/>
                  </a:lnTo>
                  <a:moveTo>
                    <a:pt x="82500" y="60000"/>
                  </a:moveTo>
                  <a:lnTo>
                    <a:pt x="120000" y="6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1" name="Google Shape;201;p16"/>
          <p:cNvSpPr txBox="1"/>
          <p:nvPr/>
        </p:nvSpPr>
        <p:spPr>
          <a:xfrm>
            <a:off x="857250" y="190500"/>
            <a:ext cx="79059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EVOLUTION OVERVIEW</a:t>
            </a:r>
            <a:endParaRPr b="1" sz="220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87E5FF"/>
                </a:solidFill>
                <a:latin typeface="Outfit Medium"/>
                <a:ea typeface="Outfit Medium"/>
                <a:cs typeface="Outfit Medium"/>
                <a:sym typeface="Outfit Medium"/>
              </a:rPr>
              <a:t>Major Upgrades from v1.0 Prototype (August 2026) to v2.0 Full-Stack Platform (October 2026)</a:t>
            </a:r>
            <a:endParaRPr b="0" sz="1300">
              <a:solidFill>
                <a:srgbClr val="87E5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202" name="Google Shape;202;p16"/>
          <p:cNvSpPr/>
          <p:nvPr/>
        </p:nvSpPr>
        <p:spPr>
          <a:xfrm>
            <a:off x="381000" y="1066800"/>
            <a:ext cx="8382000" cy="19200"/>
          </a:xfrm>
          <a:prstGeom prst="rect">
            <a:avLst/>
          </a:prstGeom>
          <a:gradFill>
            <a:gsLst>
              <a:gs pos="0">
                <a:srgbClr val="87E5FF"/>
              </a:gs>
              <a:gs pos="50000">
                <a:srgbClr val="9D6CFF"/>
              </a:gs>
              <a:gs pos="100000">
                <a:srgbClr val="080B18"/>
              </a:gs>
            </a:gsLst>
            <a:lin ang="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3" name="Google Shape;203;p16"/>
          <p:cNvGrpSpPr/>
          <p:nvPr/>
        </p:nvGrpSpPr>
        <p:grpSpPr>
          <a:xfrm>
            <a:off x="381000" y="1219200"/>
            <a:ext cx="4048200" cy="1047900"/>
            <a:chOff x="0" y="0"/>
            <a:chExt cx="4048200" cy="1047900"/>
          </a:xfrm>
        </p:grpSpPr>
        <p:sp>
          <p:nvSpPr>
            <p:cNvPr id="204" name="Google Shape;204;p16"/>
            <p:cNvSpPr/>
            <p:nvPr/>
          </p:nvSpPr>
          <p:spPr>
            <a:xfrm>
              <a:off x="0" y="0"/>
              <a:ext cx="4048200" cy="1047900"/>
            </a:xfrm>
            <a:prstGeom prst="roundRect">
              <a:avLst>
                <a:gd fmla="val 5454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6"/>
            <p:cNvSpPr/>
            <p:nvPr/>
          </p:nvSpPr>
          <p:spPr>
            <a:xfrm>
              <a:off x="0" y="0"/>
              <a:ext cx="4048200" cy="28500"/>
            </a:xfrm>
            <a:prstGeom prst="roundRect">
              <a:avLst>
                <a:gd fmla="val 33333" name="adj"/>
              </a:avLst>
            </a:prstGeom>
            <a:solidFill>
              <a:srgbClr val="9D6C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6"/>
            <p:cNvSpPr txBox="1"/>
            <p:nvPr/>
          </p:nvSpPr>
          <p:spPr>
            <a:xfrm>
              <a:off x="152400" y="114300"/>
              <a:ext cx="3743400" cy="8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25">
                  <a:solidFill>
                    <a:srgbClr val="87E5FF"/>
                  </a:solidFill>
                  <a:latin typeface="Outfit"/>
                  <a:ea typeface="Outfit"/>
                  <a:cs typeface="Outfit"/>
                  <a:sym typeface="Outfit"/>
                </a:rPr>
                <a:t>1. BACKEND &amp; AUTHENTICATION</a:t>
              </a:r>
              <a:endParaRPr b="1" sz="925">
                <a:solidFill>
                  <a:srgbClr val="87E5FF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F3C96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v1.0:</a:t>
              </a:r>
              <a:r>
                <a:rPr b="0" lang="en" sz="925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NO backend (localStorage only).</a:t>
              </a:r>
              <a:endParaRPr b="0" sz="925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74E7A8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v2.0:</a:t>
              </a:r>
              <a:r>
                <a:rPr b="0" lang="en" sz="925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Express REST API (</a:t>
              </a:r>
              <a:r>
                <a:rPr b="0" lang="en" sz="833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backend/src/index.js</a:t>
              </a:r>
              <a:r>
                <a:rPr b="0" lang="en" sz="925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), JWT Authentication (</a:t>
              </a:r>
              <a:r>
                <a:rPr b="0" lang="en" sz="833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jsonwebtoken</a:t>
              </a:r>
              <a:r>
                <a:rPr b="0" lang="en" sz="925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), bcryptjs password hashing, persistent JSON DB (</a:t>
              </a:r>
              <a:r>
                <a:rPr b="0" lang="en" sz="833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night-hours.json</a:t>
              </a:r>
              <a:r>
                <a:rPr b="0" lang="en" sz="925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).</a:t>
              </a:r>
              <a:endParaRPr b="0" sz="925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07" name="Google Shape;207;p16"/>
          <p:cNvGrpSpPr/>
          <p:nvPr/>
        </p:nvGrpSpPr>
        <p:grpSpPr>
          <a:xfrm>
            <a:off x="381000" y="2362200"/>
            <a:ext cx="4048200" cy="1047900"/>
            <a:chOff x="0" y="0"/>
            <a:chExt cx="4048200" cy="1047900"/>
          </a:xfrm>
        </p:grpSpPr>
        <p:sp>
          <p:nvSpPr>
            <p:cNvPr id="208" name="Google Shape;208;p16"/>
            <p:cNvSpPr/>
            <p:nvPr/>
          </p:nvSpPr>
          <p:spPr>
            <a:xfrm>
              <a:off x="0" y="0"/>
              <a:ext cx="4048200" cy="1047900"/>
            </a:xfrm>
            <a:prstGeom prst="roundRect">
              <a:avLst>
                <a:gd fmla="val 5454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6"/>
            <p:cNvSpPr/>
            <p:nvPr/>
          </p:nvSpPr>
          <p:spPr>
            <a:xfrm>
              <a:off x="0" y="0"/>
              <a:ext cx="4048200" cy="28500"/>
            </a:xfrm>
            <a:prstGeom prst="roundRect">
              <a:avLst>
                <a:gd fmla="val 33333" name="adj"/>
              </a:avLst>
            </a:prstGeom>
            <a:solidFill>
              <a:srgbClr val="87E5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6"/>
            <p:cNvSpPr txBox="1"/>
            <p:nvPr/>
          </p:nvSpPr>
          <p:spPr>
            <a:xfrm>
              <a:off x="152400" y="114300"/>
              <a:ext cx="3743400" cy="8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87E5FF"/>
                  </a:solidFill>
                  <a:latin typeface="Outfit"/>
                  <a:ea typeface="Outfit"/>
                  <a:cs typeface="Outfit"/>
                  <a:sym typeface="Outfit"/>
                </a:rPr>
                <a:t>2. API CLIENT &amp; OFFLINE RESILIENCE</a:t>
              </a:r>
              <a:endParaRPr b="1" sz="1000">
                <a:solidFill>
                  <a:srgbClr val="87E5FF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3C96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v1.0:</a:t>
              </a:r>
              <a:r>
                <a:rPr b="0" lang="en" sz="10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Direct localStorage calls.</a:t>
              </a:r>
              <a:endParaRPr b="0" sz="10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74E7A8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v2.0:</a:t>
              </a:r>
              <a:r>
                <a:rPr b="0" lang="en" sz="10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Centralized </a:t>
              </a:r>
              <a:r>
                <a:rPr b="0" lang="en" sz="90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src/services/api.js</a:t>
              </a:r>
              <a:r>
                <a:rPr b="0" lang="en" sz="10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&amp; </a:t>
              </a:r>
              <a:r>
                <a:rPr b="0" lang="en" sz="90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useGameStats.js</a:t>
              </a:r>
              <a:r>
                <a:rPr b="0" lang="en" sz="10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hook with automatic offline fallback capabilities.</a:t>
              </a:r>
              <a:endParaRPr b="0" sz="10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11" name="Google Shape;211;p16"/>
          <p:cNvGrpSpPr/>
          <p:nvPr/>
        </p:nvGrpSpPr>
        <p:grpSpPr>
          <a:xfrm>
            <a:off x="381000" y="3505200"/>
            <a:ext cx="4048200" cy="1095300"/>
            <a:chOff x="0" y="0"/>
            <a:chExt cx="4048200" cy="1095300"/>
          </a:xfrm>
        </p:grpSpPr>
        <p:sp>
          <p:nvSpPr>
            <p:cNvPr id="212" name="Google Shape;212;p16"/>
            <p:cNvSpPr/>
            <p:nvPr/>
          </p:nvSpPr>
          <p:spPr>
            <a:xfrm>
              <a:off x="0" y="0"/>
              <a:ext cx="4048200" cy="1095300"/>
            </a:xfrm>
            <a:prstGeom prst="roundRect">
              <a:avLst>
                <a:gd fmla="val 5217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6"/>
            <p:cNvSpPr/>
            <p:nvPr/>
          </p:nvSpPr>
          <p:spPr>
            <a:xfrm>
              <a:off x="0" y="0"/>
              <a:ext cx="4048200" cy="28500"/>
            </a:xfrm>
            <a:prstGeom prst="roundRect">
              <a:avLst>
                <a:gd fmla="val 33333" name="adj"/>
              </a:avLst>
            </a:prstGeom>
            <a:solidFill>
              <a:srgbClr val="74E7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6"/>
            <p:cNvSpPr txBox="1"/>
            <p:nvPr/>
          </p:nvSpPr>
          <p:spPr>
            <a:xfrm>
              <a:off x="152400" y="114300"/>
              <a:ext cx="3743400" cy="8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25">
                  <a:solidFill>
                    <a:srgbClr val="87E5FF"/>
                  </a:solidFill>
                  <a:latin typeface="Outfit"/>
                  <a:ea typeface="Outfit"/>
                  <a:cs typeface="Outfit"/>
                  <a:sym typeface="Outfit"/>
                </a:rPr>
                <a:t>4. MULTIPLAYER INFRASTRUCTURE</a:t>
              </a:r>
              <a:endParaRPr b="1" sz="925">
                <a:solidFill>
                  <a:srgbClr val="87E5FF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F3C96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v1.0:</a:t>
              </a:r>
              <a:r>
                <a:rPr b="0" lang="en" sz="925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93-line signaling script.</a:t>
              </a:r>
              <a:endParaRPr b="0" sz="925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74E7A8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v2.0:</a:t>
              </a:r>
              <a:r>
                <a:rPr b="0" lang="en" sz="925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Full </a:t>
              </a:r>
              <a:r>
                <a:rPr b="0" lang="en" sz="833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docker-compose.yml</a:t>
              </a:r>
              <a:r>
                <a:rPr b="0" lang="en" sz="925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orchestrating 7 dedicated multiplayer game servers + Android Cloud VM + Portainer, Prometheus, and Grafana monitoring.</a:t>
              </a:r>
              <a:endParaRPr b="0" sz="925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15" name="Google Shape;215;p16"/>
          <p:cNvGrpSpPr/>
          <p:nvPr/>
        </p:nvGrpSpPr>
        <p:grpSpPr>
          <a:xfrm>
            <a:off x="4714875" y="1219200"/>
            <a:ext cx="4048200" cy="1619100"/>
            <a:chOff x="0" y="0"/>
            <a:chExt cx="4048200" cy="1619100"/>
          </a:xfrm>
        </p:grpSpPr>
        <p:sp>
          <p:nvSpPr>
            <p:cNvPr id="216" name="Google Shape;216;p16"/>
            <p:cNvSpPr/>
            <p:nvPr/>
          </p:nvSpPr>
          <p:spPr>
            <a:xfrm>
              <a:off x="0" y="0"/>
              <a:ext cx="4048200" cy="1619100"/>
            </a:xfrm>
            <a:prstGeom prst="roundRect">
              <a:avLst>
                <a:gd fmla="val 3529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6"/>
            <p:cNvSpPr/>
            <p:nvPr/>
          </p:nvSpPr>
          <p:spPr>
            <a:xfrm>
              <a:off x="0" y="0"/>
              <a:ext cx="4048200" cy="28500"/>
            </a:xfrm>
            <a:prstGeom prst="roundRect">
              <a:avLst>
                <a:gd fmla="val 33333" name="adj"/>
              </a:avLst>
            </a:prstGeom>
            <a:solidFill>
              <a:srgbClr val="9D6C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6"/>
            <p:cNvSpPr txBox="1"/>
            <p:nvPr/>
          </p:nvSpPr>
          <p:spPr>
            <a:xfrm>
              <a:off x="152400" y="114300"/>
              <a:ext cx="3743400" cy="14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9D6CFF"/>
                  </a:solidFill>
                  <a:latin typeface="Outfit"/>
                  <a:ea typeface="Outfit"/>
                  <a:cs typeface="Outfit"/>
                  <a:sym typeface="Outfit"/>
                </a:rPr>
                <a:t>3. NIGHT ARENA CLOUD GAMING</a:t>
              </a:r>
              <a:endParaRPr b="1" sz="1000">
                <a:solidFill>
                  <a:srgbClr val="9D6CFF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3C96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v1.0:</a:t>
              </a:r>
              <a:r>
                <a:rPr b="0" lang="en" sz="10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500-line static boot simulation.</a:t>
              </a:r>
              <a:endParaRPr b="0" sz="10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74E7A8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v2.0:</a:t>
              </a:r>
              <a:r>
                <a:rPr b="0" lang="en" sz="10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1,300+ line interactive engine with live macOS BlueStacks ADB Bridge (</a:t>
              </a:r>
              <a:r>
                <a:rPr b="0" lang="en" sz="90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127.0.0.1:5555</a:t>
              </a:r>
              <a:r>
                <a:rPr b="0" lang="en" sz="10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), custom PC-to-Mobile Keymapper, 60 FPS Canvas Battle Royale/Tactical Shooter simulator, and Android Web VNC (</a:t>
              </a:r>
              <a:r>
                <a:rPr b="0" lang="en" sz="90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:6080</a:t>
              </a:r>
              <a:r>
                <a:rPr b="0" lang="en" sz="10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).</a:t>
              </a:r>
              <a:endParaRPr b="0" sz="10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19" name="Google Shape;219;p16"/>
          <p:cNvGrpSpPr/>
          <p:nvPr/>
        </p:nvGrpSpPr>
        <p:grpSpPr>
          <a:xfrm>
            <a:off x="4714875" y="2933700"/>
            <a:ext cx="4048200" cy="1666800"/>
            <a:chOff x="0" y="0"/>
            <a:chExt cx="4048200" cy="1666800"/>
          </a:xfrm>
        </p:grpSpPr>
        <p:sp>
          <p:nvSpPr>
            <p:cNvPr id="220" name="Google Shape;220;p16"/>
            <p:cNvSpPr/>
            <p:nvPr/>
          </p:nvSpPr>
          <p:spPr>
            <a:xfrm>
              <a:off x="0" y="0"/>
              <a:ext cx="4048200" cy="1666800"/>
            </a:xfrm>
            <a:prstGeom prst="roundRect">
              <a:avLst>
                <a:gd fmla="val 3428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6"/>
            <p:cNvSpPr/>
            <p:nvPr/>
          </p:nvSpPr>
          <p:spPr>
            <a:xfrm>
              <a:off x="0" y="0"/>
              <a:ext cx="4048200" cy="28500"/>
            </a:xfrm>
            <a:prstGeom prst="roundRect">
              <a:avLst>
                <a:gd fmla="val 33333" name="adj"/>
              </a:avLst>
            </a:prstGeom>
            <a:solidFill>
              <a:srgbClr val="F3C96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6"/>
            <p:cNvSpPr txBox="1"/>
            <p:nvPr/>
          </p:nvSpPr>
          <p:spPr>
            <a:xfrm>
              <a:off x="152400" y="114300"/>
              <a:ext cx="3743400" cy="14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3C96D"/>
                  </a:solidFill>
                  <a:latin typeface="Outfit"/>
                  <a:ea typeface="Outfit"/>
                  <a:cs typeface="Outfit"/>
                  <a:sym typeface="Outfit"/>
                </a:rPr>
                <a:t>5. GAME MECHANICS UPGRADES</a:t>
              </a:r>
              <a:endParaRPr b="1" sz="1000">
                <a:solidFill>
                  <a:srgbClr val="F3C96D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87E5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Type Sprint:</a:t>
              </a:r>
              <a:r>
                <a:rPr b="0" lang="en" sz="10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4 themed word banks, 3 time modes, live Net/Raw WPM, and 3x multipliers.</a:t>
              </a:r>
              <a:endParaRPr b="0" sz="10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87E5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Math Quest:</a:t>
              </a:r>
              <a:r>
                <a:rPr b="0" lang="en" sz="10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4 difficulty tiers (including division and squares), 3 game modes (including 3-Life Survival), Auto-Submit, and +2s streak bonuses.</a:t>
              </a:r>
              <a:endParaRPr b="0" sz="10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23" name="Google Shape;223;p16"/>
          <p:cNvSpPr txBox="1"/>
          <p:nvPr/>
        </p:nvSpPr>
        <p:spPr>
          <a:xfrm>
            <a:off x="381000" y="4762500"/>
            <a:ext cx="400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rPr>
              <a:t>NIGHT HOURS ARCHITECTURE &amp; EVOLUTION</a:t>
            </a:r>
            <a:endParaRPr b="0" sz="900">
              <a:solidFill>
                <a:srgbClr val="A0AEC0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24" name="Google Shape;224;p16"/>
          <p:cNvSpPr txBox="1"/>
          <p:nvPr/>
        </p:nvSpPr>
        <p:spPr>
          <a:xfrm>
            <a:off x="4762500" y="4762500"/>
            <a:ext cx="400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rPr>
              <a:t>v1.0 (AUG 2026) → v2.0 (OCT 2026)</a:t>
            </a:r>
            <a:endParaRPr b="0" sz="900">
              <a:solidFill>
                <a:srgbClr val="A0AEC0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B18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0132A">
                  <a:alpha val="89804"/>
                </a:srgbClr>
              </a:gs>
              <a:gs pos="100000">
                <a:srgbClr val="080B18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0" name="Google Shape;2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1" name="Google Shape;231;p17"/>
          <p:cNvGrpSpPr/>
          <p:nvPr/>
        </p:nvGrpSpPr>
        <p:grpSpPr>
          <a:xfrm>
            <a:off x="381000" y="238125"/>
            <a:ext cx="381000" cy="381000"/>
            <a:chOff x="0" y="0"/>
            <a:chExt cx="381000" cy="381000"/>
          </a:xfrm>
        </p:grpSpPr>
        <p:sp>
          <p:nvSpPr>
            <p:cNvPr id="232" name="Google Shape;232;p17"/>
            <p:cNvSpPr/>
            <p:nvPr/>
          </p:nvSpPr>
          <p:spPr>
            <a:xfrm>
              <a:off x="0" y="0"/>
              <a:ext cx="381000" cy="3810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30000"/>
                  </a:lnTo>
                  <a:lnTo>
                    <a:pt x="120000" y="90000"/>
                  </a:lnTo>
                  <a:lnTo>
                    <a:pt x="60000" y="120000"/>
                  </a:lnTo>
                  <a:lnTo>
                    <a:pt x="0" y="90000"/>
                  </a:lnTo>
                  <a:lnTo>
                    <a:pt x="0" y="3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9D6C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7"/>
            <p:cNvSpPr/>
            <p:nvPr/>
          </p:nvSpPr>
          <p:spPr>
            <a:xfrm>
              <a:off x="38100" y="38100"/>
              <a:ext cx="304800" cy="3048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30000"/>
                  </a:lnTo>
                  <a:lnTo>
                    <a:pt x="120000" y="90000"/>
                  </a:lnTo>
                  <a:lnTo>
                    <a:pt x="60000" y="120000"/>
                  </a:lnTo>
                  <a:lnTo>
                    <a:pt x="0" y="90000"/>
                  </a:lnTo>
                  <a:lnTo>
                    <a:pt x="0" y="30000"/>
                  </a:lnTo>
                  <a:close/>
                </a:path>
              </a:pathLst>
            </a:custGeom>
            <a:solidFill>
              <a:srgbClr val="10132A"/>
            </a:solidFill>
            <a:ln cap="flat" cmpd="sng" w="9525">
              <a:solidFill>
                <a:srgbClr val="87E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7"/>
            <p:cNvSpPr/>
            <p:nvPr/>
          </p:nvSpPr>
          <p:spPr>
            <a:xfrm>
              <a:off x="114300" y="142875"/>
              <a:ext cx="152400" cy="95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moveTo>
                    <a:pt x="0" y="0"/>
                  </a:moveTo>
                  <a:lnTo>
                    <a:pt x="60000" y="120000"/>
                  </a:lnTo>
                  <a:moveTo>
                    <a:pt x="60000" y="0"/>
                  </a:moveTo>
                  <a:lnTo>
                    <a:pt x="60000" y="120000"/>
                  </a:lnTo>
                  <a:moveTo>
                    <a:pt x="120000" y="0"/>
                  </a:moveTo>
                  <a:lnTo>
                    <a:pt x="120000" y="120000"/>
                  </a:lnTo>
                  <a:moveTo>
                    <a:pt x="82500" y="60000"/>
                  </a:moveTo>
                  <a:lnTo>
                    <a:pt x="120000" y="6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5" name="Google Shape;235;p17"/>
          <p:cNvGrpSpPr/>
          <p:nvPr/>
        </p:nvGrpSpPr>
        <p:grpSpPr>
          <a:xfrm>
            <a:off x="952500" y="180975"/>
            <a:ext cx="981225" cy="133500"/>
            <a:chOff x="0" y="-9525"/>
            <a:chExt cx="981225" cy="133500"/>
          </a:xfrm>
        </p:grpSpPr>
        <p:pic>
          <p:nvPicPr>
            <p:cNvPr id="236" name="Google Shape;236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-9525"/>
              <a:ext cx="952500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7" name="Google Shape;237;p17"/>
            <p:cNvSpPr/>
            <p:nvPr/>
          </p:nvSpPr>
          <p:spPr>
            <a:xfrm>
              <a:off x="923925" y="66675"/>
              <a:ext cx="57300" cy="57300"/>
            </a:xfrm>
            <a:prstGeom prst="ellipse">
              <a:avLst/>
            </a:prstGeom>
            <a:solidFill>
              <a:srgbClr val="87E5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7"/>
            <p:cNvSpPr/>
            <p:nvPr/>
          </p:nvSpPr>
          <p:spPr>
            <a:xfrm>
              <a:off x="476250" y="57150"/>
              <a:ext cx="142800" cy="19200"/>
            </a:xfrm>
            <a:prstGeom prst="rect">
              <a:avLst/>
            </a:prstGeom>
            <a:solidFill>
              <a:srgbClr val="74E7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9" name="Google Shape;239;p17"/>
          <p:cNvSpPr txBox="1"/>
          <p:nvPr/>
        </p:nvSpPr>
        <p:spPr>
          <a:xfrm>
            <a:off x="952500" y="190500"/>
            <a:ext cx="78105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Full-Stack System Architecture</a:t>
            </a:r>
            <a:endParaRPr b="1" sz="260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87E5FF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 Technical Foundation of v2.0</a:t>
            </a:r>
            <a:endParaRPr b="0" sz="1500">
              <a:solidFill>
                <a:srgbClr val="87E5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240" name="Google Shape;240;p17"/>
          <p:cNvSpPr/>
          <p:nvPr/>
        </p:nvSpPr>
        <p:spPr>
          <a:xfrm>
            <a:off x="381000" y="933450"/>
            <a:ext cx="8382000" cy="19200"/>
          </a:xfrm>
          <a:prstGeom prst="rect">
            <a:avLst/>
          </a:prstGeom>
          <a:gradFill>
            <a:gsLst>
              <a:gs pos="0">
                <a:srgbClr val="87E5FF"/>
              </a:gs>
              <a:gs pos="50000">
                <a:srgbClr val="9D6CFF"/>
              </a:gs>
              <a:gs pos="100000">
                <a:srgbClr val="080B18"/>
              </a:gs>
            </a:gsLst>
            <a:lin ang="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1" name="Google Shape;241;p17"/>
          <p:cNvGrpSpPr/>
          <p:nvPr/>
        </p:nvGrpSpPr>
        <p:grpSpPr>
          <a:xfrm>
            <a:off x="381000" y="1047750"/>
            <a:ext cx="8382000" cy="781200"/>
            <a:chOff x="0" y="0"/>
            <a:chExt cx="8382000" cy="781200"/>
          </a:xfrm>
        </p:grpSpPr>
        <p:sp>
          <p:nvSpPr>
            <p:cNvPr id="242" name="Google Shape;242;p17"/>
            <p:cNvSpPr/>
            <p:nvPr/>
          </p:nvSpPr>
          <p:spPr>
            <a:xfrm>
              <a:off x="0" y="0"/>
              <a:ext cx="8382000" cy="781200"/>
            </a:xfrm>
            <a:prstGeom prst="roundRect">
              <a:avLst>
                <a:gd fmla="val 7317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7"/>
            <p:cNvSpPr/>
            <p:nvPr/>
          </p:nvSpPr>
          <p:spPr>
            <a:xfrm>
              <a:off x="0" y="0"/>
              <a:ext cx="47700" cy="781200"/>
            </a:xfrm>
            <a:prstGeom prst="roundRect">
              <a:avLst>
                <a:gd fmla="val 40000" name="adj"/>
              </a:avLst>
            </a:prstGeom>
            <a:solidFill>
              <a:srgbClr val="87E5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7"/>
            <p:cNvSpPr txBox="1"/>
            <p:nvPr/>
          </p:nvSpPr>
          <p:spPr>
            <a:xfrm>
              <a:off x="171450" y="95250"/>
              <a:ext cx="20955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87E5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LAYER 01 // FRONTEND</a:t>
              </a:r>
              <a:endParaRPr b="0" sz="900">
                <a:solidFill>
                  <a:srgbClr val="87E5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FFFFF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Frontend Layer</a:t>
              </a:r>
              <a:endParaRPr b="0" sz="13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rPr>
                <a:t>src/</a:t>
              </a:r>
              <a:endParaRPr b="0" sz="1000">
                <a:solidFill>
                  <a:srgbClr val="87E5FF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sp>
          <p:nvSpPr>
            <p:cNvPr id="245" name="Google Shape;245;p17"/>
            <p:cNvSpPr txBox="1"/>
            <p:nvPr/>
          </p:nvSpPr>
          <p:spPr>
            <a:xfrm>
              <a:off x="2333625" y="95250"/>
              <a:ext cx="58578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E2E8F0"/>
                  </a:solidFill>
                  <a:latin typeface="Outfit"/>
                  <a:ea typeface="Outfit"/>
                  <a:cs typeface="Outfit"/>
                  <a:sym typeface="Outfit"/>
                </a:rPr>
                <a:t>React 18.3 + React Router 7 (</a:t>
              </a:r>
              <a:r>
                <a:rPr b="0" lang="en" sz="100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rPr>
                <a:t>AppRoutes.jsx</a:t>
              </a:r>
              <a:r>
                <a:rPr b="0" lang="en" sz="1050">
                  <a:solidFill>
                    <a:srgbClr val="E2E8F0"/>
                  </a:solidFill>
                  <a:latin typeface="Outfit"/>
                  <a:ea typeface="Outfit"/>
                  <a:cs typeface="Outfit"/>
                  <a:sym typeface="Outfit"/>
                </a:rPr>
                <a:t> with </a:t>
              </a:r>
              <a:r>
                <a:rPr b="0" lang="en" sz="100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rPr>
                <a:t>ScrollToTop</a:t>
              </a:r>
              <a:r>
                <a:rPr b="0" lang="en" sz="1050">
                  <a:solidFill>
                    <a:srgbClr val="E2E8F0"/>
                  </a:solidFill>
                  <a:latin typeface="Outfit"/>
                  <a:ea typeface="Outfit"/>
                  <a:cs typeface="Outfit"/>
                  <a:sym typeface="Outfit"/>
                </a:rPr>
                <a:t> and </a:t>
              </a:r>
              <a:r>
                <a:rPr b="0" lang="en" sz="100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rPr>
                <a:t>ProtectedRoute</a:t>
              </a:r>
              <a:r>
                <a:rPr b="0" lang="en" sz="1050">
                  <a:solidFill>
                    <a:srgbClr val="E2E8F0"/>
                  </a:solidFill>
                  <a:latin typeface="Outfit"/>
                  <a:ea typeface="Outfit"/>
                  <a:cs typeface="Outfit"/>
                  <a:sym typeface="Outfit"/>
                </a:rPr>
                <a:t>), </a:t>
              </a:r>
              <a:r>
                <a:rPr b="0" lang="en" sz="100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rPr>
                <a:t>AuthContext.jsx</a:t>
              </a:r>
              <a:r>
                <a:rPr b="0" lang="en" sz="1050">
                  <a:solidFill>
                    <a:srgbClr val="E2E8F0"/>
                  </a:solidFill>
                  <a:latin typeface="Outfit"/>
                  <a:ea typeface="Outfit"/>
                  <a:cs typeface="Outfit"/>
                  <a:sym typeface="Outfit"/>
                </a:rPr>
                <a:t>, </a:t>
              </a:r>
              <a:r>
                <a:rPr b="0" lang="en" sz="100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rPr>
                <a:t>useGameStats.js</a:t>
              </a:r>
              <a:r>
                <a:rPr b="0" lang="en" sz="1050">
                  <a:solidFill>
                    <a:srgbClr val="E2E8F0"/>
                  </a:solidFill>
                  <a:latin typeface="Outfit"/>
                  <a:ea typeface="Outfit"/>
                  <a:cs typeface="Outfit"/>
                  <a:sym typeface="Outfit"/>
                </a:rPr>
                <a:t> hook, Vite 6.1 proxy (</a:t>
              </a:r>
              <a:r>
                <a:rPr b="0" lang="en" sz="100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/api</a:t>
              </a:r>
              <a:r>
                <a:rPr b="0" lang="en" sz="1050">
                  <a:solidFill>
                    <a:srgbClr val="E2E8F0"/>
                  </a:solidFill>
                  <a:latin typeface="Outfit"/>
                  <a:ea typeface="Outfit"/>
                  <a:cs typeface="Outfit"/>
                  <a:sym typeface="Outfit"/>
                </a:rPr>
                <a:t> → </a:t>
              </a:r>
              <a:r>
                <a:rPr b="0" lang="en" sz="1000">
                  <a:solidFill>
                    <a:srgbClr val="F3C96D"/>
                  </a:solidFill>
                  <a:latin typeface="DM Mono"/>
                  <a:ea typeface="DM Mono"/>
                  <a:cs typeface="DM Mono"/>
                  <a:sym typeface="DM Mono"/>
                </a:rPr>
                <a:t>127.0.0.1:3001</a:t>
              </a:r>
              <a:r>
                <a:rPr b="0" lang="en" sz="1050">
                  <a:solidFill>
                    <a:srgbClr val="E2E8F0"/>
                  </a:solidFill>
                  <a:latin typeface="Outfit"/>
                  <a:ea typeface="Outfit"/>
                  <a:cs typeface="Outfit"/>
                  <a:sym typeface="Outfit"/>
                </a:rPr>
                <a:t>).</a:t>
              </a:r>
              <a:endParaRPr b="0" sz="1050">
                <a:solidFill>
                  <a:srgbClr val="E2E8F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46" name="Google Shape;246;p17"/>
          <p:cNvSpPr/>
          <p:nvPr/>
        </p:nvSpPr>
        <p:spPr>
          <a:xfrm>
            <a:off x="4524375" y="1828800"/>
            <a:ext cx="95400" cy="5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60000" y="120000"/>
                </a:lnTo>
                <a:close/>
              </a:path>
            </a:pathLst>
          </a:custGeom>
          <a:solidFill>
            <a:srgbClr val="87E5FF">
              <a:alpha val="8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7" name="Google Shape;247;p17"/>
          <p:cNvGrpSpPr/>
          <p:nvPr/>
        </p:nvGrpSpPr>
        <p:grpSpPr>
          <a:xfrm>
            <a:off x="381000" y="1924050"/>
            <a:ext cx="8382000" cy="781200"/>
            <a:chOff x="0" y="0"/>
            <a:chExt cx="8382000" cy="781200"/>
          </a:xfrm>
        </p:grpSpPr>
        <p:sp>
          <p:nvSpPr>
            <p:cNvPr id="248" name="Google Shape;248;p17"/>
            <p:cNvSpPr/>
            <p:nvPr/>
          </p:nvSpPr>
          <p:spPr>
            <a:xfrm>
              <a:off x="0" y="0"/>
              <a:ext cx="8382000" cy="781200"/>
            </a:xfrm>
            <a:prstGeom prst="roundRect">
              <a:avLst>
                <a:gd fmla="val 7317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7"/>
            <p:cNvSpPr/>
            <p:nvPr/>
          </p:nvSpPr>
          <p:spPr>
            <a:xfrm>
              <a:off x="0" y="0"/>
              <a:ext cx="47700" cy="781200"/>
            </a:xfrm>
            <a:prstGeom prst="roundRect">
              <a:avLst>
                <a:gd fmla="val 40000" name="adj"/>
              </a:avLst>
            </a:prstGeom>
            <a:solidFill>
              <a:srgbClr val="9D6C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7"/>
            <p:cNvSpPr txBox="1"/>
            <p:nvPr/>
          </p:nvSpPr>
          <p:spPr>
            <a:xfrm>
              <a:off x="171450" y="95250"/>
              <a:ext cx="20955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9D6C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LAYER 02 // BACKEND</a:t>
              </a:r>
              <a:endParaRPr b="0" sz="900">
                <a:solidFill>
                  <a:srgbClr val="9D6C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FFFFF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Backend &amp; Signaling Layer</a:t>
              </a:r>
              <a:endParaRPr b="0" sz="13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D6CFF"/>
                  </a:solidFill>
                  <a:latin typeface="DM Mono"/>
                  <a:ea typeface="DM Mono"/>
                  <a:cs typeface="DM Mono"/>
                  <a:sym typeface="DM Mono"/>
                </a:rPr>
                <a:t>backend/src/</a:t>
              </a:r>
              <a:endParaRPr b="0" sz="1000">
                <a:solidFill>
                  <a:srgbClr val="9D6CFF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sp>
          <p:nvSpPr>
            <p:cNvPr id="251" name="Google Shape;251;p17"/>
            <p:cNvSpPr txBox="1"/>
            <p:nvPr/>
          </p:nvSpPr>
          <p:spPr>
            <a:xfrm>
              <a:off x="2333625" y="95250"/>
              <a:ext cx="58578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E2E8F0"/>
                  </a:solidFill>
                  <a:latin typeface="Outfit"/>
                  <a:ea typeface="Outfit"/>
                  <a:cs typeface="Outfit"/>
                  <a:sym typeface="Outfit"/>
                </a:rPr>
                <a:t>Unified Express 4.19 + Socket.IO 4.7 server on Port 3001 (</a:t>
              </a:r>
              <a:r>
                <a:rPr b="0" lang="en" sz="1000">
                  <a:solidFill>
                    <a:srgbClr val="9D6CFF"/>
                  </a:solidFill>
                  <a:latin typeface="DM Mono"/>
                  <a:ea typeface="DM Mono"/>
                  <a:cs typeface="DM Mono"/>
                  <a:sym typeface="DM Mono"/>
                </a:rPr>
                <a:t>index.js</a:t>
              </a:r>
              <a:r>
                <a:rPr b="0" lang="en" sz="1050">
                  <a:solidFill>
                    <a:srgbClr val="E2E8F0"/>
                  </a:solidFill>
                  <a:latin typeface="Outfit"/>
                  <a:ea typeface="Outfit"/>
                  <a:cs typeface="Outfit"/>
                  <a:sym typeface="Outfit"/>
                </a:rPr>
                <a:t>), serving REST endpoints (</a:t>
              </a:r>
              <a:r>
                <a:rPr b="0" lang="en" sz="100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/api/auth</a:t>
              </a:r>
              <a:r>
                <a:rPr b="0" lang="en" sz="1050">
                  <a:solidFill>
                    <a:srgbClr val="E2E8F0"/>
                  </a:solidFill>
                  <a:latin typeface="Outfit"/>
                  <a:ea typeface="Outfit"/>
                  <a:cs typeface="Outfit"/>
                  <a:sym typeface="Outfit"/>
                </a:rPr>
                <a:t>, </a:t>
              </a:r>
              <a:r>
                <a:rPr b="0" lang="en" sz="100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/api/stats</a:t>
              </a:r>
              <a:r>
                <a:rPr b="0" lang="en" sz="1050">
                  <a:solidFill>
                    <a:srgbClr val="E2E8F0"/>
                  </a:solidFill>
                  <a:latin typeface="Outfit"/>
                  <a:ea typeface="Outfit"/>
                  <a:cs typeface="Outfit"/>
                  <a:sym typeface="Outfit"/>
                </a:rPr>
                <a:t>, </a:t>
              </a:r>
              <a:r>
                <a:rPr b="0" lang="en" sz="100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/api/sessions</a:t>
              </a:r>
              <a:r>
                <a:rPr b="0" lang="en" sz="1050">
                  <a:solidFill>
                    <a:srgbClr val="E2E8F0"/>
                  </a:solidFill>
                  <a:latin typeface="Outfit"/>
                  <a:ea typeface="Outfit"/>
                  <a:cs typeface="Outfit"/>
                  <a:sym typeface="Outfit"/>
                </a:rPr>
                <a:t>, </a:t>
              </a:r>
              <a:r>
                <a:rPr b="0" lang="en" sz="100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/api/health</a:t>
              </a:r>
              <a:r>
                <a:rPr b="0" lang="en" sz="1050">
                  <a:solidFill>
                    <a:srgbClr val="E2E8F0"/>
                  </a:solidFill>
                  <a:latin typeface="Outfit"/>
                  <a:ea typeface="Outfit"/>
                  <a:cs typeface="Outfit"/>
                  <a:sym typeface="Outfit"/>
                </a:rPr>
                <a:t>) and real-time WebSocket rooms.</a:t>
              </a:r>
              <a:endParaRPr b="0" sz="1050">
                <a:solidFill>
                  <a:srgbClr val="E2E8F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52" name="Google Shape;252;p17"/>
          <p:cNvSpPr/>
          <p:nvPr/>
        </p:nvSpPr>
        <p:spPr>
          <a:xfrm>
            <a:off x="4524375" y="2705100"/>
            <a:ext cx="95400" cy="5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60000" y="120000"/>
                </a:lnTo>
                <a:close/>
              </a:path>
            </a:pathLst>
          </a:custGeom>
          <a:solidFill>
            <a:srgbClr val="9D6CFF">
              <a:alpha val="8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3" name="Google Shape;253;p17"/>
          <p:cNvGrpSpPr/>
          <p:nvPr/>
        </p:nvGrpSpPr>
        <p:grpSpPr>
          <a:xfrm>
            <a:off x="381000" y="2800350"/>
            <a:ext cx="8382000" cy="781200"/>
            <a:chOff x="0" y="0"/>
            <a:chExt cx="8382000" cy="781200"/>
          </a:xfrm>
        </p:grpSpPr>
        <p:sp>
          <p:nvSpPr>
            <p:cNvPr id="254" name="Google Shape;254;p17"/>
            <p:cNvSpPr/>
            <p:nvPr/>
          </p:nvSpPr>
          <p:spPr>
            <a:xfrm>
              <a:off x="0" y="0"/>
              <a:ext cx="8382000" cy="781200"/>
            </a:xfrm>
            <a:prstGeom prst="roundRect">
              <a:avLst>
                <a:gd fmla="val 7317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7"/>
            <p:cNvSpPr/>
            <p:nvPr/>
          </p:nvSpPr>
          <p:spPr>
            <a:xfrm>
              <a:off x="0" y="0"/>
              <a:ext cx="47700" cy="781200"/>
            </a:xfrm>
            <a:prstGeom prst="roundRect">
              <a:avLst>
                <a:gd fmla="val 40000" name="adj"/>
              </a:avLst>
            </a:prstGeom>
            <a:solidFill>
              <a:srgbClr val="74E7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7"/>
            <p:cNvSpPr txBox="1"/>
            <p:nvPr/>
          </p:nvSpPr>
          <p:spPr>
            <a:xfrm>
              <a:off x="171450" y="95250"/>
              <a:ext cx="20955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74E7A8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LAYER 03 // DATA</a:t>
              </a:r>
              <a:endParaRPr b="0" sz="900">
                <a:solidFill>
                  <a:srgbClr val="74E7A8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FFFFF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Persistence Layer</a:t>
              </a:r>
              <a:endParaRPr b="0" sz="13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Structured CRUD Repository</a:t>
              </a:r>
              <a:endParaRPr b="0" sz="100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sp>
          <p:nvSpPr>
            <p:cNvPr id="257" name="Google Shape;257;p17"/>
            <p:cNvSpPr txBox="1"/>
            <p:nvPr/>
          </p:nvSpPr>
          <p:spPr>
            <a:xfrm>
              <a:off x="2333625" y="95250"/>
              <a:ext cx="58578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night-hours.json</a:t>
              </a:r>
              <a:r>
                <a:rPr b="0" lang="en" sz="1050">
                  <a:solidFill>
                    <a:srgbClr val="E2E8F0"/>
                  </a:solidFill>
                  <a:latin typeface="Outfit"/>
                  <a:ea typeface="Outfit"/>
                  <a:cs typeface="Outfit"/>
                  <a:sym typeface="Outfit"/>
                </a:rPr>
                <a:t> &amp; </a:t>
              </a:r>
              <a:r>
                <a:rPr b="0" lang="en" sz="100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database.js</a:t>
              </a:r>
              <a:r>
                <a:rPr b="0" lang="en" sz="1050">
                  <a:solidFill>
                    <a:srgbClr val="E2E8F0"/>
                  </a:solidFill>
                  <a:latin typeface="Outfit"/>
                  <a:ea typeface="Outfit"/>
                  <a:cs typeface="Outfit"/>
                  <a:sym typeface="Outfit"/>
                </a:rPr>
                <a:t> structured CRUD repository handling users, </a:t>
              </a:r>
              <a:r>
                <a:rPr b="0" lang="en" sz="100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rPr>
                <a:t>gameStats</a:t>
              </a:r>
              <a:r>
                <a:rPr b="0" lang="en" sz="1050">
                  <a:solidFill>
                    <a:srgbClr val="E2E8F0"/>
                  </a:solidFill>
                  <a:latin typeface="Outfit"/>
                  <a:ea typeface="Outfit"/>
                  <a:cs typeface="Outfit"/>
                  <a:sym typeface="Outfit"/>
                </a:rPr>
                <a:t>, badges, and </a:t>
              </a:r>
              <a:r>
                <a:rPr b="0" lang="en" sz="100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rPr>
                <a:t>sessionRequests</a:t>
              </a:r>
              <a:r>
                <a:rPr b="0" lang="en" sz="1050">
                  <a:solidFill>
                    <a:srgbClr val="E2E8F0"/>
                  </a:solidFill>
                  <a:latin typeface="Outfit"/>
                  <a:ea typeface="Outfit"/>
                  <a:cs typeface="Outfit"/>
                  <a:sym typeface="Outfit"/>
                </a:rPr>
                <a:t> synced with client </a:t>
              </a:r>
              <a:r>
                <a:rPr b="0" lang="en" sz="1000">
                  <a:solidFill>
                    <a:srgbClr val="F3C96D"/>
                  </a:solidFill>
                  <a:latin typeface="DM Mono"/>
                  <a:ea typeface="DM Mono"/>
                  <a:cs typeface="DM Mono"/>
                  <a:sym typeface="DM Mono"/>
                </a:rPr>
                <a:t>localStorage</a:t>
              </a:r>
              <a:r>
                <a:rPr b="0" lang="en" sz="1050">
                  <a:solidFill>
                    <a:srgbClr val="E2E8F0"/>
                  </a:solidFill>
                  <a:latin typeface="Outfit"/>
                  <a:ea typeface="Outfit"/>
                  <a:cs typeface="Outfit"/>
                  <a:sym typeface="Outfit"/>
                </a:rPr>
                <a:t>.</a:t>
              </a:r>
              <a:endParaRPr b="0" sz="1050">
                <a:solidFill>
                  <a:srgbClr val="E2E8F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58" name="Google Shape;258;p17"/>
          <p:cNvSpPr/>
          <p:nvPr/>
        </p:nvSpPr>
        <p:spPr>
          <a:xfrm>
            <a:off x="4524375" y="3581400"/>
            <a:ext cx="95400" cy="5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60000" y="120000"/>
                </a:lnTo>
                <a:close/>
              </a:path>
            </a:pathLst>
          </a:custGeom>
          <a:solidFill>
            <a:srgbClr val="74E7A8">
              <a:alpha val="8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9" name="Google Shape;259;p17"/>
          <p:cNvGrpSpPr/>
          <p:nvPr/>
        </p:nvGrpSpPr>
        <p:grpSpPr>
          <a:xfrm>
            <a:off x="381000" y="3676650"/>
            <a:ext cx="8382000" cy="781200"/>
            <a:chOff x="0" y="0"/>
            <a:chExt cx="8382000" cy="781200"/>
          </a:xfrm>
        </p:grpSpPr>
        <p:sp>
          <p:nvSpPr>
            <p:cNvPr id="260" name="Google Shape;260;p17"/>
            <p:cNvSpPr/>
            <p:nvPr/>
          </p:nvSpPr>
          <p:spPr>
            <a:xfrm>
              <a:off x="0" y="0"/>
              <a:ext cx="8382000" cy="781200"/>
            </a:xfrm>
            <a:prstGeom prst="roundRect">
              <a:avLst>
                <a:gd fmla="val 7317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7"/>
            <p:cNvSpPr/>
            <p:nvPr/>
          </p:nvSpPr>
          <p:spPr>
            <a:xfrm>
              <a:off x="0" y="0"/>
              <a:ext cx="47700" cy="781200"/>
            </a:xfrm>
            <a:prstGeom prst="roundRect">
              <a:avLst>
                <a:gd fmla="val 40000" name="adj"/>
              </a:avLst>
            </a:prstGeom>
            <a:solidFill>
              <a:srgbClr val="F3C96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7"/>
            <p:cNvSpPr txBox="1"/>
            <p:nvPr/>
          </p:nvSpPr>
          <p:spPr>
            <a:xfrm>
              <a:off x="171450" y="95250"/>
              <a:ext cx="20955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F3C96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LAYER 04 // INFRASTRUCTURE</a:t>
              </a:r>
              <a:endParaRPr b="0" sz="900">
                <a:solidFill>
                  <a:srgbClr val="F3C96D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FFFFF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Virtualization &amp; Container</a:t>
              </a:r>
              <a:endParaRPr b="0" sz="13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3C96D"/>
                  </a:solidFill>
                  <a:latin typeface="DM Mono"/>
                  <a:ea typeface="DM Mono"/>
                  <a:cs typeface="DM Mono"/>
                  <a:sym typeface="DM Mono"/>
                </a:rPr>
                <a:t>Host &amp; VM Runtime</a:t>
              </a:r>
              <a:endParaRPr b="0" sz="1000">
                <a:solidFill>
                  <a:srgbClr val="F3C96D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sp>
          <p:nvSpPr>
            <p:cNvPr id="263" name="Google Shape;263;p17"/>
            <p:cNvSpPr txBox="1"/>
            <p:nvPr/>
          </p:nvSpPr>
          <p:spPr>
            <a:xfrm>
              <a:off x="2333625" y="95250"/>
              <a:ext cx="58578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E2E8F0"/>
                  </a:solidFill>
                  <a:latin typeface="Outfit"/>
                  <a:ea typeface="Outfit"/>
                  <a:cs typeface="Outfit"/>
                  <a:sym typeface="Outfit"/>
                </a:rPr>
                <a:t>Standalone </a:t>
              </a:r>
              <a:r>
                <a:rPr b="0" lang="en" sz="1000">
                  <a:solidFill>
                    <a:srgbClr val="F3C96D"/>
                  </a:solidFill>
                  <a:latin typeface="DM Mono"/>
                  <a:ea typeface="DM Mono"/>
                  <a:cs typeface="DM Mono"/>
                  <a:sym typeface="DM Mono"/>
                </a:rPr>
                <a:t>vm-host-agent.js</a:t>
              </a:r>
              <a:r>
                <a:rPr b="0" lang="en" sz="1050">
                  <a:solidFill>
                    <a:srgbClr val="E2E8F0"/>
                  </a:solidFill>
                  <a:latin typeface="Outfit"/>
                  <a:ea typeface="Outfit"/>
                  <a:cs typeface="Outfit"/>
                  <a:sym typeface="Outfit"/>
                </a:rPr>
                <a:t>, macOS BlueStacks </a:t>
              </a:r>
              <a:r>
                <a:rPr b="0" lang="en" sz="1000">
                  <a:solidFill>
                    <a:srgbClr val="F3C96D"/>
                  </a:solidFill>
                  <a:latin typeface="DM Mono"/>
                  <a:ea typeface="DM Mono"/>
                  <a:cs typeface="DM Mono"/>
                  <a:sym typeface="DM Mono"/>
                </a:rPr>
                <a:t>/Applications/BlueStacks.app</a:t>
              </a:r>
              <a:r>
                <a:rPr b="0" lang="en" sz="1050">
                  <a:solidFill>
                    <a:srgbClr val="E2E8F0"/>
                  </a:solidFill>
                  <a:latin typeface="Outfit"/>
                  <a:ea typeface="Outfit"/>
                  <a:cs typeface="Outfit"/>
                  <a:sym typeface="Outfit"/>
                </a:rPr>
                <a:t> ADB bridge (</a:t>
              </a:r>
              <a:r>
                <a:rPr b="0" lang="en" sz="100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rPr>
                <a:t>hd-adb</a:t>
              </a:r>
              <a:r>
                <a:rPr b="0" lang="en" sz="1050">
                  <a:solidFill>
                    <a:srgbClr val="E2E8F0"/>
                  </a:solidFill>
                  <a:latin typeface="Outfit"/>
                  <a:ea typeface="Outfit"/>
                  <a:cs typeface="Outfit"/>
                  <a:sym typeface="Outfit"/>
                </a:rPr>
                <a:t>), and Docker Compose multiplayer cluster.</a:t>
              </a:r>
              <a:endParaRPr b="0" sz="1050">
                <a:solidFill>
                  <a:srgbClr val="E2E8F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64" name="Google Shape;264;p17"/>
          <p:cNvSpPr txBox="1"/>
          <p:nvPr/>
        </p:nvSpPr>
        <p:spPr>
          <a:xfrm>
            <a:off x="381000" y="4743450"/>
            <a:ext cx="3810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rPr>
              <a:t>NIGHT HOURS v2.0 ARCHITECTURE</a:t>
            </a:r>
            <a:endParaRPr b="0" sz="900">
              <a:solidFill>
                <a:srgbClr val="A0AEC0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65" name="Google Shape;265;p17"/>
          <p:cNvSpPr txBox="1"/>
          <p:nvPr/>
        </p:nvSpPr>
        <p:spPr>
          <a:xfrm>
            <a:off x="4953000" y="4743450"/>
            <a:ext cx="3810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rPr>
              <a:t>FULL-STACK SYSTEM PIPELINE</a:t>
            </a:r>
            <a:endParaRPr b="0" sz="900">
              <a:solidFill>
                <a:srgbClr val="A0AEC0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0132A">
                  <a:alpha val="80000"/>
                </a:srgbClr>
              </a:gs>
              <a:gs pos="100000">
                <a:srgbClr val="080B18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1" name="Google Shape;27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2" name="Google Shape;272;p18"/>
          <p:cNvGrpSpPr/>
          <p:nvPr/>
        </p:nvGrpSpPr>
        <p:grpSpPr>
          <a:xfrm>
            <a:off x="381000" y="238125"/>
            <a:ext cx="8382075" cy="762000"/>
            <a:chOff x="0" y="0"/>
            <a:chExt cx="8382075" cy="762000"/>
          </a:xfrm>
        </p:grpSpPr>
        <p:grpSp>
          <p:nvGrpSpPr>
            <p:cNvPr id="273" name="Google Shape;273;p18"/>
            <p:cNvGrpSpPr/>
            <p:nvPr/>
          </p:nvGrpSpPr>
          <p:grpSpPr>
            <a:xfrm>
              <a:off x="0" y="0"/>
              <a:ext cx="381000" cy="381000"/>
              <a:chOff x="0" y="0"/>
              <a:chExt cx="381000" cy="381000"/>
            </a:xfrm>
          </p:grpSpPr>
          <p:sp>
            <p:nvSpPr>
              <p:cNvPr id="274" name="Google Shape;274;p18"/>
              <p:cNvSpPr/>
              <p:nvPr/>
            </p:nvSpPr>
            <p:spPr>
              <a:xfrm>
                <a:off x="0" y="0"/>
                <a:ext cx="381000" cy="3810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lnTo>
                      <a:pt x="120000" y="30000"/>
                    </a:lnTo>
                    <a:lnTo>
                      <a:pt x="120000" y="90000"/>
                    </a:lnTo>
                    <a:lnTo>
                      <a:pt x="60000" y="120000"/>
                    </a:lnTo>
                    <a:lnTo>
                      <a:pt x="0" y="90000"/>
                    </a:lnTo>
                    <a:lnTo>
                      <a:pt x="0" y="300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9D6C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18"/>
              <p:cNvSpPr/>
              <p:nvPr/>
            </p:nvSpPr>
            <p:spPr>
              <a:xfrm>
                <a:off x="38100" y="38100"/>
                <a:ext cx="304800" cy="3048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lnTo>
                      <a:pt x="120000" y="30000"/>
                    </a:lnTo>
                    <a:lnTo>
                      <a:pt x="120000" y="90000"/>
                    </a:lnTo>
                    <a:lnTo>
                      <a:pt x="60000" y="120000"/>
                    </a:lnTo>
                    <a:lnTo>
                      <a:pt x="0" y="90000"/>
                    </a:lnTo>
                    <a:lnTo>
                      <a:pt x="0" y="30000"/>
                    </a:lnTo>
                    <a:close/>
                  </a:path>
                </a:pathLst>
              </a:custGeom>
              <a:solidFill>
                <a:srgbClr val="10132A"/>
              </a:solidFill>
              <a:ln cap="flat" cmpd="sng" w="9525">
                <a:solidFill>
                  <a:srgbClr val="87E5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18"/>
              <p:cNvSpPr/>
              <p:nvPr/>
            </p:nvSpPr>
            <p:spPr>
              <a:xfrm>
                <a:off x="114300" y="142875"/>
                <a:ext cx="152400" cy="95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120000"/>
                    </a:lnTo>
                    <a:moveTo>
                      <a:pt x="0" y="0"/>
                    </a:moveTo>
                    <a:lnTo>
                      <a:pt x="60000" y="120000"/>
                    </a:lnTo>
                    <a:moveTo>
                      <a:pt x="60000" y="0"/>
                    </a:moveTo>
                    <a:lnTo>
                      <a:pt x="60000" y="120000"/>
                    </a:lnTo>
                    <a:moveTo>
                      <a:pt x="120000" y="0"/>
                    </a:moveTo>
                    <a:lnTo>
                      <a:pt x="120000" y="120000"/>
                    </a:lnTo>
                    <a:moveTo>
                      <a:pt x="82500" y="60000"/>
                    </a:moveTo>
                    <a:lnTo>
                      <a:pt x="120000" y="6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7" name="Google Shape;277;p18"/>
            <p:cNvGrpSpPr/>
            <p:nvPr/>
          </p:nvGrpSpPr>
          <p:grpSpPr>
            <a:xfrm>
              <a:off x="523875" y="0"/>
              <a:ext cx="7858200" cy="762000"/>
              <a:chOff x="0" y="0"/>
              <a:chExt cx="7858200" cy="762000"/>
            </a:xfrm>
          </p:grpSpPr>
          <p:grpSp>
            <p:nvGrpSpPr>
              <p:cNvPr id="278" name="Google Shape;278;p18"/>
              <p:cNvGrpSpPr/>
              <p:nvPr/>
            </p:nvGrpSpPr>
            <p:grpSpPr>
              <a:xfrm>
                <a:off x="0" y="390525"/>
                <a:ext cx="981225" cy="133500"/>
                <a:chOff x="0" y="-9525"/>
                <a:chExt cx="981225" cy="133500"/>
              </a:xfrm>
            </p:grpSpPr>
            <p:pic>
              <p:nvPicPr>
                <p:cNvPr id="279" name="Google Shape;279;p1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0" y="-9525"/>
                  <a:ext cx="952500" cy="1143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80" name="Google Shape;280;p18"/>
                <p:cNvSpPr/>
                <p:nvPr/>
              </p:nvSpPr>
              <p:spPr>
                <a:xfrm>
                  <a:off x="923925" y="66675"/>
                  <a:ext cx="57300" cy="57300"/>
                </a:xfrm>
                <a:prstGeom prst="ellipse">
                  <a:avLst/>
                </a:prstGeom>
                <a:solidFill>
                  <a:srgbClr val="87E5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1" name="Google Shape;281;p18"/>
                <p:cNvSpPr/>
                <p:nvPr/>
              </p:nvSpPr>
              <p:spPr>
                <a:xfrm>
                  <a:off x="476250" y="57150"/>
                  <a:ext cx="142800" cy="19200"/>
                </a:xfrm>
                <a:prstGeom prst="rect">
                  <a:avLst/>
                </a:prstGeom>
                <a:solidFill>
                  <a:srgbClr val="74E7A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82" name="Google Shape;282;p18"/>
              <p:cNvSpPr txBox="1"/>
              <p:nvPr/>
            </p:nvSpPr>
            <p:spPr>
              <a:xfrm>
                <a:off x="0" y="0"/>
                <a:ext cx="78582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700">
                    <a:solidFill>
                      <a:srgbClr val="FFFFFF"/>
                    </a:solidFill>
                    <a:latin typeface="Outfit"/>
                    <a:ea typeface="Outfit"/>
                    <a:cs typeface="Outfit"/>
                    <a:sym typeface="Outfit"/>
                  </a:rPr>
                  <a:t>NEW IN V2.0: BACKEND REST API, JWT AUTHENTICATION &amp; USER MANAGEMENT</a:t>
                </a:r>
                <a:endParaRPr b="1" sz="170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020">
                    <a:solidFill>
                      <a:srgbClr val="87E5FF"/>
                    </a:solidFill>
                    <a:latin typeface="Outfit Medium"/>
                    <a:ea typeface="Outfit Medium"/>
                    <a:cs typeface="Outfit Medium"/>
                    <a:sym typeface="Outfit Medium"/>
                  </a:rPr>
                  <a:t>Implementation Details (</a:t>
                </a:r>
                <a:r>
                  <a:rPr b="0" lang="en" sz="893">
                    <a:solidFill>
                      <a:srgbClr val="74E7A8"/>
                    </a:solidFill>
                    <a:latin typeface="DM Mono"/>
                    <a:ea typeface="DM Mono"/>
                    <a:cs typeface="DM Mono"/>
                    <a:sym typeface="DM Mono"/>
                  </a:rPr>
                  <a:t>backend/src/routes/auth.js</a:t>
                </a:r>
                <a:r>
                  <a:rPr b="0" lang="en" sz="1020">
                    <a:solidFill>
                      <a:srgbClr val="87E5FF"/>
                    </a:solidFill>
                    <a:latin typeface="Outfit Medium"/>
                    <a:ea typeface="Outfit Medium"/>
                    <a:cs typeface="Outfit Medium"/>
                    <a:sym typeface="Outfit Medium"/>
                  </a:rPr>
                  <a:t> and </a:t>
                </a:r>
                <a:r>
                  <a:rPr b="0" lang="en" sz="893">
                    <a:solidFill>
                      <a:srgbClr val="74E7A8"/>
                    </a:solidFill>
                    <a:latin typeface="DM Mono"/>
                    <a:ea typeface="DM Mono"/>
                    <a:cs typeface="DM Mono"/>
                    <a:sym typeface="DM Mono"/>
                  </a:rPr>
                  <a:t>middleware/auth.js</a:t>
                </a:r>
                <a:r>
                  <a:rPr b="0" lang="en" sz="1020">
                    <a:solidFill>
                      <a:srgbClr val="87E5FF"/>
                    </a:solidFill>
                    <a:latin typeface="Outfit Medium"/>
                    <a:ea typeface="Outfit Medium"/>
                    <a:cs typeface="Outfit Medium"/>
                    <a:sym typeface="Outfit Medium"/>
                  </a:rPr>
                  <a:t>):</a:t>
                </a:r>
                <a:endParaRPr b="0" sz="1020">
                  <a:solidFill>
                    <a:srgbClr val="87E5FF"/>
                  </a:solidFill>
                  <a:latin typeface="Outfit Medium"/>
                  <a:ea typeface="Outfit Medium"/>
                  <a:cs typeface="Outfit Medium"/>
                  <a:sym typeface="Outfit Medium"/>
                </a:endParaRPr>
              </a:p>
            </p:txBody>
          </p:sp>
        </p:grpSp>
      </p:grpSp>
      <p:sp>
        <p:nvSpPr>
          <p:cNvPr id="283" name="Google Shape;283;p18"/>
          <p:cNvSpPr/>
          <p:nvPr/>
        </p:nvSpPr>
        <p:spPr>
          <a:xfrm>
            <a:off x="381000" y="1066800"/>
            <a:ext cx="8382000" cy="19200"/>
          </a:xfrm>
          <a:prstGeom prst="rect">
            <a:avLst/>
          </a:prstGeom>
          <a:gradFill>
            <a:gsLst>
              <a:gs pos="0">
                <a:srgbClr val="87E5FF"/>
              </a:gs>
              <a:gs pos="50000">
                <a:srgbClr val="9D6CFF"/>
              </a:gs>
              <a:gs pos="100000">
                <a:srgbClr val="080B18"/>
              </a:gs>
            </a:gsLst>
            <a:lin ang="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4" name="Google Shape;284;p18"/>
          <p:cNvGrpSpPr/>
          <p:nvPr/>
        </p:nvGrpSpPr>
        <p:grpSpPr>
          <a:xfrm>
            <a:off x="371475" y="1219200"/>
            <a:ext cx="4067250" cy="3171900"/>
            <a:chOff x="-9525" y="0"/>
            <a:chExt cx="4067250" cy="3171900"/>
          </a:xfrm>
        </p:grpSpPr>
        <p:sp>
          <p:nvSpPr>
            <p:cNvPr id="285" name="Google Shape;285;p18"/>
            <p:cNvSpPr txBox="1"/>
            <p:nvPr/>
          </p:nvSpPr>
          <p:spPr>
            <a:xfrm>
              <a:off x="0" y="0"/>
              <a:ext cx="4048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87E5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CORE REST API ENDPOINTS</a:t>
              </a:r>
              <a:endParaRPr b="0" sz="950">
                <a:solidFill>
                  <a:srgbClr val="87E5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grpSp>
          <p:nvGrpSpPr>
            <p:cNvPr id="286" name="Google Shape;286;p18"/>
            <p:cNvGrpSpPr/>
            <p:nvPr/>
          </p:nvGrpSpPr>
          <p:grpSpPr>
            <a:xfrm>
              <a:off x="-9525" y="266700"/>
              <a:ext cx="4067250" cy="933600"/>
              <a:chOff x="-9525" y="0"/>
              <a:chExt cx="4067250" cy="933600"/>
            </a:xfrm>
          </p:grpSpPr>
          <p:sp>
            <p:nvSpPr>
              <p:cNvPr id="287" name="Google Shape;287;p18"/>
              <p:cNvSpPr/>
              <p:nvPr/>
            </p:nvSpPr>
            <p:spPr>
              <a:xfrm>
                <a:off x="0" y="0"/>
                <a:ext cx="4048200" cy="933600"/>
              </a:xfrm>
              <a:prstGeom prst="roundRect">
                <a:avLst>
                  <a:gd fmla="val 6122" name="adj"/>
                </a:avLst>
              </a:prstGeom>
              <a:solidFill>
                <a:srgbClr val="10132A"/>
              </a:solidFill>
              <a:ln cap="flat" cmpd="sng" w="9525">
                <a:solidFill>
                  <a:srgbClr val="2A305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18"/>
              <p:cNvSpPr/>
              <p:nvPr/>
            </p:nvSpPr>
            <p:spPr>
              <a:xfrm>
                <a:off x="0" y="0"/>
                <a:ext cx="4048200" cy="28500"/>
              </a:xfrm>
              <a:prstGeom prst="roundRect">
                <a:avLst>
                  <a:gd fmla="val 50000" name="adj"/>
                </a:avLst>
              </a:prstGeom>
              <a:solidFill>
                <a:srgbClr val="74E7A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89" name="Google Shape;289;p18"/>
              <p:cNvGrpSpPr/>
              <p:nvPr/>
            </p:nvGrpSpPr>
            <p:grpSpPr>
              <a:xfrm>
                <a:off x="-9525" y="28575"/>
                <a:ext cx="4067250" cy="876375"/>
                <a:chOff x="-9525" y="-9525"/>
                <a:chExt cx="4067250" cy="876375"/>
              </a:xfrm>
            </p:grpSpPr>
            <p:pic>
              <p:nvPicPr>
                <p:cNvPr id="290" name="Google Shape;290;p18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-9525" y="-9525"/>
                  <a:ext cx="85800" cy="858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91" name="Google Shape;291;p18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0" t="0"/>
                <a:stretch/>
              </p:blipFill>
              <p:spPr>
                <a:xfrm>
                  <a:off x="3971925" y="-9525"/>
                  <a:ext cx="85800" cy="858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92" name="Google Shape;292;p18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0" l="0" r="0" t="0"/>
                <a:stretch/>
              </p:blipFill>
              <p:spPr>
                <a:xfrm>
                  <a:off x="-9525" y="781050"/>
                  <a:ext cx="85800" cy="858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93" name="Google Shape;293;p18"/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 b="0" l="0" r="0" t="0"/>
                <a:stretch/>
              </p:blipFill>
              <p:spPr>
                <a:xfrm>
                  <a:off x="3971925" y="781050"/>
                  <a:ext cx="85800" cy="858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294" name="Google Shape;294;p18"/>
              <p:cNvSpPr txBox="1"/>
              <p:nvPr/>
            </p:nvSpPr>
            <p:spPr>
              <a:xfrm>
                <a:off x="152400" y="114300"/>
                <a:ext cx="3743400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74E7A8"/>
                    </a:solidFill>
                    <a:latin typeface="DM Mono"/>
                    <a:ea typeface="DM Mono"/>
                    <a:cs typeface="DM Mono"/>
                    <a:sym typeface="DM Mono"/>
                  </a:rPr>
                  <a:t>POST /api/auth/register</a:t>
                </a:r>
                <a:endParaRPr b="0" sz="110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A0AEC0"/>
                    </a:solidFill>
                    <a:latin typeface="Outfit"/>
                    <a:ea typeface="Outfit"/>
                    <a:cs typeface="Outfit"/>
                    <a:sym typeface="Outfit"/>
                  </a:rPr>
                  <a:t>Validates email/password (min 6 chars), hashes password via bcryptjs (10 salt rounds), assigns random cosmic emoji avatar, issues 7-day JWT.</a:t>
                </a:r>
                <a:endParaRPr b="0" sz="10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grpSp>
          <p:nvGrpSpPr>
            <p:cNvPr id="295" name="Google Shape;295;p18"/>
            <p:cNvGrpSpPr/>
            <p:nvPr/>
          </p:nvGrpSpPr>
          <p:grpSpPr>
            <a:xfrm>
              <a:off x="-9525" y="1323975"/>
              <a:ext cx="4067250" cy="876375"/>
              <a:chOff x="-9525" y="-9525"/>
              <a:chExt cx="4067250" cy="876375"/>
            </a:xfrm>
          </p:grpSpPr>
          <p:sp>
            <p:nvSpPr>
              <p:cNvPr id="296" name="Google Shape;296;p18"/>
              <p:cNvSpPr/>
              <p:nvPr/>
            </p:nvSpPr>
            <p:spPr>
              <a:xfrm>
                <a:off x="0" y="0"/>
                <a:ext cx="4048200" cy="838200"/>
              </a:xfrm>
              <a:prstGeom prst="roundRect">
                <a:avLst>
                  <a:gd fmla="val 6818" name="adj"/>
                </a:avLst>
              </a:prstGeom>
              <a:solidFill>
                <a:srgbClr val="10132A"/>
              </a:solidFill>
              <a:ln cap="flat" cmpd="sng" w="9525">
                <a:solidFill>
                  <a:srgbClr val="2A305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18"/>
              <p:cNvSpPr/>
              <p:nvPr/>
            </p:nvSpPr>
            <p:spPr>
              <a:xfrm>
                <a:off x="0" y="0"/>
                <a:ext cx="4048200" cy="28500"/>
              </a:xfrm>
              <a:prstGeom prst="roundRect">
                <a:avLst>
                  <a:gd fmla="val 50000" name="adj"/>
                </a:avLst>
              </a:prstGeom>
              <a:solidFill>
                <a:srgbClr val="74E7A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98" name="Google Shape;298;p18"/>
              <p:cNvGrpSpPr/>
              <p:nvPr/>
            </p:nvGrpSpPr>
            <p:grpSpPr>
              <a:xfrm>
                <a:off x="-9525" y="-9525"/>
                <a:ext cx="4067250" cy="876375"/>
                <a:chOff x="-9525" y="-9525"/>
                <a:chExt cx="4067250" cy="876375"/>
              </a:xfrm>
            </p:grpSpPr>
            <p:pic>
              <p:nvPicPr>
                <p:cNvPr id="299" name="Google Shape;299;p18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-9525" y="-9525"/>
                  <a:ext cx="85800" cy="858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00" name="Google Shape;300;p18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0" t="0"/>
                <a:stretch/>
              </p:blipFill>
              <p:spPr>
                <a:xfrm>
                  <a:off x="3971925" y="-9525"/>
                  <a:ext cx="85800" cy="858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01" name="Google Shape;301;p18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0" l="0" r="0" t="0"/>
                <a:stretch/>
              </p:blipFill>
              <p:spPr>
                <a:xfrm>
                  <a:off x="-9525" y="781050"/>
                  <a:ext cx="85800" cy="858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02" name="Google Shape;302;p18"/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 b="0" l="0" r="0" t="0"/>
                <a:stretch/>
              </p:blipFill>
              <p:spPr>
                <a:xfrm>
                  <a:off x="3971925" y="781050"/>
                  <a:ext cx="85800" cy="858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303" name="Google Shape;303;p18"/>
              <p:cNvSpPr txBox="1"/>
              <p:nvPr/>
            </p:nvSpPr>
            <p:spPr>
              <a:xfrm>
                <a:off x="152400" y="114300"/>
                <a:ext cx="3743400" cy="62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74E7A8"/>
                    </a:solidFill>
                    <a:latin typeface="DM Mono"/>
                    <a:ea typeface="DM Mono"/>
                    <a:cs typeface="DM Mono"/>
                    <a:sym typeface="DM Mono"/>
                  </a:rPr>
                  <a:t>POST /api/auth/login</a:t>
                </a:r>
                <a:endParaRPr b="0" sz="110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A0AEC0"/>
                    </a:solidFill>
                    <a:latin typeface="Outfit"/>
                    <a:ea typeface="Outfit"/>
                    <a:cs typeface="Outfit"/>
                    <a:sym typeface="Outfit"/>
                  </a:rPr>
                  <a:t>Authenticates credentials against night-hours.json, returns JWT + sanitized user profile.</a:t>
                </a:r>
                <a:endParaRPr b="0" sz="10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grpSp>
          <p:nvGrpSpPr>
            <p:cNvPr id="304" name="Google Shape;304;p18"/>
            <p:cNvGrpSpPr/>
            <p:nvPr/>
          </p:nvGrpSpPr>
          <p:grpSpPr>
            <a:xfrm>
              <a:off x="-9525" y="2295525"/>
              <a:ext cx="4067250" cy="876375"/>
              <a:chOff x="-9525" y="-9525"/>
              <a:chExt cx="4067250" cy="876375"/>
            </a:xfrm>
          </p:grpSpPr>
          <p:sp>
            <p:nvSpPr>
              <p:cNvPr id="305" name="Google Shape;305;p18"/>
              <p:cNvSpPr/>
              <p:nvPr/>
            </p:nvSpPr>
            <p:spPr>
              <a:xfrm>
                <a:off x="0" y="0"/>
                <a:ext cx="4048200" cy="838200"/>
              </a:xfrm>
              <a:prstGeom prst="roundRect">
                <a:avLst>
                  <a:gd fmla="val 6818" name="adj"/>
                </a:avLst>
              </a:prstGeom>
              <a:solidFill>
                <a:srgbClr val="10132A"/>
              </a:solidFill>
              <a:ln cap="flat" cmpd="sng" w="9525">
                <a:solidFill>
                  <a:srgbClr val="2A305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18"/>
              <p:cNvSpPr/>
              <p:nvPr/>
            </p:nvSpPr>
            <p:spPr>
              <a:xfrm>
                <a:off x="0" y="0"/>
                <a:ext cx="4048200" cy="28500"/>
              </a:xfrm>
              <a:prstGeom prst="roundRect">
                <a:avLst>
                  <a:gd fmla="val 50000" name="adj"/>
                </a:avLst>
              </a:prstGeom>
              <a:solidFill>
                <a:srgbClr val="74E7A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07" name="Google Shape;307;p18"/>
              <p:cNvGrpSpPr/>
              <p:nvPr/>
            </p:nvGrpSpPr>
            <p:grpSpPr>
              <a:xfrm>
                <a:off x="-9525" y="-9525"/>
                <a:ext cx="4067250" cy="876375"/>
                <a:chOff x="-9525" y="-9525"/>
                <a:chExt cx="4067250" cy="876375"/>
              </a:xfrm>
            </p:grpSpPr>
            <p:pic>
              <p:nvPicPr>
                <p:cNvPr id="308" name="Google Shape;308;p18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-9525" y="-9525"/>
                  <a:ext cx="85800" cy="858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09" name="Google Shape;309;p18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0" t="0"/>
                <a:stretch/>
              </p:blipFill>
              <p:spPr>
                <a:xfrm>
                  <a:off x="3971925" y="-9525"/>
                  <a:ext cx="85800" cy="858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10" name="Google Shape;310;p18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0" l="0" r="0" t="0"/>
                <a:stretch/>
              </p:blipFill>
              <p:spPr>
                <a:xfrm>
                  <a:off x="-9525" y="781050"/>
                  <a:ext cx="85800" cy="858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11" name="Google Shape;311;p18"/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 b="0" l="0" r="0" t="0"/>
                <a:stretch/>
              </p:blipFill>
              <p:spPr>
                <a:xfrm>
                  <a:off x="3971925" y="781050"/>
                  <a:ext cx="85800" cy="858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312" name="Google Shape;312;p18"/>
              <p:cNvSpPr txBox="1"/>
              <p:nvPr/>
            </p:nvSpPr>
            <p:spPr>
              <a:xfrm>
                <a:off x="152400" y="114300"/>
                <a:ext cx="3743400" cy="62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74E7A8"/>
                    </a:solidFill>
                    <a:latin typeface="DM Mono"/>
                    <a:ea typeface="DM Mono"/>
                    <a:cs typeface="DM Mono"/>
                    <a:sym typeface="DM Mono"/>
                  </a:rPr>
                  <a:t>GET /api/auth/me &amp; PUT /api/auth/profile</a:t>
                </a:r>
                <a:endParaRPr b="0" sz="110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A0AEC0"/>
                    </a:solidFill>
                    <a:latin typeface="Outfit"/>
                    <a:ea typeface="Outfit"/>
                    <a:cs typeface="Outfit"/>
                    <a:sym typeface="Outfit"/>
                  </a:rPr>
                  <a:t>Token-verified profile retrieval and live display name and avatar updates.</a:t>
                </a:r>
                <a:endParaRPr b="0" sz="10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</p:grpSp>
      <p:grpSp>
        <p:nvGrpSpPr>
          <p:cNvPr id="313" name="Google Shape;313;p18"/>
          <p:cNvGrpSpPr/>
          <p:nvPr/>
        </p:nvGrpSpPr>
        <p:grpSpPr>
          <a:xfrm>
            <a:off x="4705350" y="1219200"/>
            <a:ext cx="4067250" cy="3171900"/>
            <a:chOff x="-9525" y="0"/>
            <a:chExt cx="4067250" cy="3171900"/>
          </a:xfrm>
        </p:grpSpPr>
        <p:sp>
          <p:nvSpPr>
            <p:cNvPr id="314" name="Google Shape;314;p18"/>
            <p:cNvSpPr txBox="1"/>
            <p:nvPr/>
          </p:nvSpPr>
          <p:spPr>
            <a:xfrm>
              <a:off x="0" y="0"/>
              <a:ext cx="4048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9D6C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FRONTEND AUTH INTEGRATION</a:t>
              </a:r>
              <a:endParaRPr b="0" sz="950">
                <a:solidFill>
                  <a:srgbClr val="9D6C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grpSp>
          <p:nvGrpSpPr>
            <p:cNvPr id="315" name="Google Shape;315;p18"/>
            <p:cNvGrpSpPr/>
            <p:nvPr/>
          </p:nvGrpSpPr>
          <p:grpSpPr>
            <a:xfrm>
              <a:off x="-9525" y="266700"/>
              <a:ext cx="4067250" cy="933600"/>
              <a:chOff x="-9525" y="0"/>
              <a:chExt cx="4067250" cy="933600"/>
            </a:xfrm>
          </p:grpSpPr>
          <p:sp>
            <p:nvSpPr>
              <p:cNvPr id="316" name="Google Shape;316;p18"/>
              <p:cNvSpPr/>
              <p:nvPr/>
            </p:nvSpPr>
            <p:spPr>
              <a:xfrm>
                <a:off x="0" y="0"/>
                <a:ext cx="4048200" cy="933600"/>
              </a:xfrm>
              <a:prstGeom prst="roundRect">
                <a:avLst>
                  <a:gd fmla="val 6122" name="adj"/>
                </a:avLst>
              </a:prstGeom>
              <a:solidFill>
                <a:srgbClr val="10132A"/>
              </a:solidFill>
              <a:ln cap="flat" cmpd="sng" w="9525">
                <a:solidFill>
                  <a:srgbClr val="2A305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" name="Google Shape;317;p18"/>
              <p:cNvSpPr/>
              <p:nvPr/>
            </p:nvSpPr>
            <p:spPr>
              <a:xfrm>
                <a:off x="0" y="0"/>
                <a:ext cx="4048200" cy="28500"/>
              </a:xfrm>
              <a:prstGeom prst="roundRect">
                <a:avLst>
                  <a:gd fmla="val 50000" name="adj"/>
                </a:avLst>
              </a:prstGeom>
              <a:solidFill>
                <a:srgbClr val="9D6C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18" name="Google Shape;318;p18"/>
              <p:cNvGrpSpPr/>
              <p:nvPr/>
            </p:nvGrpSpPr>
            <p:grpSpPr>
              <a:xfrm>
                <a:off x="-9525" y="28575"/>
                <a:ext cx="4067250" cy="876375"/>
                <a:chOff x="-9525" y="-9525"/>
                <a:chExt cx="4067250" cy="876375"/>
              </a:xfrm>
            </p:grpSpPr>
            <p:pic>
              <p:nvPicPr>
                <p:cNvPr id="319" name="Google Shape;319;p18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-9525" y="-9525"/>
                  <a:ext cx="85800" cy="858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20" name="Google Shape;320;p18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0" t="0"/>
                <a:stretch/>
              </p:blipFill>
              <p:spPr>
                <a:xfrm>
                  <a:off x="3971925" y="-9525"/>
                  <a:ext cx="85800" cy="858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21" name="Google Shape;321;p18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0" l="0" r="0" t="0"/>
                <a:stretch/>
              </p:blipFill>
              <p:spPr>
                <a:xfrm>
                  <a:off x="-9525" y="781050"/>
                  <a:ext cx="85800" cy="858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22" name="Google Shape;322;p18"/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 b="0" l="0" r="0" t="0"/>
                <a:stretch/>
              </p:blipFill>
              <p:spPr>
                <a:xfrm>
                  <a:off x="3971925" y="781050"/>
                  <a:ext cx="85800" cy="858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323" name="Google Shape;323;p18"/>
              <p:cNvSpPr txBox="1"/>
              <p:nvPr/>
            </p:nvSpPr>
            <p:spPr>
              <a:xfrm>
                <a:off x="152400" y="114300"/>
                <a:ext cx="3743400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9D6CFF"/>
                    </a:solidFill>
                    <a:latin typeface="DM Mono"/>
                    <a:ea typeface="DM Mono"/>
                    <a:cs typeface="DM Mono"/>
                    <a:sym typeface="DM Mono"/>
                  </a:rPr>
                  <a:t>LoginPage.jsx (/login)</a:t>
                </a:r>
                <a:endParaRPr b="0" sz="1100">
                  <a:solidFill>
                    <a:srgbClr val="9D6CFF"/>
                  </a:solidFill>
                  <a:latin typeface="DM Mono"/>
                  <a:ea typeface="DM Mono"/>
                  <a:cs typeface="DM Mono"/>
                  <a:sym typeface="DM Mono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A0AEC0"/>
                    </a:solidFill>
                    <a:latin typeface="Outfit"/>
                    <a:ea typeface="Outfit"/>
                    <a:cs typeface="Outfit"/>
                    <a:sym typeface="Outfit"/>
                  </a:rPr>
                  <a:t>Offers Sign In, Sign Up, and "Continue as Guest (Demo Mode)".</a:t>
                </a:r>
                <a:endParaRPr b="0" sz="10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grpSp>
          <p:nvGrpSpPr>
            <p:cNvPr id="324" name="Google Shape;324;p18"/>
            <p:cNvGrpSpPr/>
            <p:nvPr/>
          </p:nvGrpSpPr>
          <p:grpSpPr>
            <a:xfrm>
              <a:off x="-9525" y="1323975"/>
              <a:ext cx="4067250" cy="876375"/>
              <a:chOff x="-9525" y="-9525"/>
              <a:chExt cx="4067250" cy="876375"/>
            </a:xfrm>
          </p:grpSpPr>
          <p:sp>
            <p:nvSpPr>
              <p:cNvPr id="325" name="Google Shape;325;p18"/>
              <p:cNvSpPr/>
              <p:nvPr/>
            </p:nvSpPr>
            <p:spPr>
              <a:xfrm>
                <a:off x="0" y="0"/>
                <a:ext cx="4048200" cy="838200"/>
              </a:xfrm>
              <a:prstGeom prst="roundRect">
                <a:avLst>
                  <a:gd fmla="val 6818" name="adj"/>
                </a:avLst>
              </a:prstGeom>
              <a:solidFill>
                <a:srgbClr val="10132A"/>
              </a:solidFill>
              <a:ln cap="flat" cmpd="sng" w="9525">
                <a:solidFill>
                  <a:srgbClr val="2A305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" name="Google Shape;326;p18"/>
              <p:cNvSpPr/>
              <p:nvPr/>
            </p:nvSpPr>
            <p:spPr>
              <a:xfrm>
                <a:off x="0" y="0"/>
                <a:ext cx="4048200" cy="28500"/>
              </a:xfrm>
              <a:prstGeom prst="roundRect">
                <a:avLst>
                  <a:gd fmla="val 50000" name="adj"/>
                </a:avLst>
              </a:prstGeom>
              <a:solidFill>
                <a:srgbClr val="9D6C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27" name="Google Shape;327;p18"/>
              <p:cNvGrpSpPr/>
              <p:nvPr/>
            </p:nvGrpSpPr>
            <p:grpSpPr>
              <a:xfrm>
                <a:off x="-9525" y="-9525"/>
                <a:ext cx="4067250" cy="876375"/>
                <a:chOff x="-9525" y="-9525"/>
                <a:chExt cx="4067250" cy="876375"/>
              </a:xfrm>
            </p:grpSpPr>
            <p:pic>
              <p:nvPicPr>
                <p:cNvPr id="328" name="Google Shape;328;p18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-9525" y="-9525"/>
                  <a:ext cx="85800" cy="858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29" name="Google Shape;329;p18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0" t="0"/>
                <a:stretch/>
              </p:blipFill>
              <p:spPr>
                <a:xfrm>
                  <a:off x="3971925" y="-9525"/>
                  <a:ext cx="85800" cy="858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30" name="Google Shape;330;p18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0" l="0" r="0" t="0"/>
                <a:stretch/>
              </p:blipFill>
              <p:spPr>
                <a:xfrm>
                  <a:off x="-9525" y="781050"/>
                  <a:ext cx="85800" cy="858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31" name="Google Shape;331;p18"/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 b="0" l="0" r="0" t="0"/>
                <a:stretch/>
              </p:blipFill>
              <p:spPr>
                <a:xfrm>
                  <a:off x="3971925" y="781050"/>
                  <a:ext cx="85800" cy="858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332" name="Google Shape;332;p18"/>
              <p:cNvSpPr txBox="1"/>
              <p:nvPr/>
            </p:nvSpPr>
            <p:spPr>
              <a:xfrm>
                <a:off x="152400" y="114300"/>
                <a:ext cx="3743400" cy="62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9D6CFF"/>
                    </a:solidFill>
                    <a:latin typeface="DM Mono"/>
                    <a:ea typeface="DM Mono"/>
                    <a:cs typeface="DM Mono"/>
                    <a:sym typeface="DM Mono"/>
                  </a:rPr>
                  <a:t>ProtectedRoute.jsx</a:t>
                </a:r>
                <a:endParaRPr b="0" sz="1100">
                  <a:solidFill>
                    <a:srgbClr val="9D6CFF"/>
                  </a:solidFill>
                  <a:latin typeface="DM Mono"/>
                  <a:ea typeface="DM Mono"/>
                  <a:cs typeface="DM Mono"/>
                  <a:sym typeface="DM Mono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A0AEC0"/>
                    </a:solidFill>
                    <a:latin typeface="Outfit"/>
                    <a:ea typeface="Outfit"/>
                    <a:cs typeface="Outfit"/>
                    <a:sym typeface="Outfit"/>
                  </a:rPr>
                  <a:t>Guards /profile route and redirects authenticated users away from /login.</a:t>
                </a:r>
                <a:endParaRPr b="0" sz="10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grpSp>
          <p:nvGrpSpPr>
            <p:cNvPr id="333" name="Google Shape;333;p18"/>
            <p:cNvGrpSpPr/>
            <p:nvPr/>
          </p:nvGrpSpPr>
          <p:grpSpPr>
            <a:xfrm>
              <a:off x="-9525" y="2295525"/>
              <a:ext cx="4067250" cy="876375"/>
              <a:chOff x="-9525" y="-9525"/>
              <a:chExt cx="4067250" cy="876375"/>
            </a:xfrm>
          </p:grpSpPr>
          <p:sp>
            <p:nvSpPr>
              <p:cNvPr id="334" name="Google Shape;334;p18"/>
              <p:cNvSpPr/>
              <p:nvPr/>
            </p:nvSpPr>
            <p:spPr>
              <a:xfrm>
                <a:off x="0" y="0"/>
                <a:ext cx="4048200" cy="838200"/>
              </a:xfrm>
              <a:prstGeom prst="roundRect">
                <a:avLst>
                  <a:gd fmla="val 6818" name="adj"/>
                </a:avLst>
              </a:prstGeom>
              <a:solidFill>
                <a:srgbClr val="10132A"/>
              </a:solidFill>
              <a:ln cap="flat" cmpd="sng" w="9525">
                <a:solidFill>
                  <a:srgbClr val="2A305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18"/>
              <p:cNvSpPr/>
              <p:nvPr/>
            </p:nvSpPr>
            <p:spPr>
              <a:xfrm>
                <a:off x="0" y="0"/>
                <a:ext cx="4048200" cy="28500"/>
              </a:xfrm>
              <a:prstGeom prst="roundRect">
                <a:avLst>
                  <a:gd fmla="val 50000" name="adj"/>
                </a:avLst>
              </a:prstGeom>
              <a:solidFill>
                <a:srgbClr val="9D6C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36" name="Google Shape;336;p18"/>
              <p:cNvGrpSpPr/>
              <p:nvPr/>
            </p:nvGrpSpPr>
            <p:grpSpPr>
              <a:xfrm>
                <a:off x="-9525" y="-9525"/>
                <a:ext cx="4067250" cy="876375"/>
                <a:chOff x="-9525" y="-9525"/>
                <a:chExt cx="4067250" cy="876375"/>
              </a:xfrm>
            </p:grpSpPr>
            <p:pic>
              <p:nvPicPr>
                <p:cNvPr id="337" name="Google Shape;337;p18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-9525" y="-9525"/>
                  <a:ext cx="85800" cy="858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38" name="Google Shape;338;p18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0" t="0"/>
                <a:stretch/>
              </p:blipFill>
              <p:spPr>
                <a:xfrm>
                  <a:off x="3971925" y="-9525"/>
                  <a:ext cx="85800" cy="858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39" name="Google Shape;339;p18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0" l="0" r="0" t="0"/>
                <a:stretch/>
              </p:blipFill>
              <p:spPr>
                <a:xfrm>
                  <a:off x="-9525" y="781050"/>
                  <a:ext cx="85800" cy="858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40" name="Google Shape;340;p18"/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 b="0" l="0" r="0" t="0"/>
                <a:stretch/>
              </p:blipFill>
              <p:spPr>
                <a:xfrm>
                  <a:off x="3971925" y="781050"/>
                  <a:ext cx="85800" cy="858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341" name="Google Shape;341;p18"/>
              <p:cNvSpPr txBox="1"/>
              <p:nvPr/>
            </p:nvSpPr>
            <p:spPr>
              <a:xfrm>
                <a:off x="152400" y="114300"/>
                <a:ext cx="3743400" cy="62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9D6CFF"/>
                    </a:solidFill>
                    <a:latin typeface="DM Mono"/>
                    <a:ea typeface="DM Mono"/>
                    <a:cs typeface="DM Mono"/>
                    <a:sym typeface="DM Mono"/>
                  </a:rPr>
                  <a:t>Responsive Navbar.jsx</a:t>
                </a:r>
                <a:endParaRPr b="0" sz="1100">
                  <a:solidFill>
                    <a:srgbClr val="9D6CFF"/>
                  </a:solidFill>
                  <a:latin typeface="DM Mono"/>
                  <a:ea typeface="DM Mono"/>
                  <a:cs typeface="DM Mono"/>
                  <a:sym typeface="DM Mono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A0AEC0"/>
                    </a:solidFill>
                    <a:latin typeface="Outfit"/>
                    <a:ea typeface="Outfit"/>
                    <a:cs typeface="Outfit"/>
                    <a:sym typeface="Outfit"/>
                  </a:rPr>
                  <a:t>Renders authenticated user avatar pill, Sign Out action, and mobile hamburger menu.</a:t>
                </a:r>
                <a:endParaRPr b="0" sz="10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</p:grpSp>
      <p:sp>
        <p:nvSpPr>
          <p:cNvPr id="342" name="Google Shape;342;p18"/>
          <p:cNvSpPr txBox="1"/>
          <p:nvPr/>
        </p:nvSpPr>
        <p:spPr>
          <a:xfrm>
            <a:off x="381000" y="4743450"/>
            <a:ext cx="83820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86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rPr>
              <a:t>NIGHT HOURS v2.0 ARCHITECTURE</a:t>
            </a:r>
            <a:r>
              <a:rPr lang="en" sz="1295"/>
              <a:t> </a:t>
            </a:r>
            <a:r>
              <a:rPr b="0" lang="en" sz="786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rPr>
              <a:t>AUTHENTICATION &amp; USER MANAGEMENT</a:t>
            </a:r>
            <a:endParaRPr sz="1295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0132A">
                  <a:alpha val="89804"/>
                </a:srgbClr>
              </a:gs>
              <a:gs pos="100000">
                <a:srgbClr val="080B18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8" name="Google Shape;34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9" name="Google Shape;349;p19"/>
          <p:cNvGrpSpPr/>
          <p:nvPr/>
        </p:nvGrpSpPr>
        <p:grpSpPr>
          <a:xfrm>
            <a:off x="381000" y="238125"/>
            <a:ext cx="381000" cy="381000"/>
            <a:chOff x="0" y="0"/>
            <a:chExt cx="381000" cy="381000"/>
          </a:xfrm>
        </p:grpSpPr>
        <p:sp>
          <p:nvSpPr>
            <p:cNvPr id="350" name="Google Shape;350;p19"/>
            <p:cNvSpPr/>
            <p:nvPr/>
          </p:nvSpPr>
          <p:spPr>
            <a:xfrm>
              <a:off x="0" y="0"/>
              <a:ext cx="381000" cy="3810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30000"/>
                  </a:lnTo>
                  <a:lnTo>
                    <a:pt x="120000" y="90000"/>
                  </a:lnTo>
                  <a:lnTo>
                    <a:pt x="60000" y="120000"/>
                  </a:lnTo>
                  <a:lnTo>
                    <a:pt x="0" y="90000"/>
                  </a:lnTo>
                  <a:lnTo>
                    <a:pt x="0" y="3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9D6C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19"/>
            <p:cNvSpPr/>
            <p:nvPr/>
          </p:nvSpPr>
          <p:spPr>
            <a:xfrm>
              <a:off x="38100" y="38100"/>
              <a:ext cx="304800" cy="3048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30000"/>
                  </a:lnTo>
                  <a:lnTo>
                    <a:pt x="120000" y="90000"/>
                  </a:lnTo>
                  <a:lnTo>
                    <a:pt x="60000" y="120000"/>
                  </a:lnTo>
                  <a:lnTo>
                    <a:pt x="0" y="90000"/>
                  </a:lnTo>
                  <a:lnTo>
                    <a:pt x="0" y="30000"/>
                  </a:lnTo>
                  <a:close/>
                </a:path>
              </a:pathLst>
            </a:custGeom>
            <a:solidFill>
              <a:srgbClr val="10132A"/>
            </a:solidFill>
            <a:ln cap="flat" cmpd="sng" w="9525">
              <a:solidFill>
                <a:srgbClr val="87E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19"/>
            <p:cNvSpPr/>
            <p:nvPr/>
          </p:nvSpPr>
          <p:spPr>
            <a:xfrm>
              <a:off x="114300" y="142875"/>
              <a:ext cx="152400" cy="95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moveTo>
                    <a:pt x="0" y="0"/>
                  </a:moveTo>
                  <a:lnTo>
                    <a:pt x="60000" y="120000"/>
                  </a:lnTo>
                  <a:moveTo>
                    <a:pt x="60000" y="0"/>
                  </a:moveTo>
                  <a:lnTo>
                    <a:pt x="60000" y="120000"/>
                  </a:lnTo>
                  <a:moveTo>
                    <a:pt x="120000" y="0"/>
                  </a:moveTo>
                  <a:lnTo>
                    <a:pt x="120000" y="120000"/>
                  </a:lnTo>
                  <a:moveTo>
                    <a:pt x="82500" y="60000"/>
                  </a:moveTo>
                  <a:lnTo>
                    <a:pt x="120000" y="6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3" name="Google Shape;353;p19"/>
          <p:cNvGrpSpPr/>
          <p:nvPr/>
        </p:nvGrpSpPr>
        <p:grpSpPr>
          <a:xfrm>
            <a:off x="857250" y="180975"/>
            <a:ext cx="981225" cy="133500"/>
            <a:chOff x="0" y="-9525"/>
            <a:chExt cx="981225" cy="133500"/>
          </a:xfrm>
        </p:grpSpPr>
        <p:pic>
          <p:nvPicPr>
            <p:cNvPr id="354" name="Google Shape;354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-9525"/>
              <a:ext cx="952500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5" name="Google Shape;355;p19"/>
            <p:cNvSpPr/>
            <p:nvPr/>
          </p:nvSpPr>
          <p:spPr>
            <a:xfrm>
              <a:off x="923925" y="66675"/>
              <a:ext cx="57300" cy="57300"/>
            </a:xfrm>
            <a:prstGeom prst="ellipse">
              <a:avLst/>
            </a:prstGeom>
            <a:solidFill>
              <a:srgbClr val="87E5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19"/>
            <p:cNvSpPr/>
            <p:nvPr/>
          </p:nvSpPr>
          <p:spPr>
            <a:xfrm>
              <a:off x="476250" y="57150"/>
              <a:ext cx="142800" cy="19200"/>
            </a:xfrm>
            <a:prstGeom prst="rect">
              <a:avLst/>
            </a:prstGeom>
            <a:solidFill>
              <a:srgbClr val="74E7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7" name="Google Shape;357;p19"/>
          <p:cNvSpPr txBox="1"/>
          <p:nvPr/>
        </p:nvSpPr>
        <p:spPr>
          <a:xfrm>
            <a:off x="857250" y="190500"/>
            <a:ext cx="7905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New in v2.0: Hybrid Cloud/Local Persistence</a:t>
            </a:r>
            <a:endParaRPr b="1" sz="220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87E5FF"/>
                </a:solidFill>
                <a:latin typeface="Outfit Medium"/>
                <a:ea typeface="Outfit Medium"/>
                <a:cs typeface="Outfit Medium"/>
                <a:sym typeface="Outfit Medium"/>
              </a:rPr>
              <a:t>&amp; useGameStats Hook Implementation</a:t>
            </a:r>
            <a:endParaRPr b="0" sz="1200">
              <a:solidFill>
                <a:srgbClr val="87E5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358" name="Google Shape;358;p19"/>
          <p:cNvSpPr/>
          <p:nvPr/>
        </p:nvSpPr>
        <p:spPr>
          <a:xfrm>
            <a:off x="381000" y="857250"/>
            <a:ext cx="8382000" cy="19200"/>
          </a:xfrm>
          <a:prstGeom prst="rect">
            <a:avLst/>
          </a:prstGeom>
          <a:gradFill>
            <a:gsLst>
              <a:gs pos="0">
                <a:srgbClr val="87E5FF"/>
              </a:gs>
              <a:gs pos="50000">
                <a:srgbClr val="9D6CFF"/>
              </a:gs>
              <a:gs pos="100000">
                <a:srgbClr val="080B18"/>
              </a:gs>
            </a:gsLst>
            <a:lin ang="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9" name="Google Shape;359;p19"/>
          <p:cNvGrpSpPr/>
          <p:nvPr/>
        </p:nvGrpSpPr>
        <p:grpSpPr>
          <a:xfrm>
            <a:off x="381000" y="971550"/>
            <a:ext cx="8382000" cy="324000"/>
            <a:chOff x="0" y="0"/>
            <a:chExt cx="8382000" cy="324000"/>
          </a:xfrm>
        </p:grpSpPr>
        <p:sp>
          <p:nvSpPr>
            <p:cNvPr id="360" name="Google Shape;360;p19"/>
            <p:cNvSpPr/>
            <p:nvPr/>
          </p:nvSpPr>
          <p:spPr>
            <a:xfrm>
              <a:off x="0" y="0"/>
              <a:ext cx="8382000" cy="324000"/>
            </a:xfrm>
            <a:prstGeom prst="roundRect">
              <a:avLst>
                <a:gd fmla="val 11764" name="adj"/>
              </a:avLst>
            </a:prstGeom>
            <a:solidFill>
              <a:srgbClr val="05070F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9"/>
            <p:cNvSpPr/>
            <p:nvPr/>
          </p:nvSpPr>
          <p:spPr>
            <a:xfrm>
              <a:off x="0" y="0"/>
              <a:ext cx="38100" cy="324000"/>
            </a:xfrm>
            <a:prstGeom prst="roundRect">
              <a:avLst>
                <a:gd fmla="val 50000" name="adj"/>
              </a:avLst>
            </a:prstGeom>
            <a:solidFill>
              <a:srgbClr val="87E5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19"/>
            <p:cNvSpPr txBox="1"/>
            <p:nvPr/>
          </p:nvSpPr>
          <p:spPr>
            <a:xfrm>
              <a:off x="142875" y="0"/>
              <a:ext cx="80964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F3C96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Architecture Evolution:</a:t>
              </a:r>
              <a:r>
                <a:rPr b="0" lang="en" sz="9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 </a:t>
              </a:r>
              <a:r>
                <a:rPr b="0" lang="en" sz="950">
                  <a:solidFill>
                    <a:srgbClr val="FFFFFF"/>
                  </a:solidFill>
                  <a:latin typeface="DM Mono"/>
                  <a:ea typeface="DM Mono"/>
                  <a:cs typeface="DM Mono"/>
                  <a:sym typeface="DM Mono"/>
                </a:rPr>
                <a:t>src/hooks/useGameStats.js</a:t>
              </a:r>
              <a:r>
                <a:rPr b="0" lang="en" sz="9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 </a:t>
              </a:r>
              <a:r>
                <a:rPr b="0" lang="en" sz="95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rPr>
                <a:t>➔</a:t>
              </a:r>
              <a:r>
                <a:rPr b="0" lang="en" sz="9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 </a:t>
              </a:r>
              <a:r>
                <a:rPr b="0" lang="en" sz="950">
                  <a:solidFill>
                    <a:srgbClr val="FFFFFF"/>
                  </a:solidFill>
                  <a:latin typeface="DM Mono"/>
                  <a:ea typeface="DM Mono"/>
                  <a:cs typeface="DM Mono"/>
                  <a:sym typeface="DM Mono"/>
                </a:rPr>
                <a:t>src/services/api.js</a:t>
              </a:r>
              <a:r>
                <a:rPr b="0" lang="en" sz="9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 </a:t>
              </a:r>
              <a:r>
                <a:rPr b="0" lang="en" sz="95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rPr>
                <a:t>➔</a:t>
              </a:r>
              <a:r>
                <a:rPr b="0" lang="en" sz="9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 </a:t>
              </a:r>
              <a:r>
                <a:rPr b="0" lang="en" sz="950">
                  <a:solidFill>
                    <a:srgbClr val="FFFFFF"/>
                  </a:solidFill>
                  <a:latin typeface="DM Mono"/>
                  <a:ea typeface="DM Mono"/>
                  <a:cs typeface="DM Mono"/>
                  <a:sym typeface="DM Mono"/>
                </a:rPr>
                <a:t>backend/src/routes/stats.js</a:t>
              </a:r>
              <a:endParaRPr b="0" sz="95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</p:grpSp>
      <p:grpSp>
        <p:nvGrpSpPr>
          <p:cNvPr id="363" name="Google Shape;363;p19"/>
          <p:cNvGrpSpPr/>
          <p:nvPr/>
        </p:nvGrpSpPr>
        <p:grpSpPr>
          <a:xfrm>
            <a:off x="371475" y="1419225"/>
            <a:ext cx="2686125" cy="3057525"/>
            <a:chOff x="-9525" y="-9525"/>
            <a:chExt cx="2686125" cy="3057525"/>
          </a:xfrm>
        </p:grpSpPr>
        <p:sp>
          <p:nvSpPr>
            <p:cNvPr id="364" name="Google Shape;364;p19"/>
            <p:cNvSpPr/>
            <p:nvPr/>
          </p:nvSpPr>
          <p:spPr>
            <a:xfrm>
              <a:off x="0" y="0"/>
              <a:ext cx="2667000" cy="3048000"/>
            </a:xfrm>
            <a:prstGeom prst="roundRect">
              <a:avLst>
                <a:gd fmla="val 2142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19"/>
            <p:cNvSpPr/>
            <p:nvPr/>
          </p:nvSpPr>
          <p:spPr>
            <a:xfrm>
              <a:off x="0" y="0"/>
              <a:ext cx="2667000" cy="38100"/>
            </a:xfrm>
            <a:prstGeom prst="roundRect">
              <a:avLst>
                <a:gd fmla="val 50000" name="adj"/>
              </a:avLst>
            </a:prstGeom>
            <a:solidFill>
              <a:srgbClr val="9D6C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6" name="Google Shape;366;p19"/>
            <p:cNvGrpSpPr/>
            <p:nvPr/>
          </p:nvGrpSpPr>
          <p:grpSpPr>
            <a:xfrm>
              <a:off x="-9525" y="-9525"/>
              <a:ext cx="2686125" cy="2924250"/>
              <a:chOff x="-9525" y="-9525"/>
              <a:chExt cx="2686125" cy="2924250"/>
            </a:xfrm>
          </p:grpSpPr>
          <p:pic>
            <p:nvPicPr>
              <p:cNvPr id="367" name="Google Shape;367;p1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-9525" y="-9525"/>
                <a:ext cx="123900" cy="1239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68" name="Google Shape;368;p19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2552700" y="-9525"/>
                <a:ext cx="123900" cy="1239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69" name="Google Shape;369;p19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-9525" y="2790825"/>
                <a:ext cx="123900" cy="1239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70" name="Google Shape;370;p19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2552700" y="2790825"/>
                <a:ext cx="123900" cy="123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71" name="Google Shape;371;p19"/>
            <p:cNvSpPr txBox="1"/>
            <p:nvPr/>
          </p:nvSpPr>
          <p:spPr>
            <a:xfrm>
              <a:off x="171450" y="171450"/>
              <a:ext cx="2324100" cy="27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9D6C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Key Feature 01</a:t>
              </a:r>
              <a:endParaRPr b="0" sz="850">
                <a:solidFill>
                  <a:srgbClr val="9D6C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FFFFF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Legacy Data Migration</a:t>
              </a:r>
              <a:endParaRPr b="0" sz="13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readLocalStatsMap()</a:t>
              </a:r>
              <a:endParaRPr b="0" sz="85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Automatically detects v1.0 flat </a:t>
              </a:r>
              <a:r>
                <a:rPr b="0" lang="en" sz="85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rPr>
                <a:t>bestStreaks</a:t>
              </a:r>
              <a:r>
                <a:rPr b="0" lang="en" sz="9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schema and seamlessly migrates it to structured per-game records.</a:t>
              </a:r>
              <a:endParaRPr b="0" sz="95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A0AEC0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Migrated Per-Game Records:</a:t>
              </a:r>
              <a:endParaRPr b="0" sz="750">
                <a:solidFill>
                  <a:srgbClr val="A0AEC0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• </a:t>
              </a:r>
              <a:r>
                <a:rPr b="0" lang="en" sz="850">
                  <a:solidFill>
                    <a:srgbClr val="87E5FF"/>
                  </a:solidFill>
                  <a:latin typeface="Outfit"/>
                  <a:ea typeface="Outfit"/>
                  <a:cs typeface="Outfit"/>
                  <a:sym typeface="Outfit"/>
                </a:rPr>
                <a:t>gamesPlayed</a:t>
              </a:r>
              <a:r>
                <a:rPr b="0" lang="en" sz="85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 &amp; </a:t>
              </a:r>
              <a:r>
                <a:rPr b="0" lang="en" sz="850">
                  <a:solidFill>
                    <a:srgbClr val="87E5FF"/>
                  </a:solidFill>
                  <a:latin typeface="Outfit"/>
                  <a:ea typeface="Outfit"/>
                  <a:cs typeface="Outfit"/>
                  <a:sym typeface="Outfit"/>
                </a:rPr>
                <a:t>totalScore</a:t>
              </a:r>
              <a:endParaRPr b="0" sz="85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• </a:t>
              </a:r>
              <a:r>
                <a:rPr b="0" lang="en" sz="850">
                  <a:solidFill>
                    <a:srgbClr val="74E7A8"/>
                  </a:solidFill>
                  <a:latin typeface="Outfit"/>
                  <a:ea typeface="Outfit"/>
                  <a:cs typeface="Outfit"/>
                  <a:sym typeface="Outfit"/>
                </a:rPr>
                <a:t>bestStreak</a:t>
              </a:r>
              <a:r>
                <a:rPr b="0" lang="en" sz="85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 metrics</a:t>
              </a:r>
              <a:endParaRPr b="0" sz="85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• Top 10 </a:t>
              </a:r>
              <a:r>
                <a:rPr b="0" lang="en" sz="850">
                  <a:solidFill>
                    <a:srgbClr val="F3C96D"/>
                  </a:solidFill>
                  <a:latin typeface="Outfit"/>
                  <a:ea typeface="Outfit"/>
                  <a:cs typeface="Outfit"/>
                  <a:sym typeface="Outfit"/>
                </a:rPr>
                <a:t>highScores</a:t>
              </a:r>
              <a:r>
                <a:rPr b="0" lang="en" sz="85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 + timestamps</a:t>
              </a:r>
              <a:endParaRPr b="0" sz="85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372" name="Google Shape;372;p19"/>
          <p:cNvGrpSpPr/>
          <p:nvPr/>
        </p:nvGrpSpPr>
        <p:grpSpPr>
          <a:xfrm>
            <a:off x="3228975" y="1419225"/>
            <a:ext cx="2686125" cy="3057525"/>
            <a:chOff x="-9525" y="-9525"/>
            <a:chExt cx="2686125" cy="3057525"/>
          </a:xfrm>
        </p:grpSpPr>
        <p:sp>
          <p:nvSpPr>
            <p:cNvPr id="373" name="Google Shape;373;p19"/>
            <p:cNvSpPr/>
            <p:nvPr/>
          </p:nvSpPr>
          <p:spPr>
            <a:xfrm>
              <a:off x="0" y="0"/>
              <a:ext cx="2667000" cy="3048000"/>
            </a:xfrm>
            <a:prstGeom prst="roundRect">
              <a:avLst>
                <a:gd fmla="val 2142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9"/>
            <p:cNvSpPr/>
            <p:nvPr/>
          </p:nvSpPr>
          <p:spPr>
            <a:xfrm>
              <a:off x="0" y="0"/>
              <a:ext cx="2667000" cy="38100"/>
            </a:xfrm>
            <a:prstGeom prst="roundRect">
              <a:avLst>
                <a:gd fmla="val 50000" name="adj"/>
              </a:avLst>
            </a:prstGeom>
            <a:solidFill>
              <a:srgbClr val="87E5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5" name="Google Shape;375;p19"/>
            <p:cNvGrpSpPr/>
            <p:nvPr/>
          </p:nvGrpSpPr>
          <p:grpSpPr>
            <a:xfrm>
              <a:off x="-9525" y="-9525"/>
              <a:ext cx="2686125" cy="2924250"/>
              <a:chOff x="-9525" y="-9525"/>
              <a:chExt cx="2686125" cy="2924250"/>
            </a:xfrm>
          </p:grpSpPr>
          <p:pic>
            <p:nvPicPr>
              <p:cNvPr id="376" name="Google Shape;376;p1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-9525" y="-9525"/>
                <a:ext cx="123900" cy="1239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77" name="Google Shape;377;p19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2552700" y="-9525"/>
                <a:ext cx="123900" cy="1239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78" name="Google Shape;378;p19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-9525" y="2790825"/>
                <a:ext cx="123900" cy="1239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79" name="Google Shape;379;p19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2552700" y="2790825"/>
                <a:ext cx="123900" cy="123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80" name="Google Shape;380;p19"/>
            <p:cNvSpPr txBox="1"/>
            <p:nvPr/>
          </p:nvSpPr>
          <p:spPr>
            <a:xfrm>
              <a:off x="171450" y="171450"/>
              <a:ext cx="2324100" cy="27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87E5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Key Feature 02</a:t>
              </a:r>
              <a:endParaRPr b="0" sz="850">
                <a:solidFill>
                  <a:srgbClr val="87E5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FFFFF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Dual-Write Sync Pipeline</a:t>
              </a:r>
              <a:endParaRPr b="0" sz="13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rPr>
                <a:t>POST /api/stats/game/:gameKey</a:t>
              </a:r>
              <a:endParaRPr b="0" sz="800">
                <a:solidFill>
                  <a:srgbClr val="87E5FF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Updates local React state immediately for zero UI latency, then syncs asynchronously with the backend API when logged in.</a:t>
              </a:r>
              <a:endParaRPr b="0" sz="95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A0AEC0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Pipeline Performance:</a:t>
              </a:r>
              <a:endParaRPr b="0" sz="750">
                <a:solidFill>
                  <a:srgbClr val="A0AEC0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• Instant local state update</a:t>
              </a:r>
              <a:endParaRPr b="0" sz="85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• Zero UI latency execution</a:t>
              </a:r>
              <a:endParaRPr b="0" sz="85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• Asynchronous cloud dispatch</a:t>
              </a:r>
              <a:endParaRPr b="0" sz="85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381" name="Google Shape;381;p19"/>
          <p:cNvGrpSpPr/>
          <p:nvPr/>
        </p:nvGrpSpPr>
        <p:grpSpPr>
          <a:xfrm>
            <a:off x="6086475" y="1419225"/>
            <a:ext cx="2686125" cy="3057525"/>
            <a:chOff x="-9525" y="-9525"/>
            <a:chExt cx="2686125" cy="3057525"/>
          </a:xfrm>
        </p:grpSpPr>
        <p:sp>
          <p:nvSpPr>
            <p:cNvPr id="382" name="Google Shape;382;p19"/>
            <p:cNvSpPr/>
            <p:nvPr/>
          </p:nvSpPr>
          <p:spPr>
            <a:xfrm>
              <a:off x="0" y="0"/>
              <a:ext cx="2667000" cy="3048000"/>
            </a:xfrm>
            <a:prstGeom prst="roundRect">
              <a:avLst>
                <a:gd fmla="val 2142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9"/>
            <p:cNvSpPr/>
            <p:nvPr/>
          </p:nvSpPr>
          <p:spPr>
            <a:xfrm>
              <a:off x="0" y="0"/>
              <a:ext cx="2667000" cy="38100"/>
            </a:xfrm>
            <a:prstGeom prst="roundRect">
              <a:avLst>
                <a:gd fmla="val 50000" name="adj"/>
              </a:avLst>
            </a:prstGeom>
            <a:solidFill>
              <a:srgbClr val="74E7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4" name="Google Shape;384;p19"/>
            <p:cNvGrpSpPr/>
            <p:nvPr/>
          </p:nvGrpSpPr>
          <p:grpSpPr>
            <a:xfrm>
              <a:off x="-9525" y="-9525"/>
              <a:ext cx="2686125" cy="2924250"/>
              <a:chOff x="-9525" y="-9525"/>
              <a:chExt cx="2686125" cy="2924250"/>
            </a:xfrm>
          </p:grpSpPr>
          <p:pic>
            <p:nvPicPr>
              <p:cNvPr id="385" name="Google Shape;385;p1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-9525" y="-9525"/>
                <a:ext cx="123900" cy="1239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6" name="Google Shape;386;p19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2552700" y="-9525"/>
                <a:ext cx="123900" cy="1239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7" name="Google Shape;387;p19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-9525" y="2790825"/>
                <a:ext cx="123900" cy="1239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8" name="Google Shape;388;p19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2552700" y="2790825"/>
                <a:ext cx="123900" cy="123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89" name="Google Shape;389;p19"/>
            <p:cNvSpPr txBox="1"/>
            <p:nvPr/>
          </p:nvSpPr>
          <p:spPr>
            <a:xfrm>
              <a:off x="171450" y="171450"/>
              <a:ext cx="2324100" cy="27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74E7A8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Key Feature 03</a:t>
              </a:r>
              <a:endParaRPr b="0" sz="850">
                <a:solidFill>
                  <a:srgbClr val="74E7A8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FFFFF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Seamless Offline Fallback</a:t>
              </a:r>
              <a:endParaRPr b="0" sz="13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handleOfflineFallback (api.js)</a:t>
              </a:r>
              <a:endParaRPr b="0" sz="85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If backend port 3001 is unreachable, critical services fall back seamlessly to local browser storage without crashing.</a:t>
              </a:r>
              <a:endParaRPr b="0" sz="9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A0AEC0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Fallback Scope &amp; Target:</a:t>
              </a:r>
              <a:endParaRPr b="0" sz="750">
                <a:solidFill>
                  <a:srgbClr val="A0AEC0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• Auth, Profile Edits &amp; Stats</a:t>
              </a:r>
              <a:endParaRPr b="0" sz="8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• VM Provisioning engine</a:t>
              </a:r>
              <a:endParaRPr b="0" sz="8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F3C96D"/>
                  </a:solidFill>
                  <a:latin typeface="Outfit"/>
                  <a:ea typeface="Outfit"/>
                  <a:cs typeface="Outfit"/>
                  <a:sym typeface="Outfit"/>
                </a:rPr>
                <a:t>Target: </a:t>
              </a:r>
              <a:r>
                <a:rPr b="0" lang="en" sz="800">
                  <a:solidFill>
                    <a:srgbClr val="F3C96D"/>
                  </a:solidFill>
                  <a:latin typeface="DM Mono"/>
                  <a:ea typeface="DM Mono"/>
                  <a:cs typeface="DM Mono"/>
                  <a:sym typeface="DM Mono"/>
                </a:rPr>
                <a:t>nh_local_users</a:t>
              </a:r>
              <a:endParaRPr b="0" sz="800">
                <a:solidFill>
                  <a:srgbClr val="F3C96D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390" name="Google Shape;390;p19"/>
          <p:cNvSpPr txBox="1"/>
          <p:nvPr/>
        </p:nvSpPr>
        <p:spPr>
          <a:xfrm>
            <a:off x="381000" y="4714875"/>
            <a:ext cx="83820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86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rPr>
              <a:t>NIGHT HOURS v2.0 ARCHITECTURE &amp; DATA PIPELINE</a:t>
            </a:r>
            <a:r>
              <a:rPr lang="en" sz="1295"/>
              <a:t> </a:t>
            </a:r>
            <a:r>
              <a:rPr b="0" lang="en" sz="786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rPr>
              <a:t>HYBRID PERSISTENCE ENGINE</a:t>
            </a:r>
            <a:endParaRPr sz="1295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0132A">
                  <a:alpha val="80000"/>
                </a:srgbClr>
              </a:gs>
              <a:gs pos="100000">
                <a:srgbClr val="080B18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6" name="Google Shape;39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7" name="Google Shape;397;p20"/>
          <p:cNvGrpSpPr/>
          <p:nvPr/>
        </p:nvGrpSpPr>
        <p:grpSpPr>
          <a:xfrm>
            <a:off x="381000" y="238125"/>
            <a:ext cx="8334375" cy="619200"/>
            <a:chOff x="0" y="0"/>
            <a:chExt cx="8334375" cy="619200"/>
          </a:xfrm>
        </p:grpSpPr>
        <p:grpSp>
          <p:nvGrpSpPr>
            <p:cNvPr id="398" name="Google Shape;398;p20"/>
            <p:cNvGrpSpPr/>
            <p:nvPr/>
          </p:nvGrpSpPr>
          <p:grpSpPr>
            <a:xfrm>
              <a:off x="0" y="0"/>
              <a:ext cx="381000" cy="381000"/>
              <a:chOff x="0" y="0"/>
              <a:chExt cx="381000" cy="381000"/>
            </a:xfrm>
          </p:grpSpPr>
          <p:sp>
            <p:nvSpPr>
              <p:cNvPr id="399" name="Google Shape;399;p20"/>
              <p:cNvSpPr/>
              <p:nvPr/>
            </p:nvSpPr>
            <p:spPr>
              <a:xfrm>
                <a:off x="0" y="0"/>
                <a:ext cx="381000" cy="3810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lnTo>
                      <a:pt x="120000" y="30000"/>
                    </a:lnTo>
                    <a:lnTo>
                      <a:pt x="120000" y="90000"/>
                    </a:lnTo>
                    <a:lnTo>
                      <a:pt x="60000" y="120000"/>
                    </a:lnTo>
                    <a:lnTo>
                      <a:pt x="0" y="90000"/>
                    </a:lnTo>
                    <a:lnTo>
                      <a:pt x="0" y="300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9D6C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" name="Google Shape;400;p20"/>
              <p:cNvSpPr/>
              <p:nvPr/>
            </p:nvSpPr>
            <p:spPr>
              <a:xfrm>
                <a:off x="38100" y="38100"/>
                <a:ext cx="304800" cy="3048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lnTo>
                      <a:pt x="120000" y="30000"/>
                    </a:lnTo>
                    <a:lnTo>
                      <a:pt x="120000" y="90000"/>
                    </a:lnTo>
                    <a:lnTo>
                      <a:pt x="60000" y="120000"/>
                    </a:lnTo>
                    <a:lnTo>
                      <a:pt x="0" y="90000"/>
                    </a:lnTo>
                    <a:lnTo>
                      <a:pt x="0" y="30000"/>
                    </a:lnTo>
                    <a:close/>
                  </a:path>
                </a:pathLst>
              </a:custGeom>
              <a:solidFill>
                <a:srgbClr val="10132A"/>
              </a:solidFill>
              <a:ln cap="flat" cmpd="sng" w="9525">
                <a:solidFill>
                  <a:srgbClr val="87E5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20"/>
              <p:cNvSpPr/>
              <p:nvPr/>
            </p:nvSpPr>
            <p:spPr>
              <a:xfrm>
                <a:off x="114300" y="142875"/>
                <a:ext cx="152400" cy="95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120000"/>
                    </a:lnTo>
                    <a:moveTo>
                      <a:pt x="0" y="0"/>
                    </a:moveTo>
                    <a:lnTo>
                      <a:pt x="60000" y="120000"/>
                    </a:lnTo>
                    <a:moveTo>
                      <a:pt x="60000" y="0"/>
                    </a:moveTo>
                    <a:lnTo>
                      <a:pt x="60000" y="120000"/>
                    </a:lnTo>
                    <a:moveTo>
                      <a:pt x="120000" y="0"/>
                    </a:moveTo>
                    <a:lnTo>
                      <a:pt x="120000" y="120000"/>
                    </a:lnTo>
                    <a:moveTo>
                      <a:pt x="82500" y="60000"/>
                    </a:moveTo>
                    <a:lnTo>
                      <a:pt x="120000" y="6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2" name="Google Shape;402;p20"/>
            <p:cNvSpPr txBox="1"/>
            <p:nvPr/>
          </p:nvSpPr>
          <p:spPr>
            <a:xfrm>
              <a:off x="523875" y="0"/>
              <a:ext cx="7810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ZONE 1: LEARNING HOURS</a:t>
              </a:r>
              <a:endParaRPr b="1" sz="24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87E5FF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Memory Match &amp; Upgraded Type Sprint</a:t>
              </a:r>
              <a:endParaRPr b="0" sz="1400">
                <a:solidFill>
                  <a:srgbClr val="87E5FF"/>
                </a:solidFill>
                <a:latin typeface="Outfit Medium"/>
                <a:ea typeface="Outfit Medium"/>
                <a:cs typeface="Outfit Medium"/>
                <a:sym typeface="Outfit Medium"/>
              </a:endParaRPr>
            </a:p>
          </p:txBody>
        </p:sp>
        <p:pic>
          <p:nvPicPr>
            <p:cNvPr id="403" name="Google Shape;403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58000" y="133350"/>
              <a:ext cx="1333500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" name="Google Shape;404;p20"/>
            <p:cNvSpPr/>
            <p:nvPr/>
          </p:nvSpPr>
          <p:spPr>
            <a:xfrm>
              <a:off x="8162925" y="209550"/>
              <a:ext cx="57300" cy="57300"/>
            </a:xfrm>
            <a:prstGeom prst="ellipse">
              <a:avLst/>
            </a:prstGeom>
            <a:solidFill>
              <a:srgbClr val="87E5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5" name="Google Shape;405;p20"/>
          <p:cNvSpPr/>
          <p:nvPr/>
        </p:nvSpPr>
        <p:spPr>
          <a:xfrm>
            <a:off x="381000" y="933450"/>
            <a:ext cx="8382000" cy="19200"/>
          </a:xfrm>
          <a:prstGeom prst="rect">
            <a:avLst/>
          </a:prstGeom>
          <a:gradFill>
            <a:gsLst>
              <a:gs pos="0">
                <a:srgbClr val="87E5FF"/>
              </a:gs>
              <a:gs pos="50000">
                <a:srgbClr val="9D6CFF"/>
              </a:gs>
              <a:gs pos="100000">
                <a:srgbClr val="080B18"/>
              </a:gs>
            </a:gsLst>
            <a:lin ang="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6" name="Google Shape;406;p20"/>
          <p:cNvGrpSpPr/>
          <p:nvPr/>
        </p:nvGrpSpPr>
        <p:grpSpPr>
          <a:xfrm>
            <a:off x="381000" y="1095375"/>
            <a:ext cx="4000500" cy="3571800"/>
            <a:chOff x="0" y="0"/>
            <a:chExt cx="4000500" cy="3571800"/>
          </a:xfrm>
        </p:grpSpPr>
        <p:sp>
          <p:nvSpPr>
            <p:cNvPr id="407" name="Google Shape;407;p20"/>
            <p:cNvSpPr/>
            <p:nvPr/>
          </p:nvSpPr>
          <p:spPr>
            <a:xfrm>
              <a:off x="0" y="0"/>
              <a:ext cx="4000500" cy="3571800"/>
            </a:xfrm>
            <a:prstGeom prst="roundRect">
              <a:avLst>
                <a:gd fmla="val 2133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0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9D6C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09" name="Google Shape;409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7625" y="85725"/>
              <a:ext cx="85800" cy="85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0" name="Google Shape;410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3867075" y="85725"/>
              <a:ext cx="85800" cy="85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1" name="Google Shape;411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 rot="10800000">
              <a:off x="47625" y="3400350"/>
              <a:ext cx="85800" cy="85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2" name="Google Shape;412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10800000">
              <a:off x="3867075" y="3400350"/>
              <a:ext cx="85800" cy="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20"/>
            <p:cNvSpPr txBox="1"/>
            <p:nvPr/>
          </p:nvSpPr>
          <p:spPr>
            <a:xfrm>
              <a:off x="190500" y="152400"/>
              <a:ext cx="3619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65">
                  <a:solidFill>
                    <a:srgbClr val="9D6C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MODULE UPGRADE</a:t>
              </a:r>
              <a:endParaRPr b="0" sz="765">
                <a:solidFill>
                  <a:srgbClr val="9D6C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105">
                  <a:solidFill>
                    <a:srgbClr val="FFFFFF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Memory Match Engine</a:t>
              </a:r>
              <a:endParaRPr b="0" sz="1105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l">
                <a:spcBef>
                  <a:spcPts val="75"/>
                </a:spcBef>
                <a:spcAft>
                  <a:spcPts val="0"/>
                </a:spcAft>
                <a:buNone/>
              </a:pPr>
              <a:r>
                <a:rPr b="0" lang="en" sz="723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rPr>
                <a:t>/learning — MemoryMatch.jsx</a:t>
              </a:r>
              <a:endParaRPr b="0" sz="723">
                <a:solidFill>
                  <a:srgbClr val="87E5FF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grpSp>
          <p:nvGrpSpPr>
            <p:cNvPr id="414" name="Google Shape;414;p20"/>
            <p:cNvGrpSpPr/>
            <p:nvPr/>
          </p:nvGrpSpPr>
          <p:grpSpPr>
            <a:xfrm>
              <a:off x="190500" y="685800"/>
              <a:ext cx="3619500" cy="552600"/>
              <a:chOff x="0" y="0"/>
              <a:chExt cx="3619500" cy="552600"/>
            </a:xfrm>
          </p:grpSpPr>
          <p:sp>
            <p:nvSpPr>
              <p:cNvPr id="415" name="Google Shape;415;p20"/>
              <p:cNvSpPr/>
              <p:nvPr/>
            </p:nvSpPr>
            <p:spPr>
              <a:xfrm>
                <a:off x="0" y="0"/>
                <a:ext cx="3619500" cy="552600"/>
              </a:xfrm>
              <a:prstGeom prst="roundRect">
                <a:avLst>
                  <a:gd fmla="val 10344" name="adj"/>
                </a:avLst>
              </a:prstGeom>
              <a:solidFill>
                <a:srgbClr val="080B18"/>
              </a:solidFill>
              <a:ln cap="flat" cmpd="sng" w="9525">
                <a:solidFill>
                  <a:srgbClr val="2A305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16" name="Google Shape;416;p20"/>
              <p:cNvGrpSpPr/>
              <p:nvPr/>
            </p:nvGrpSpPr>
            <p:grpSpPr>
              <a:xfrm>
                <a:off x="114300" y="95250"/>
                <a:ext cx="3352800" cy="362805"/>
                <a:chOff x="0" y="0"/>
                <a:chExt cx="3352800" cy="362805"/>
              </a:xfrm>
            </p:grpSpPr>
            <p:sp>
              <p:nvSpPr>
                <p:cNvPr id="417" name="Google Shape;417;p20"/>
                <p:cNvSpPr/>
                <p:nvPr/>
              </p:nvSpPr>
              <p:spPr>
                <a:xfrm>
                  <a:off x="0" y="0"/>
                  <a:ext cx="495300" cy="362100"/>
                </a:xfrm>
                <a:prstGeom prst="roundRect">
                  <a:avLst>
                    <a:gd fmla="val 10526" name="adj"/>
                  </a:avLst>
                </a:prstGeom>
                <a:solidFill>
                  <a:srgbClr val="10132A"/>
                </a:solidFill>
                <a:ln cap="flat" cmpd="sng" w="9525">
                  <a:solidFill>
                    <a:srgbClr val="9D6C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8" name="Google Shape;418;p20"/>
                <p:cNvSpPr txBox="1"/>
                <p:nvPr/>
              </p:nvSpPr>
              <p:spPr>
                <a:xfrm>
                  <a:off x="153467" y="116205"/>
                  <a:ext cx="188400" cy="246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110"/>
                    <a:t>🌙</a:t>
                  </a:r>
                  <a:endParaRPr sz="1110"/>
                </a:p>
              </p:txBody>
            </p:sp>
            <p:sp>
              <p:nvSpPr>
                <p:cNvPr id="419" name="Google Shape;419;p20"/>
                <p:cNvSpPr/>
                <p:nvPr/>
              </p:nvSpPr>
              <p:spPr>
                <a:xfrm>
                  <a:off x="571500" y="0"/>
                  <a:ext cx="495300" cy="362100"/>
                </a:xfrm>
                <a:prstGeom prst="roundRect">
                  <a:avLst>
                    <a:gd fmla="val 10526" name="adj"/>
                  </a:avLst>
                </a:prstGeom>
                <a:solidFill>
                  <a:srgbClr val="10132A"/>
                </a:solidFill>
                <a:ln cap="flat" cmpd="sng" w="9525">
                  <a:solidFill>
                    <a:srgbClr val="9D6C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0" name="Google Shape;420;p20"/>
                <p:cNvSpPr txBox="1"/>
                <p:nvPr/>
              </p:nvSpPr>
              <p:spPr>
                <a:xfrm>
                  <a:off x="724967" y="116205"/>
                  <a:ext cx="188400" cy="246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110"/>
                    <a:t>🎮</a:t>
                  </a:r>
                  <a:endParaRPr sz="1110"/>
                </a:p>
              </p:txBody>
            </p:sp>
            <p:sp>
              <p:nvSpPr>
                <p:cNvPr id="421" name="Google Shape;421;p20"/>
                <p:cNvSpPr/>
                <p:nvPr/>
              </p:nvSpPr>
              <p:spPr>
                <a:xfrm>
                  <a:off x="1143000" y="0"/>
                  <a:ext cx="495300" cy="362100"/>
                </a:xfrm>
                <a:prstGeom prst="roundRect">
                  <a:avLst>
                    <a:gd fmla="val 10526" name="adj"/>
                  </a:avLst>
                </a:prstGeom>
                <a:solidFill>
                  <a:srgbClr val="10132A"/>
                </a:solidFill>
                <a:ln cap="flat" cmpd="sng" w="9525">
                  <a:solidFill>
                    <a:srgbClr val="9D6C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2" name="Google Shape;422;p20"/>
                <p:cNvSpPr txBox="1"/>
                <p:nvPr/>
              </p:nvSpPr>
              <p:spPr>
                <a:xfrm>
                  <a:off x="1343558" y="116205"/>
                  <a:ext cx="94200" cy="246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570"/>
                    <a:t>⭐</a:t>
                  </a:r>
                  <a:endParaRPr sz="570"/>
                </a:p>
              </p:txBody>
            </p:sp>
            <p:sp>
              <p:nvSpPr>
                <p:cNvPr id="423" name="Google Shape;423;p20"/>
                <p:cNvSpPr/>
                <p:nvPr/>
              </p:nvSpPr>
              <p:spPr>
                <a:xfrm>
                  <a:off x="1714500" y="0"/>
                  <a:ext cx="495300" cy="362100"/>
                </a:xfrm>
                <a:prstGeom prst="roundRect">
                  <a:avLst>
                    <a:gd fmla="val 10526" name="adj"/>
                  </a:avLst>
                </a:prstGeom>
                <a:solidFill>
                  <a:srgbClr val="10132A"/>
                </a:solidFill>
                <a:ln cap="flat" cmpd="sng" w="9525">
                  <a:solidFill>
                    <a:srgbClr val="9D6C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4" name="Google Shape;424;p20"/>
                <p:cNvSpPr txBox="1"/>
                <p:nvPr/>
              </p:nvSpPr>
              <p:spPr>
                <a:xfrm>
                  <a:off x="1867967" y="116205"/>
                  <a:ext cx="188400" cy="246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110"/>
                    <a:t>🚀</a:t>
                  </a:r>
                  <a:endParaRPr sz="1110"/>
                </a:p>
              </p:txBody>
            </p:sp>
            <p:sp>
              <p:nvSpPr>
                <p:cNvPr id="425" name="Google Shape;425;p20"/>
                <p:cNvSpPr/>
                <p:nvPr/>
              </p:nvSpPr>
              <p:spPr>
                <a:xfrm>
                  <a:off x="2286000" y="0"/>
                  <a:ext cx="495300" cy="362100"/>
                </a:xfrm>
                <a:prstGeom prst="roundRect">
                  <a:avLst>
                    <a:gd fmla="val 10526" name="adj"/>
                  </a:avLst>
                </a:prstGeom>
                <a:solidFill>
                  <a:srgbClr val="10132A"/>
                </a:solidFill>
                <a:ln cap="flat" cmpd="sng" w="9525">
                  <a:solidFill>
                    <a:srgbClr val="9D6C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6" name="Google Shape;426;p20"/>
                <p:cNvSpPr txBox="1"/>
                <p:nvPr/>
              </p:nvSpPr>
              <p:spPr>
                <a:xfrm>
                  <a:off x="2439467" y="116205"/>
                  <a:ext cx="188400" cy="246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110"/>
                    <a:t>🧩</a:t>
                  </a:r>
                  <a:endParaRPr sz="1110"/>
                </a:p>
              </p:txBody>
            </p:sp>
            <p:sp>
              <p:nvSpPr>
                <p:cNvPr id="427" name="Google Shape;427;p20"/>
                <p:cNvSpPr/>
                <p:nvPr/>
              </p:nvSpPr>
              <p:spPr>
                <a:xfrm>
                  <a:off x="2857500" y="0"/>
                  <a:ext cx="495300" cy="362100"/>
                </a:xfrm>
                <a:prstGeom prst="roundRect">
                  <a:avLst>
                    <a:gd fmla="val 10526" name="adj"/>
                  </a:avLst>
                </a:prstGeom>
                <a:solidFill>
                  <a:srgbClr val="10132A"/>
                </a:solidFill>
                <a:ln cap="flat" cmpd="sng" w="9525">
                  <a:solidFill>
                    <a:srgbClr val="9D6C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8" name="Google Shape;428;p20"/>
                <p:cNvSpPr txBox="1"/>
                <p:nvPr/>
              </p:nvSpPr>
              <p:spPr>
                <a:xfrm>
                  <a:off x="3058058" y="116205"/>
                  <a:ext cx="94200" cy="246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570"/>
                    <a:t>⚡</a:t>
                  </a:r>
                  <a:endParaRPr sz="570"/>
                </a:p>
              </p:txBody>
            </p:sp>
          </p:grpSp>
        </p:grpSp>
        <p:sp>
          <p:nvSpPr>
            <p:cNvPr id="429" name="Google Shape;429;p20"/>
            <p:cNvSpPr txBox="1"/>
            <p:nvPr/>
          </p:nvSpPr>
          <p:spPr>
            <a:xfrm>
              <a:off x="190500" y="1333500"/>
              <a:ext cx="36195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D6C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• Grid:</a:t>
              </a:r>
              <a:r>
                <a:rPr b="0" lang="en" sz="11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12-card (6 emoji pairs) 3D CSS flip grid</a:t>
              </a:r>
              <a:endParaRPr b="0" sz="11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D6C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• Real-Time Tracking:</a:t>
              </a:r>
              <a:r>
                <a:rPr b="0" lang="en" sz="11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Move counter &amp; pair tracker</a:t>
              </a:r>
              <a:endParaRPr b="0" sz="11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D6C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• State Hook:</a:t>
              </a:r>
              <a:r>
                <a:rPr b="0" lang="en" sz="11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Fully integrated with </a:t>
              </a:r>
              <a:r>
                <a:rPr b="0" lang="en" sz="100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useGameStats('memory')</a:t>
              </a:r>
              <a:endParaRPr b="0" sz="11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grpSp>
          <p:nvGrpSpPr>
            <p:cNvPr id="430" name="Google Shape;430;p20"/>
            <p:cNvGrpSpPr/>
            <p:nvPr/>
          </p:nvGrpSpPr>
          <p:grpSpPr>
            <a:xfrm>
              <a:off x="190500" y="2428875"/>
              <a:ext cx="3619500" cy="1000200"/>
              <a:chOff x="0" y="0"/>
              <a:chExt cx="3619500" cy="1000200"/>
            </a:xfrm>
          </p:grpSpPr>
          <p:sp>
            <p:nvSpPr>
              <p:cNvPr id="431" name="Google Shape;431;p20"/>
              <p:cNvSpPr/>
              <p:nvPr/>
            </p:nvSpPr>
            <p:spPr>
              <a:xfrm>
                <a:off x="0" y="0"/>
                <a:ext cx="3619500" cy="1000200"/>
              </a:xfrm>
              <a:prstGeom prst="roundRect">
                <a:avLst>
                  <a:gd fmla="val 5714" name="adj"/>
                </a:avLst>
              </a:prstGeom>
              <a:solidFill>
                <a:srgbClr val="05070F"/>
              </a:solidFill>
              <a:ln cap="flat" cmpd="sng" w="9525">
                <a:solidFill>
                  <a:srgbClr val="2A305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20"/>
              <p:cNvSpPr/>
              <p:nvPr/>
            </p:nvSpPr>
            <p:spPr>
              <a:xfrm>
                <a:off x="0" y="0"/>
                <a:ext cx="3619500" cy="209700"/>
              </a:xfrm>
              <a:prstGeom prst="roundRect">
                <a:avLst>
                  <a:gd fmla="val 27272" name="adj"/>
                </a:avLst>
              </a:prstGeom>
              <a:solidFill>
                <a:srgbClr val="1013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20"/>
              <p:cNvSpPr/>
              <p:nvPr/>
            </p:nvSpPr>
            <p:spPr>
              <a:xfrm>
                <a:off x="100013" y="71438"/>
                <a:ext cx="66600" cy="66600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20"/>
              <p:cNvSpPr/>
              <p:nvPr/>
            </p:nvSpPr>
            <p:spPr>
              <a:xfrm>
                <a:off x="214313" y="71438"/>
                <a:ext cx="66600" cy="66600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20"/>
              <p:cNvSpPr/>
              <p:nvPr/>
            </p:nvSpPr>
            <p:spPr>
              <a:xfrm>
                <a:off x="328613" y="71438"/>
                <a:ext cx="66600" cy="66600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20"/>
              <p:cNvSpPr txBox="1"/>
              <p:nvPr/>
            </p:nvSpPr>
            <p:spPr>
              <a:xfrm>
                <a:off x="476250" y="19050"/>
                <a:ext cx="2952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A0AEC0"/>
                    </a:solidFill>
                    <a:latin typeface="DM Mono"/>
                    <a:ea typeface="DM Mono"/>
                    <a:cs typeface="DM Mono"/>
                    <a:sym typeface="DM Mono"/>
                  </a:rPr>
                  <a:t>efficiency_scoring_formula.js</a:t>
                </a:r>
                <a:endParaRPr b="0" sz="850">
                  <a:solidFill>
                    <a:srgbClr val="A0AEC0"/>
                  </a:solidFill>
                  <a:latin typeface="DM Mono"/>
                  <a:ea typeface="DM Mono"/>
                  <a:cs typeface="DM Mono"/>
                  <a:sym typeface="DM Mono"/>
                </a:endParaRPr>
              </a:p>
            </p:txBody>
          </p:sp>
          <p:sp>
            <p:nvSpPr>
              <p:cNvPr id="437" name="Google Shape;437;p20"/>
              <p:cNvSpPr txBox="1"/>
              <p:nvPr/>
            </p:nvSpPr>
            <p:spPr>
              <a:xfrm>
                <a:off x="142875" y="266700"/>
                <a:ext cx="33339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A0AEC0"/>
                    </a:solidFill>
                    <a:latin typeface="DM Mono"/>
                    <a:ea typeface="DM Mono"/>
                    <a:cs typeface="DM Mono"/>
                    <a:sym typeface="DM Mono"/>
                  </a:rPr>
                  <a:t>// Efficiency Scoring Formula</a:t>
                </a:r>
                <a:endParaRPr b="0" sz="1000">
                  <a:solidFill>
                    <a:srgbClr val="A0AEC0"/>
                  </a:solidFill>
                  <a:latin typeface="DM Mono"/>
                  <a:ea typeface="DM Mono"/>
                  <a:cs typeface="DM Mono"/>
                  <a:sym typeface="DM Mono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74E7A8"/>
                    </a:solidFill>
                    <a:latin typeface="DM Mono"/>
                    <a:ea typeface="DM Mono"/>
                    <a:cs typeface="DM Mono"/>
                    <a:sym typeface="DM Mono"/>
                  </a:rPr>
                  <a:t>streak = max(1, 13 - moves)</a:t>
                </a:r>
                <a:endParaRPr b="0" sz="100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3C96D"/>
                    </a:solidFill>
                    <a:latin typeface="DM Mono"/>
                    <a:ea typeface="DM Mono"/>
                    <a:cs typeface="DM Mono"/>
                    <a:sym typeface="DM Mono"/>
                  </a:rPr>
                  <a:t>score = streak * 50</a:t>
                </a:r>
                <a:endParaRPr b="0" sz="1000">
                  <a:solidFill>
                    <a:srgbClr val="F3C96D"/>
                  </a:solidFill>
                  <a:latin typeface="DM Mono"/>
                  <a:ea typeface="DM Mono"/>
                  <a:cs typeface="DM Mono"/>
                  <a:sym typeface="DM Mono"/>
                </a:endParaRPr>
              </a:p>
            </p:txBody>
          </p:sp>
        </p:grpSp>
      </p:grpSp>
      <p:grpSp>
        <p:nvGrpSpPr>
          <p:cNvPr id="438" name="Google Shape;438;p20"/>
          <p:cNvGrpSpPr/>
          <p:nvPr/>
        </p:nvGrpSpPr>
        <p:grpSpPr>
          <a:xfrm>
            <a:off x="4572000" y="1095375"/>
            <a:ext cx="4191000" cy="3571800"/>
            <a:chOff x="0" y="0"/>
            <a:chExt cx="4191000" cy="3571800"/>
          </a:xfrm>
        </p:grpSpPr>
        <p:sp>
          <p:nvSpPr>
            <p:cNvPr id="439" name="Google Shape;439;p20"/>
            <p:cNvSpPr/>
            <p:nvPr/>
          </p:nvSpPr>
          <p:spPr>
            <a:xfrm>
              <a:off x="0" y="0"/>
              <a:ext cx="4191000" cy="3571800"/>
            </a:xfrm>
            <a:prstGeom prst="roundRect">
              <a:avLst>
                <a:gd fmla="val 2133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0"/>
            <p:cNvSpPr/>
            <p:nvPr/>
          </p:nvSpPr>
          <p:spPr>
            <a:xfrm>
              <a:off x="0" y="0"/>
              <a:ext cx="4191000" cy="38100"/>
            </a:xfrm>
            <a:prstGeom prst="roundRect">
              <a:avLst>
                <a:gd fmla="val 50000" name="adj"/>
              </a:avLst>
            </a:prstGeom>
            <a:solidFill>
              <a:srgbClr val="87E5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1" name="Google Shape;441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7625" y="85725"/>
              <a:ext cx="85800" cy="85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2" name="Google Shape;442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4057575" y="85725"/>
              <a:ext cx="85800" cy="85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3" name="Google Shape;443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 rot="10800000">
              <a:off x="47625" y="3400350"/>
              <a:ext cx="85800" cy="85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4" name="Google Shape;444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10800000">
              <a:off x="4057575" y="3400350"/>
              <a:ext cx="85800" cy="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20"/>
            <p:cNvSpPr txBox="1"/>
            <p:nvPr/>
          </p:nvSpPr>
          <p:spPr>
            <a:xfrm>
              <a:off x="190500" y="152400"/>
              <a:ext cx="3810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65">
                  <a:solidFill>
                    <a:srgbClr val="87E5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MAJOR OVERHAUL</a:t>
              </a:r>
              <a:endParaRPr b="0" sz="765">
                <a:solidFill>
                  <a:srgbClr val="87E5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105">
                  <a:solidFill>
                    <a:srgbClr val="FFFFFF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Type Sprint v2.0 Engine</a:t>
              </a:r>
              <a:endParaRPr b="0" sz="1105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l">
                <a:spcBef>
                  <a:spcPts val="75"/>
                </a:spcBef>
                <a:spcAft>
                  <a:spcPts val="0"/>
                </a:spcAft>
                <a:buNone/>
              </a:pPr>
              <a:r>
                <a:rPr b="0" lang="en" sz="723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/learning/typesprint — TypeSprint.jsx (425 lines)</a:t>
              </a:r>
              <a:endParaRPr b="0" sz="723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grpSp>
          <p:nvGrpSpPr>
            <p:cNvPr id="446" name="Google Shape;446;p20"/>
            <p:cNvGrpSpPr/>
            <p:nvPr/>
          </p:nvGrpSpPr>
          <p:grpSpPr>
            <a:xfrm>
              <a:off x="190500" y="647700"/>
              <a:ext cx="3810000" cy="495300"/>
              <a:chOff x="0" y="0"/>
              <a:chExt cx="3810000" cy="495300"/>
            </a:xfrm>
          </p:grpSpPr>
          <p:sp>
            <p:nvSpPr>
              <p:cNvPr id="447" name="Google Shape;447;p20"/>
              <p:cNvSpPr/>
              <p:nvPr/>
            </p:nvSpPr>
            <p:spPr>
              <a:xfrm>
                <a:off x="0" y="0"/>
                <a:ext cx="3810000" cy="495300"/>
              </a:xfrm>
              <a:prstGeom prst="roundRect">
                <a:avLst>
                  <a:gd fmla="val 11538" name="adj"/>
                </a:avLst>
              </a:prstGeom>
              <a:solidFill>
                <a:srgbClr val="080B18"/>
              </a:solidFill>
              <a:ln cap="flat" cmpd="sng" w="9525">
                <a:solidFill>
                  <a:srgbClr val="2A305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20"/>
              <p:cNvSpPr txBox="1"/>
              <p:nvPr/>
            </p:nvSpPr>
            <p:spPr>
              <a:xfrm>
                <a:off x="114300" y="57150"/>
                <a:ext cx="3581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0">
                    <a:solidFill>
                      <a:srgbClr val="F3C96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4 THEMED WORD BANKS (24+ WORDS + INFINITE STREAM)</a:t>
                </a:r>
                <a:endParaRPr b="0" sz="800">
                  <a:solidFill>
                    <a:srgbClr val="F3C96D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FFFFFF"/>
                    </a:solidFill>
                    <a:latin typeface="Outfit"/>
                    <a:ea typeface="Outfit"/>
                    <a:cs typeface="Outfit"/>
                    <a:sym typeface="Outfit"/>
                  </a:rPr>
                  <a:t>🌌 Cosmos 💻 Code &amp; Tech ⚡ Speed 🏛️ Challenge</a:t>
                </a:r>
                <a:endParaRPr b="0" sz="95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grpSp>
          <p:nvGrpSpPr>
            <p:cNvPr id="449" name="Google Shape;449;p20"/>
            <p:cNvGrpSpPr/>
            <p:nvPr/>
          </p:nvGrpSpPr>
          <p:grpSpPr>
            <a:xfrm>
              <a:off x="190500" y="1219200"/>
              <a:ext cx="3810000" cy="571500"/>
              <a:chOff x="0" y="0"/>
              <a:chExt cx="3810000" cy="571500"/>
            </a:xfrm>
          </p:grpSpPr>
          <p:sp>
            <p:nvSpPr>
              <p:cNvPr id="450" name="Google Shape;450;p20"/>
              <p:cNvSpPr/>
              <p:nvPr/>
            </p:nvSpPr>
            <p:spPr>
              <a:xfrm>
                <a:off x="0" y="0"/>
                <a:ext cx="1828800" cy="571500"/>
              </a:xfrm>
              <a:prstGeom prst="roundRect">
                <a:avLst>
                  <a:gd fmla="val 10000" name="adj"/>
                </a:avLst>
              </a:prstGeom>
              <a:solidFill>
                <a:srgbClr val="080B18"/>
              </a:solidFill>
              <a:ln cap="flat" cmpd="sng" w="9525">
                <a:solidFill>
                  <a:srgbClr val="2A305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20"/>
              <p:cNvSpPr txBox="1"/>
              <p:nvPr/>
            </p:nvSpPr>
            <p:spPr>
              <a:xfrm>
                <a:off x="95250" y="76200"/>
                <a:ext cx="16383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40">
                    <a:solidFill>
                      <a:srgbClr val="87E5FF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TIME DURATIONS</a:t>
                </a:r>
                <a:endParaRPr b="0" sz="740">
                  <a:solidFill>
                    <a:srgbClr val="87E5FF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0" lang="en" sz="1018">
                    <a:solidFill>
                      <a:srgbClr val="FFFFFF"/>
                    </a:solidFill>
                    <a:latin typeface="Outfit Medium"/>
                    <a:ea typeface="Outfit Medium"/>
                    <a:cs typeface="Outfit Medium"/>
                    <a:sym typeface="Outfit Medium"/>
                  </a:rPr>
                  <a:t>15s • 30s • 60s</a:t>
                </a:r>
                <a:endParaRPr b="0" sz="1018">
                  <a:solidFill>
                    <a:srgbClr val="FFFFFF"/>
                  </a:solidFill>
                  <a:latin typeface="Outfit Medium"/>
                  <a:ea typeface="Outfit Medium"/>
                  <a:cs typeface="Outfit Medium"/>
                  <a:sym typeface="Outfit Medium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86">
                    <a:solidFill>
                      <a:srgbClr val="A0AEC0"/>
                    </a:solidFill>
                    <a:latin typeface="Outfit"/>
                    <a:ea typeface="Outfit"/>
                    <a:cs typeface="Outfit"/>
                    <a:sym typeface="Outfit"/>
                  </a:rPr>
                  <a:t>Selectable modes</a:t>
                </a:r>
                <a:endParaRPr b="0" sz="786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452" name="Google Shape;452;p20"/>
              <p:cNvSpPr/>
              <p:nvPr/>
            </p:nvSpPr>
            <p:spPr>
              <a:xfrm>
                <a:off x="1981200" y="0"/>
                <a:ext cx="1828800" cy="571500"/>
              </a:xfrm>
              <a:prstGeom prst="roundRect">
                <a:avLst>
                  <a:gd fmla="val 10000" name="adj"/>
                </a:avLst>
              </a:prstGeom>
              <a:solidFill>
                <a:srgbClr val="080B18"/>
              </a:solidFill>
              <a:ln cap="flat" cmpd="sng" w="9525">
                <a:solidFill>
                  <a:srgbClr val="2A305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" name="Google Shape;453;p20"/>
              <p:cNvSpPr txBox="1"/>
              <p:nvPr/>
            </p:nvSpPr>
            <p:spPr>
              <a:xfrm>
                <a:off x="2076450" y="76200"/>
                <a:ext cx="16383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40">
                    <a:solidFill>
                      <a:srgbClr val="74E7A8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WPM METRICS</a:t>
                </a:r>
                <a:endParaRPr b="0" sz="740">
                  <a:solidFill>
                    <a:srgbClr val="74E7A8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0" lang="en" sz="1018">
                    <a:solidFill>
                      <a:srgbClr val="FFFFFF"/>
                    </a:solidFill>
                    <a:latin typeface="Outfit Medium"/>
                    <a:ea typeface="Outfit Medium"/>
                    <a:cs typeface="Outfit Medium"/>
                    <a:sym typeface="Outfit Medium"/>
                  </a:rPr>
                  <a:t>Live Net vs Raw</a:t>
                </a:r>
                <a:endParaRPr b="0" sz="1018">
                  <a:solidFill>
                    <a:srgbClr val="FFFFFF"/>
                  </a:solidFill>
                  <a:latin typeface="Outfit Medium"/>
                  <a:ea typeface="Outfit Medium"/>
                  <a:cs typeface="Outfit Medium"/>
                  <a:sym typeface="Outfit Medium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86">
                    <a:solidFill>
                      <a:srgbClr val="A0AEC0"/>
                    </a:solidFill>
                    <a:latin typeface="Outfit"/>
                    <a:ea typeface="Outfit"/>
                    <a:cs typeface="Outfit"/>
                    <a:sym typeface="Outfit"/>
                  </a:rPr>
                  <a:t>Real-time calculation</a:t>
                </a:r>
                <a:endParaRPr b="0" sz="786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grpSp>
          <p:nvGrpSpPr>
            <p:cNvPr id="454" name="Google Shape;454;p20"/>
            <p:cNvGrpSpPr/>
            <p:nvPr/>
          </p:nvGrpSpPr>
          <p:grpSpPr>
            <a:xfrm>
              <a:off x="185738" y="1862138"/>
              <a:ext cx="3819600" cy="466800"/>
              <a:chOff x="-4762" y="-4762"/>
              <a:chExt cx="3819600" cy="466800"/>
            </a:xfrm>
          </p:grpSpPr>
          <p:pic>
            <p:nvPicPr>
              <p:cNvPr id="455" name="Google Shape;455;p20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-4762" y="-4762"/>
                <a:ext cx="3819600" cy="466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56" name="Google Shape;456;p20"/>
              <p:cNvSpPr txBox="1"/>
              <p:nvPr/>
            </p:nvSpPr>
            <p:spPr>
              <a:xfrm>
                <a:off x="114300" y="57150"/>
                <a:ext cx="35814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40">
                    <a:solidFill>
                      <a:srgbClr val="9D6CFF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DYNAMIC COMBO MULTIPLIERS</a:t>
                </a:r>
                <a:endParaRPr b="0" sz="740">
                  <a:solidFill>
                    <a:srgbClr val="9D6CFF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879">
                    <a:solidFill>
                      <a:srgbClr val="F3C96D"/>
                    </a:solidFill>
                    <a:latin typeface="DM Mono"/>
                    <a:ea typeface="DM Mono"/>
                    <a:cs typeface="DM Mono"/>
                    <a:sym typeface="DM Mono"/>
                  </a:rPr>
                  <a:t>1.5x</a:t>
                </a:r>
                <a:r>
                  <a:rPr b="0" lang="en" sz="879">
                    <a:solidFill>
                      <a:srgbClr val="FFFFFF"/>
                    </a:solidFill>
                    <a:latin typeface="DM Mono"/>
                    <a:ea typeface="DM Mono"/>
                    <a:cs typeface="DM Mono"/>
                    <a:sym typeface="DM Mono"/>
                  </a:rPr>
                  <a:t> @ 5 streak </a:t>
                </a:r>
                <a:r>
                  <a:rPr b="0" lang="en" sz="879">
                    <a:solidFill>
                      <a:srgbClr val="9D6CFF"/>
                    </a:solidFill>
                    <a:latin typeface="DM Mono"/>
                    <a:ea typeface="DM Mono"/>
                    <a:cs typeface="DM Mono"/>
                    <a:sym typeface="DM Mono"/>
                  </a:rPr>
                  <a:t>|</a:t>
                </a:r>
                <a:r>
                  <a:rPr b="0" lang="en" sz="879">
                    <a:solidFill>
                      <a:srgbClr val="FFFFFF"/>
                    </a:solidFill>
                    <a:latin typeface="DM Mono"/>
                    <a:ea typeface="DM Mono"/>
                    <a:cs typeface="DM Mono"/>
                    <a:sym typeface="DM Mono"/>
                  </a:rPr>
                  <a:t> </a:t>
                </a:r>
                <a:r>
                  <a:rPr b="0" lang="en" sz="879">
                    <a:solidFill>
                      <a:srgbClr val="F3C96D"/>
                    </a:solidFill>
                    <a:latin typeface="DM Mono"/>
                    <a:ea typeface="DM Mono"/>
                    <a:cs typeface="DM Mono"/>
                    <a:sym typeface="DM Mono"/>
                  </a:rPr>
                  <a:t>2.0x</a:t>
                </a:r>
                <a:r>
                  <a:rPr b="0" lang="en" sz="879">
                    <a:solidFill>
                      <a:srgbClr val="FFFFFF"/>
                    </a:solidFill>
                    <a:latin typeface="DM Mono"/>
                    <a:ea typeface="DM Mono"/>
                    <a:cs typeface="DM Mono"/>
                    <a:sym typeface="DM Mono"/>
                  </a:rPr>
                  <a:t> @ 10 streak </a:t>
                </a:r>
                <a:r>
                  <a:rPr b="0" lang="en" sz="879">
                    <a:solidFill>
                      <a:srgbClr val="9D6CFF"/>
                    </a:solidFill>
                    <a:latin typeface="DM Mono"/>
                    <a:ea typeface="DM Mono"/>
                    <a:cs typeface="DM Mono"/>
                    <a:sym typeface="DM Mono"/>
                  </a:rPr>
                  <a:t>|</a:t>
                </a:r>
                <a:r>
                  <a:rPr b="0" lang="en" sz="879">
                    <a:solidFill>
                      <a:srgbClr val="FFFFFF"/>
                    </a:solidFill>
                    <a:latin typeface="DM Mono"/>
                    <a:ea typeface="DM Mono"/>
                    <a:cs typeface="DM Mono"/>
                    <a:sym typeface="DM Mono"/>
                  </a:rPr>
                  <a:t> </a:t>
                </a:r>
                <a:r>
                  <a:rPr b="0" lang="en" sz="879">
                    <a:solidFill>
                      <a:srgbClr val="F3C96D"/>
                    </a:solidFill>
                    <a:latin typeface="DM Mono"/>
                    <a:ea typeface="DM Mono"/>
                    <a:cs typeface="DM Mono"/>
                    <a:sym typeface="DM Mono"/>
                  </a:rPr>
                  <a:t>3.0x</a:t>
                </a:r>
                <a:r>
                  <a:rPr b="0" lang="en" sz="879">
                    <a:solidFill>
                      <a:srgbClr val="FFFFFF"/>
                    </a:solidFill>
                    <a:latin typeface="DM Mono"/>
                    <a:ea typeface="DM Mono"/>
                    <a:cs typeface="DM Mono"/>
                    <a:sym typeface="DM Mono"/>
                  </a:rPr>
                  <a:t> @ 20 streak</a:t>
                </a:r>
                <a:endParaRPr b="0" sz="879">
                  <a:solidFill>
                    <a:srgbClr val="FFFFFF"/>
                  </a:solidFill>
                  <a:latin typeface="DM Mono"/>
                  <a:ea typeface="DM Mono"/>
                  <a:cs typeface="DM Mono"/>
                  <a:sym typeface="DM Mono"/>
                </a:endParaRPr>
              </a:p>
            </p:txBody>
          </p:sp>
        </p:grpSp>
        <p:grpSp>
          <p:nvGrpSpPr>
            <p:cNvPr id="457" name="Google Shape;457;p20"/>
            <p:cNvGrpSpPr/>
            <p:nvPr/>
          </p:nvGrpSpPr>
          <p:grpSpPr>
            <a:xfrm>
              <a:off x="190500" y="2400300"/>
              <a:ext cx="3810000" cy="1028700"/>
              <a:chOff x="0" y="0"/>
              <a:chExt cx="3810000" cy="1028700"/>
            </a:xfrm>
          </p:grpSpPr>
          <p:sp>
            <p:nvSpPr>
              <p:cNvPr id="458" name="Google Shape;458;p20"/>
              <p:cNvSpPr/>
              <p:nvPr/>
            </p:nvSpPr>
            <p:spPr>
              <a:xfrm>
                <a:off x="0" y="0"/>
                <a:ext cx="3810000" cy="1028700"/>
              </a:xfrm>
              <a:prstGeom prst="roundRect">
                <a:avLst>
                  <a:gd fmla="val 5555" name="adj"/>
                </a:avLst>
              </a:prstGeom>
              <a:solidFill>
                <a:srgbClr val="05070F"/>
              </a:solidFill>
              <a:ln cap="flat" cmpd="sng" w="9525">
                <a:solidFill>
                  <a:srgbClr val="2A305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20"/>
              <p:cNvSpPr txBox="1"/>
              <p:nvPr/>
            </p:nvSpPr>
            <p:spPr>
              <a:xfrm>
                <a:off x="114300" y="76200"/>
                <a:ext cx="3581400" cy="87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0">
                    <a:solidFill>
                      <a:srgbClr val="F3C96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PROGRESSION UI &amp; RANK BADGES</a:t>
                </a:r>
                <a:endParaRPr b="0" sz="800">
                  <a:solidFill>
                    <a:srgbClr val="F3C96D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A0AEC0"/>
                    </a:solidFill>
                    <a:latin typeface="Outfit"/>
                    <a:ea typeface="Outfit"/>
                    <a:cs typeface="Outfit"/>
                    <a:sym typeface="Outfit"/>
                  </a:rPr>
                  <a:t>Includes word history chips &amp; "Up Next" queue stream</a:t>
                </a:r>
                <a:endParaRPr b="0" sz="9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F3C96D"/>
                    </a:solidFill>
                    <a:latin typeface="Outfit"/>
                    <a:ea typeface="Outfit"/>
                    <a:cs typeface="Outfit"/>
                    <a:sym typeface="Outfit"/>
                  </a:rPr>
                  <a:t>👑 Cosmic Grandmaster</a:t>
                </a:r>
                <a:r>
                  <a:rPr b="0" lang="en" sz="850">
                    <a:solidFill>
                      <a:srgbClr val="A0AEC0"/>
                    </a:solidFill>
                    <a:latin typeface="Outfit"/>
                    <a:ea typeface="Outfit"/>
                    <a:cs typeface="Outfit"/>
                    <a:sym typeface="Outfit"/>
                  </a:rPr>
                  <a:t> </a:t>
                </a:r>
                <a:r>
                  <a:rPr b="0" lang="en" sz="850">
                    <a:solidFill>
                      <a:srgbClr val="87E5FF"/>
                    </a:solidFill>
                    <a:latin typeface="Outfit"/>
                    <a:ea typeface="Outfit"/>
                    <a:cs typeface="Outfit"/>
                    <a:sym typeface="Outfit"/>
                  </a:rPr>
                  <a:t>⚡ Cyber Sprinter</a:t>
                </a:r>
                <a:endParaRPr b="0" sz="8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9D6CFF"/>
                    </a:solidFill>
                    <a:latin typeface="Outfit"/>
                    <a:ea typeface="Outfit"/>
                    <a:cs typeface="Outfit"/>
                    <a:sym typeface="Outfit"/>
                  </a:rPr>
                  <a:t>🧭 Star Navigator</a:t>
                </a:r>
                <a:r>
                  <a:rPr b="0" lang="en" sz="850">
                    <a:solidFill>
                      <a:srgbClr val="A0AEC0"/>
                    </a:solidFill>
                    <a:latin typeface="Outfit"/>
                    <a:ea typeface="Outfit"/>
                    <a:cs typeface="Outfit"/>
                    <a:sym typeface="Outfit"/>
                  </a:rPr>
                  <a:t> 🌙 Night Cadet</a:t>
                </a:r>
                <a:endParaRPr b="0" sz="8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</p:grpSp>
      <p:sp>
        <p:nvSpPr>
          <p:cNvPr id="460" name="Google Shape;460;p20"/>
          <p:cNvSpPr txBox="1"/>
          <p:nvPr/>
        </p:nvSpPr>
        <p:spPr>
          <a:xfrm>
            <a:off x="381000" y="478155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23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rPr>
              <a:t>NIGHT HOURS ARCHITECTURE // ZONE 1 LEARNING</a:t>
            </a:r>
            <a:r>
              <a:rPr lang="en" sz="1190"/>
              <a:t> </a:t>
            </a:r>
            <a:r>
              <a:rPr b="0" lang="en" sz="723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rPr>
              <a:t>v2.0 UPDATE COMPLETE</a:t>
            </a:r>
            <a:endParaRPr sz="119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B18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0132A">
                  <a:alpha val="89804"/>
                </a:srgbClr>
              </a:gs>
              <a:gs pos="100000">
                <a:srgbClr val="080B18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6" name="Google Shape;46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7" name="Google Shape;467;p21"/>
          <p:cNvGrpSpPr/>
          <p:nvPr/>
        </p:nvGrpSpPr>
        <p:grpSpPr>
          <a:xfrm>
            <a:off x="381000" y="238125"/>
            <a:ext cx="8382150" cy="714300"/>
            <a:chOff x="0" y="0"/>
            <a:chExt cx="8382150" cy="714300"/>
          </a:xfrm>
        </p:grpSpPr>
        <p:grpSp>
          <p:nvGrpSpPr>
            <p:cNvPr id="468" name="Google Shape;468;p21"/>
            <p:cNvGrpSpPr/>
            <p:nvPr/>
          </p:nvGrpSpPr>
          <p:grpSpPr>
            <a:xfrm>
              <a:off x="0" y="19050"/>
              <a:ext cx="381000" cy="381000"/>
              <a:chOff x="0" y="0"/>
              <a:chExt cx="381000" cy="381000"/>
            </a:xfrm>
          </p:grpSpPr>
          <p:sp>
            <p:nvSpPr>
              <p:cNvPr id="469" name="Google Shape;469;p21"/>
              <p:cNvSpPr/>
              <p:nvPr/>
            </p:nvSpPr>
            <p:spPr>
              <a:xfrm>
                <a:off x="0" y="0"/>
                <a:ext cx="381000" cy="3810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lnTo>
                      <a:pt x="120000" y="30000"/>
                    </a:lnTo>
                    <a:lnTo>
                      <a:pt x="120000" y="90000"/>
                    </a:lnTo>
                    <a:lnTo>
                      <a:pt x="60000" y="120000"/>
                    </a:lnTo>
                    <a:lnTo>
                      <a:pt x="0" y="90000"/>
                    </a:lnTo>
                    <a:lnTo>
                      <a:pt x="0" y="300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9D6C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" name="Google Shape;470;p21"/>
              <p:cNvSpPr/>
              <p:nvPr/>
            </p:nvSpPr>
            <p:spPr>
              <a:xfrm>
                <a:off x="38100" y="38100"/>
                <a:ext cx="304800" cy="3048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lnTo>
                      <a:pt x="120000" y="30000"/>
                    </a:lnTo>
                    <a:lnTo>
                      <a:pt x="120000" y="90000"/>
                    </a:lnTo>
                    <a:lnTo>
                      <a:pt x="60000" y="120000"/>
                    </a:lnTo>
                    <a:lnTo>
                      <a:pt x="0" y="90000"/>
                    </a:lnTo>
                    <a:lnTo>
                      <a:pt x="0" y="30000"/>
                    </a:lnTo>
                    <a:close/>
                  </a:path>
                </a:pathLst>
              </a:custGeom>
              <a:solidFill>
                <a:srgbClr val="10132A"/>
              </a:solidFill>
              <a:ln cap="flat" cmpd="sng" w="9525">
                <a:solidFill>
                  <a:srgbClr val="87E5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21"/>
              <p:cNvSpPr/>
              <p:nvPr/>
            </p:nvSpPr>
            <p:spPr>
              <a:xfrm>
                <a:off x="114300" y="142875"/>
                <a:ext cx="152400" cy="95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120000"/>
                    </a:lnTo>
                    <a:moveTo>
                      <a:pt x="0" y="0"/>
                    </a:moveTo>
                    <a:lnTo>
                      <a:pt x="60000" y="120000"/>
                    </a:lnTo>
                    <a:moveTo>
                      <a:pt x="60000" y="0"/>
                    </a:moveTo>
                    <a:lnTo>
                      <a:pt x="60000" y="120000"/>
                    </a:lnTo>
                    <a:moveTo>
                      <a:pt x="120000" y="0"/>
                    </a:moveTo>
                    <a:lnTo>
                      <a:pt x="120000" y="120000"/>
                    </a:lnTo>
                    <a:moveTo>
                      <a:pt x="82500" y="60000"/>
                    </a:moveTo>
                    <a:lnTo>
                      <a:pt x="120000" y="6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72" name="Google Shape;472;p21"/>
            <p:cNvSpPr txBox="1"/>
            <p:nvPr/>
          </p:nvSpPr>
          <p:spPr>
            <a:xfrm>
              <a:off x="476250" y="0"/>
              <a:ext cx="7905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Zone 1 (Learning Hours): Math Quest v2.0 Deep Upgrade</a:t>
              </a:r>
              <a:endParaRPr b="1" sz="20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/learning/mathquest — MathQuest.jsx expanded to 480+ lines</a:t>
              </a:r>
              <a:endParaRPr b="0" sz="100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</p:grpSp>
      <p:cxnSp>
        <p:nvCxnSpPr>
          <p:cNvPr id="473" name="Google Shape;473;p21"/>
          <p:cNvCxnSpPr/>
          <p:nvPr/>
        </p:nvCxnSpPr>
        <p:spPr>
          <a:xfrm>
            <a:off x="381000" y="1000125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74" name="Google Shape;474;p21"/>
          <p:cNvGrpSpPr/>
          <p:nvPr/>
        </p:nvGrpSpPr>
        <p:grpSpPr>
          <a:xfrm>
            <a:off x="381000" y="1162050"/>
            <a:ext cx="2667000" cy="3429000"/>
            <a:chOff x="0" y="0"/>
            <a:chExt cx="2667000" cy="3429000"/>
          </a:xfrm>
        </p:grpSpPr>
        <p:sp>
          <p:nvSpPr>
            <p:cNvPr id="475" name="Google Shape;475;p21"/>
            <p:cNvSpPr/>
            <p:nvPr/>
          </p:nvSpPr>
          <p:spPr>
            <a:xfrm>
              <a:off x="0" y="0"/>
              <a:ext cx="2667000" cy="3429000"/>
            </a:xfrm>
            <a:prstGeom prst="roundRect">
              <a:avLst>
                <a:gd fmla="val 2142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1"/>
            <p:cNvSpPr/>
            <p:nvPr/>
          </p:nvSpPr>
          <p:spPr>
            <a:xfrm>
              <a:off x="0" y="0"/>
              <a:ext cx="2667000" cy="38100"/>
            </a:xfrm>
            <a:prstGeom prst="roundRect">
              <a:avLst>
                <a:gd fmla="val 50000" name="adj"/>
              </a:avLst>
            </a:prstGeom>
            <a:solidFill>
              <a:srgbClr val="9D6C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21"/>
            <p:cNvSpPr txBox="1"/>
            <p:nvPr/>
          </p:nvSpPr>
          <p:spPr>
            <a:xfrm>
              <a:off x="171450" y="152400"/>
              <a:ext cx="2324100" cy="312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9D6C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DIFFICULTY TIERS</a:t>
              </a:r>
              <a:endParaRPr b="0" sz="900">
                <a:solidFill>
                  <a:srgbClr val="9D6C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FFFFF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4 Progressive Tiers</a:t>
              </a:r>
              <a:endParaRPr b="0" sz="13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FFFF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Level 1 🌱 Cadet</a:t>
              </a:r>
              <a:endParaRPr b="0" sz="950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Addition &amp; Subtraction (+, -)</a:t>
              </a:r>
              <a:endParaRPr b="0" sz="85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F3C96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10 BASE PTS</a:t>
              </a:r>
              <a:endParaRPr b="0" sz="800">
                <a:solidFill>
                  <a:srgbClr val="F3C96D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FFFF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Level 2 ⚡ Navigator</a:t>
              </a:r>
              <a:endParaRPr b="0" sz="950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Add, Subtract, Multiply (+, -, ×)</a:t>
              </a:r>
              <a:endParaRPr b="0" sz="85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F3C96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20 BASE PTS</a:t>
              </a:r>
              <a:endParaRPr b="0" sz="800">
                <a:solidFill>
                  <a:srgbClr val="F3C96D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FFFF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Level 3 🔥 Commander</a:t>
              </a:r>
              <a:endParaRPr b="0" sz="950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Add, Subtract, Multiply, Divide (+, -, ×, ÷)</a:t>
              </a:r>
              <a:endParaRPr b="0" sz="85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F3C96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30 BASE PTS</a:t>
              </a:r>
              <a:endParaRPr b="0" sz="800">
                <a:solidFill>
                  <a:srgbClr val="F3C96D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FFFF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Level 4 🌌 Grandmaster</a:t>
              </a:r>
              <a:endParaRPr b="0" sz="950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Adds Squares (²) to all operators (+, -, ×, ÷, ²)</a:t>
              </a:r>
              <a:endParaRPr b="0" sz="85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F3C96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45 BASE PTS</a:t>
              </a:r>
              <a:endParaRPr b="0" sz="800">
                <a:solidFill>
                  <a:srgbClr val="F3C96D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</p:grpSp>
      <p:grpSp>
        <p:nvGrpSpPr>
          <p:cNvPr id="478" name="Google Shape;478;p21"/>
          <p:cNvGrpSpPr/>
          <p:nvPr/>
        </p:nvGrpSpPr>
        <p:grpSpPr>
          <a:xfrm>
            <a:off x="3238500" y="1162050"/>
            <a:ext cx="2667000" cy="1619100"/>
            <a:chOff x="0" y="0"/>
            <a:chExt cx="2667000" cy="1619100"/>
          </a:xfrm>
        </p:grpSpPr>
        <p:sp>
          <p:nvSpPr>
            <p:cNvPr id="479" name="Google Shape;479;p21"/>
            <p:cNvSpPr/>
            <p:nvPr/>
          </p:nvSpPr>
          <p:spPr>
            <a:xfrm>
              <a:off x="0" y="0"/>
              <a:ext cx="2667000" cy="1619100"/>
            </a:xfrm>
            <a:prstGeom prst="roundRect">
              <a:avLst>
                <a:gd fmla="val 3529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1"/>
            <p:cNvSpPr/>
            <p:nvPr/>
          </p:nvSpPr>
          <p:spPr>
            <a:xfrm>
              <a:off x="0" y="0"/>
              <a:ext cx="2667000" cy="38100"/>
            </a:xfrm>
            <a:prstGeom prst="roundRect">
              <a:avLst>
                <a:gd fmla="val 50000" name="adj"/>
              </a:avLst>
            </a:prstGeom>
            <a:solidFill>
              <a:srgbClr val="87E5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1"/>
            <p:cNvSpPr txBox="1"/>
            <p:nvPr/>
          </p:nvSpPr>
          <p:spPr>
            <a:xfrm>
              <a:off x="171450" y="133350"/>
              <a:ext cx="2324100" cy="135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87E5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GAME MODES</a:t>
              </a:r>
              <a:endParaRPr b="0" sz="900">
                <a:solidFill>
                  <a:srgbClr val="87E5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FFFFF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3 Selectable Modes</a:t>
              </a:r>
              <a:endParaRPr b="0" sz="13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FFFFFF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⚡ 60s Blitz</a:t>
              </a:r>
              <a:endParaRPr b="0" sz="95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FFFFFF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🛡️ 120s Marathon</a:t>
              </a:r>
              <a:endParaRPr b="0" sz="95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FFFFFF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❤️ 3-Life Survival</a:t>
              </a:r>
              <a:endParaRPr b="0" sz="95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endParaRPr>
            </a:p>
          </p:txBody>
        </p:sp>
      </p:grpSp>
      <p:grpSp>
        <p:nvGrpSpPr>
          <p:cNvPr id="482" name="Google Shape;482;p21"/>
          <p:cNvGrpSpPr/>
          <p:nvPr/>
        </p:nvGrpSpPr>
        <p:grpSpPr>
          <a:xfrm>
            <a:off x="3238500" y="2905125"/>
            <a:ext cx="2667000" cy="1686000"/>
            <a:chOff x="0" y="0"/>
            <a:chExt cx="2667000" cy="1686000"/>
          </a:xfrm>
        </p:grpSpPr>
        <p:sp>
          <p:nvSpPr>
            <p:cNvPr id="483" name="Google Shape;483;p21"/>
            <p:cNvSpPr/>
            <p:nvPr/>
          </p:nvSpPr>
          <p:spPr>
            <a:xfrm>
              <a:off x="0" y="0"/>
              <a:ext cx="2667000" cy="1686000"/>
            </a:xfrm>
            <a:prstGeom prst="roundRect">
              <a:avLst>
                <a:gd fmla="val 3389" name="adj"/>
              </a:avLst>
            </a:prstGeom>
            <a:solidFill>
              <a:srgbClr val="05070F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21"/>
            <p:cNvSpPr/>
            <p:nvPr/>
          </p:nvSpPr>
          <p:spPr>
            <a:xfrm>
              <a:off x="0" y="0"/>
              <a:ext cx="2667000" cy="209700"/>
            </a:xfrm>
            <a:prstGeom prst="roundRect">
              <a:avLst>
                <a:gd fmla="val 27272" name="adj"/>
              </a:avLst>
            </a:prstGeom>
            <a:solidFill>
              <a:srgbClr val="1013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21"/>
            <p:cNvSpPr/>
            <p:nvPr/>
          </p:nvSpPr>
          <p:spPr>
            <a:xfrm>
              <a:off x="100013" y="71438"/>
              <a:ext cx="66600" cy="666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1"/>
            <p:cNvSpPr/>
            <p:nvPr/>
          </p:nvSpPr>
          <p:spPr>
            <a:xfrm>
              <a:off x="214313" y="71438"/>
              <a:ext cx="66600" cy="666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21"/>
            <p:cNvSpPr/>
            <p:nvPr/>
          </p:nvSpPr>
          <p:spPr>
            <a:xfrm>
              <a:off x="328613" y="71438"/>
              <a:ext cx="66600" cy="666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21"/>
            <p:cNvSpPr txBox="1"/>
            <p:nvPr/>
          </p:nvSpPr>
          <p:spPr>
            <a:xfrm>
              <a:off x="476250" y="19050"/>
              <a:ext cx="20955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A0AEC0"/>
                  </a:solidFill>
                  <a:latin typeface="DM Mono"/>
                  <a:ea typeface="DM Mono"/>
                  <a:cs typeface="DM Mono"/>
                  <a:sym typeface="DM Mono"/>
                </a:rPr>
                <a:t>MathQuest.jsx</a:t>
              </a:r>
              <a:endParaRPr b="0" sz="85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sp>
          <p:nvSpPr>
            <p:cNvPr id="489" name="Google Shape;489;p21"/>
            <p:cNvSpPr txBox="1"/>
            <p:nvPr/>
          </p:nvSpPr>
          <p:spPr>
            <a:xfrm>
              <a:off x="152400" y="285750"/>
              <a:ext cx="2362200" cy="13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// Expanded Overhaul</a:t>
              </a:r>
              <a:endParaRPr b="0" sz="90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A0AEC0"/>
                  </a:solidFill>
                  <a:latin typeface="DM Mono"/>
                  <a:ea typeface="DM Mono"/>
                  <a:cs typeface="DM Mono"/>
                  <a:sym typeface="DM Mono"/>
                </a:rPr>
                <a:t>&gt; Lines of Code: </a:t>
              </a:r>
              <a:r>
                <a:rPr b="0" lang="en" sz="850">
                  <a:solidFill>
                    <a:srgbClr val="FFFFFF"/>
                  </a:solidFill>
                  <a:latin typeface="DM Mono"/>
                  <a:ea typeface="DM Mono"/>
                  <a:cs typeface="DM Mono"/>
                  <a:sym typeface="DM Mono"/>
                </a:rPr>
                <a:t>480+ LOC</a:t>
              </a:r>
              <a:endParaRPr b="0" sz="85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A0AEC0"/>
                  </a:solidFill>
                  <a:latin typeface="DM Mono"/>
                  <a:ea typeface="DM Mono"/>
                  <a:cs typeface="DM Mono"/>
                  <a:sym typeface="DM Mono"/>
                </a:rPr>
                <a:t>&gt; UI Feedback: </a:t>
              </a:r>
              <a:r>
                <a:rPr b="0" lang="en" sz="85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rPr>
                <a:t>Instant Auto-Submit ⚡</a:t>
              </a:r>
              <a:endParaRPr b="0" sz="85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A0AEC0"/>
                  </a:solidFill>
                  <a:latin typeface="DM Mono"/>
                  <a:ea typeface="DM Mono"/>
                  <a:cs typeface="DM Mono"/>
                  <a:sym typeface="DM Mono"/>
                </a:rPr>
                <a:t>&gt; Combos: </a:t>
              </a:r>
              <a:r>
                <a:rPr b="0" lang="en" sz="850">
                  <a:solidFill>
                    <a:srgbClr val="F3C96D"/>
                  </a:solidFill>
                  <a:latin typeface="DM Mono"/>
                  <a:ea typeface="DM Mono"/>
                  <a:cs typeface="DM Mono"/>
                  <a:sym typeface="DM Mono"/>
                </a:rPr>
                <a:t>Up to 3x Multiplier</a:t>
              </a:r>
              <a:endParaRPr b="0" sz="85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A0AEC0"/>
                  </a:solidFill>
                  <a:latin typeface="DM Mono"/>
                  <a:ea typeface="DM Mono"/>
                  <a:cs typeface="DM Mono"/>
                  <a:sym typeface="DM Mono"/>
                </a:rPr>
                <a:t>&gt; Evaluation: </a:t>
              </a:r>
              <a:r>
                <a:rPr b="0" lang="en" sz="850">
                  <a:solidFill>
                    <a:srgbClr val="9D6CFF"/>
                  </a:solidFill>
                  <a:latin typeface="DM Mono"/>
                  <a:ea typeface="DM Mono"/>
                  <a:cs typeface="DM Mono"/>
                  <a:sym typeface="DM Mono"/>
                </a:rPr>
                <a:t>Rank Card Generator</a:t>
              </a:r>
              <a:endParaRPr b="0" sz="85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</p:grpSp>
      <p:grpSp>
        <p:nvGrpSpPr>
          <p:cNvPr id="490" name="Google Shape;490;p21"/>
          <p:cNvGrpSpPr/>
          <p:nvPr/>
        </p:nvGrpSpPr>
        <p:grpSpPr>
          <a:xfrm>
            <a:off x="6096000" y="1162050"/>
            <a:ext cx="2667000" cy="3429000"/>
            <a:chOff x="0" y="0"/>
            <a:chExt cx="2667000" cy="3429000"/>
          </a:xfrm>
        </p:grpSpPr>
        <p:sp>
          <p:nvSpPr>
            <p:cNvPr id="491" name="Google Shape;491;p21"/>
            <p:cNvSpPr/>
            <p:nvPr/>
          </p:nvSpPr>
          <p:spPr>
            <a:xfrm>
              <a:off x="0" y="0"/>
              <a:ext cx="2667000" cy="3429000"/>
            </a:xfrm>
            <a:prstGeom prst="roundRect">
              <a:avLst>
                <a:gd fmla="val 2142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21"/>
            <p:cNvSpPr/>
            <p:nvPr/>
          </p:nvSpPr>
          <p:spPr>
            <a:xfrm>
              <a:off x="0" y="0"/>
              <a:ext cx="2667000" cy="38100"/>
            </a:xfrm>
            <a:prstGeom prst="roundRect">
              <a:avLst>
                <a:gd fmla="val 50000" name="adj"/>
              </a:avLst>
            </a:prstGeom>
            <a:solidFill>
              <a:srgbClr val="74E7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21"/>
            <p:cNvSpPr txBox="1"/>
            <p:nvPr/>
          </p:nvSpPr>
          <p:spPr>
            <a:xfrm>
              <a:off x="171450" y="152400"/>
              <a:ext cx="2324100" cy="312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74E7A8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GAMEPLAY MECHANICS</a:t>
              </a:r>
              <a:endParaRPr b="0" sz="900">
                <a:solidFill>
                  <a:srgbClr val="74E7A8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FFFFF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Fast-Paced System</a:t>
              </a:r>
              <a:endParaRPr b="0" sz="13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74E7A8"/>
                  </a:solidFill>
                  <a:latin typeface="Outfit"/>
                  <a:ea typeface="Outfit"/>
                  <a:cs typeface="Outfit"/>
                  <a:sym typeface="Outfit"/>
                </a:rPr>
                <a:t>⚡</a:t>
              </a:r>
              <a:r>
                <a:rPr b="0" lang="en" sz="8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</a:t>
              </a:r>
              <a:r>
                <a:rPr b="1" lang="en" sz="85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Instant Auto-Submit</a:t>
              </a:r>
              <a:r>
                <a:rPr b="0" lang="en" sz="8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upon typing correct answer</a:t>
              </a:r>
              <a:endParaRPr/>
            </a:p>
            <a:p>
              <a:pPr indent="0" lvl="0" marL="0" rtl="0" algn="l">
                <a:spcBef>
                  <a:spcPts val="525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87E5FF"/>
                  </a:solidFill>
                  <a:latin typeface="Outfit"/>
                  <a:ea typeface="Outfit"/>
                  <a:cs typeface="Outfit"/>
                  <a:sym typeface="Outfit"/>
                </a:rPr>
                <a:t>🎯</a:t>
              </a:r>
              <a:r>
                <a:rPr b="0" lang="en" sz="8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</a:t>
              </a:r>
              <a:r>
                <a:rPr b="1" lang="en" sz="85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4 Quick Pick</a:t>
              </a:r>
              <a:r>
                <a:rPr b="0" lang="en" sz="8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Multiple-Choice buttons</a:t>
              </a:r>
              <a:endParaRPr/>
            </a:p>
            <a:p>
              <a:pPr indent="0" lvl="0" marL="0" rtl="0" algn="l">
                <a:spcBef>
                  <a:spcPts val="525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F3C96D"/>
                  </a:solidFill>
                  <a:latin typeface="Outfit"/>
                  <a:ea typeface="Outfit"/>
                  <a:cs typeface="Outfit"/>
                  <a:sym typeface="Outfit"/>
                </a:rPr>
                <a:t>⏱️</a:t>
              </a:r>
              <a:r>
                <a:rPr b="0" lang="en" sz="8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</a:t>
              </a:r>
              <a:r>
                <a:rPr b="1" lang="en" sz="85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+5 Fast Solve bonus</a:t>
              </a:r>
              <a:r>
                <a:rPr b="0" lang="en" sz="8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(&lt;3s response)</a:t>
              </a:r>
              <a:endParaRPr/>
            </a:p>
            <a:p>
              <a:pPr indent="0" lvl="0" marL="0" rtl="0" algn="l">
                <a:spcBef>
                  <a:spcPts val="525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9D6CFF"/>
                  </a:solidFill>
                  <a:latin typeface="Outfit"/>
                  <a:ea typeface="Outfit"/>
                  <a:cs typeface="Outfit"/>
                  <a:sym typeface="Outfit"/>
                </a:rPr>
                <a:t>🔥</a:t>
              </a:r>
              <a:r>
                <a:rPr b="0" lang="en" sz="8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</a:t>
              </a:r>
              <a:r>
                <a:rPr b="1" lang="en" sz="85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+2s Time Bonus</a:t>
              </a:r>
              <a:r>
                <a:rPr b="0" lang="en" sz="8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every 5 streak</a:t>
              </a:r>
              <a:endParaRPr/>
            </a:p>
            <a:p>
              <a:pPr indent="0" lvl="0" marL="0" rtl="0" algn="l">
                <a:spcBef>
                  <a:spcPts val="525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F3C96D"/>
                  </a:solidFill>
                  <a:latin typeface="Outfit"/>
                  <a:ea typeface="Outfit"/>
                  <a:cs typeface="Outfit"/>
                  <a:sym typeface="Outfit"/>
                </a:rPr>
                <a:t>✨</a:t>
              </a:r>
              <a:r>
                <a:rPr b="0" lang="en" sz="8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</a:t>
              </a:r>
              <a:r>
                <a:rPr b="1" lang="en" sz="85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Up to 3x</a:t>
              </a:r>
              <a:r>
                <a:rPr b="0" lang="en" sz="8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combo multiplier</a:t>
              </a:r>
              <a:endParaRPr/>
            </a:p>
            <a:p>
              <a:pPr indent="0" lvl="0" marL="0" rtl="0" algn="l">
                <a:spcBef>
                  <a:spcPts val="525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87E5FF"/>
                  </a:solidFill>
                  <a:latin typeface="Outfit"/>
                  <a:ea typeface="Outfit"/>
                  <a:cs typeface="Outfit"/>
                  <a:sym typeface="Outfit"/>
                </a:rPr>
                <a:t>📜</a:t>
              </a:r>
              <a:r>
                <a:rPr b="0" lang="en" sz="8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Equation history strip &amp; upcoming queue</a:t>
              </a:r>
              <a:endParaRPr/>
            </a:p>
            <a:p>
              <a:pPr indent="0" lvl="0" marL="0" rtl="0" algn="l">
                <a:spcBef>
                  <a:spcPts val="525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9D6CFF"/>
                  </a:solidFill>
                  <a:latin typeface="Outfit"/>
                  <a:ea typeface="Outfit"/>
                  <a:cs typeface="Outfit"/>
                  <a:sym typeface="Outfit"/>
                </a:rPr>
                <a:t>🏆</a:t>
              </a:r>
              <a:r>
                <a:rPr b="0" lang="en" sz="8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End-of-run </a:t>
              </a:r>
              <a:r>
                <a:rPr b="1" lang="en" sz="85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Rank Card</a:t>
              </a:r>
              <a:r>
                <a:rPr b="0" lang="en" sz="8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(Quantum Savant, Astro Mathematician)</a:t>
              </a:r>
              <a:endParaRPr/>
            </a:p>
          </p:txBody>
        </p:sp>
      </p:grpSp>
      <p:sp>
        <p:nvSpPr>
          <p:cNvPr id="494" name="Google Shape;494;p21"/>
          <p:cNvSpPr txBox="1"/>
          <p:nvPr/>
        </p:nvSpPr>
        <p:spPr>
          <a:xfrm>
            <a:off x="381000" y="4743450"/>
            <a:ext cx="8382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5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rPr>
              <a:t>NIGHT HOURS v2.0 — ZONE 1: LEARNING HOURS</a:t>
            </a:r>
            <a:r>
              <a:rPr lang="en"/>
              <a:t> </a:t>
            </a:r>
            <a:r>
              <a:rPr b="0" lang="en" sz="85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rPr>
              <a:t>/learning/mathquest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0132A">
                  <a:alpha val="89804"/>
                </a:srgbClr>
              </a:gs>
              <a:gs pos="100000">
                <a:srgbClr val="080B18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0" name="Google Shape;50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1" name="Google Shape;501;p22"/>
          <p:cNvGrpSpPr/>
          <p:nvPr/>
        </p:nvGrpSpPr>
        <p:grpSpPr>
          <a:xfrm>
            <a:off x="381000" y="238125"/>
            <a:ext cx="381000" cy="381000"/>
            <a:chOff x="0" y="0"/>
            <a:chExt cx="381000" cy="381000"/>
          </a:xfrm>
        </p:grpSpPr>
        <p:sp>
          <p:nvSpPr>
            <p:cNvPr id="502" name="Google Shape;502;p22"/>
            <p:cNvSpPr/>
            <p:nvPr/>
          </p:nvSpPr>
          <p:spPr>
            <a:xfrm>
              <a:off x="0" y="0"/>
              <a:ext cx="381000" cy="3810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30000"/>
                  </a:lnTo>
                  <a:lnTo>
                    <a:pt x="120000" y="90000"/>
                  </a:lnTo>
                  <a:lnTo>
                    <a:pt x="60000" y="120000"/>
                  </a:lnTo>
                  <a:lnTo>
                    <a:pt x="0" y="90000"/>
                  </a:lnTo>
                  <a:lnTo>
                    <a:pt x="0" y="3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9D6C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22"/>
            <p:cNvSpPr/>
            <p:nvPr/>
          </p:nvSpPr>
          <p:spPr>
            <a:xfrm>
              <a:off x="38100" y="38100"/>
              <a:ext cx="304800" cy="3048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30000"/>
                  </a:lnTo>
                  <a:lnTo>
                    <a:pt x="120000" y="90000"/>
                  </a:lnTo>
                  <a:lnTo>
                    <a:pt x="60000" y="120000"/>
                  </a:lnTo>
                  <a:lnTo>
                    <a:pt x="0" y="90000"/>
                  </a:lnTo>
                  <a:lnTo>
                    <a:pt x="0" y="30000"/>
                  </a:lnTo>
                  <a:close/>
                </a:path>
              </a:pathLst>
            </a:custGeom>
            <a:solidFill>
              <a:srgbClr val="10132A"/>
            </a:solidFill>
            <a:ln cap="flat" cmpd="sng" w="9525">
              <a:solidFill>
                <a:srgbClr val="87E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22"/>
            <p:cNvSpPr/>
            <p:nvPr/>
          </p:nvSpPr>
          <p:spPr>
            <a:xfrm>
              <a:off x="114300" y="142875"/>
              <a:ext cx="152400" cy="95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moveTo>
                    <a:pt x="0" y="0"/>
                  </a:moveTo>
                  <a:lnTo>
                    <a:pt x="60000" y="120000"/>
                  </a:lnTo>
                  <a:moveTo>
                    <a:pt x="60000" y="0"/>
                  </a:moveTo>
                  <a:lnTo>
                    <a:pt x="60000" y="120000"/>
                  </a:lnTo>
                  <a:moveTo>
                    <a:pt x="120000" y="0"/>
                  </a:moveTo>
                  <a:lnTo>
                    <a:pt x="120000" y="120000"/>
                  </a:lnTo>
                  <a:moveTo>
                    <a:pt x="82500" y="60000"/>
                  </a:moveTo>
                  <a:lnTo>
                    <a:pt x="120000" y="6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5" name="Google Shape;505;p22"/>
          <p:cNvSpPr txBox="1"/>
          <p:nvPr/>
        </p:nvSpPr>
        <p:spPr>
          <a:xfrm>
            <a:off x="904875" y="171450"/>
            <a:ext cx="78582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Zone 2 &amp; Zone 3 Features</a:t>
            </a:r>
            <a:endParaRPr b="1" sz="220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87E5FF"/>
                </a:solidFill>
                <a:latin typeface="Outfit Medium"/>
                <a:ea typeface="Outfit Medium"/>
                <a:cs typeface="Outfit Medium"/>
                <a:sym typeface="Outfit Medium"/>
              </a:rPr>
              <a:t>Rising Hours &amp; Golden Hours Applications</a:t>
            </a:r>
            <a:endParaRPr b="0" sz="1300">
              <a:solidFill>
                <a:srgbClr val="87E5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506" name="Google Shape;506;p22"/>
          <p:cNvSpPr/>
          <p:nvPr/>
        </p:nvSpPr>
        <p:spPr>
          <a:xfrm>
            <a:off x="381000" y="933450"/>
            <a:ext cx="8382000" cy="19200"/>
          </a:xfrm>
          <a:prstGeom prst="rect">
            <a:avLst/>
          </a:prstGeom>
          <a:gradFill>
            <a:gsLst>
              <a:gs pos="0">
                <a:srgbClr val="87E5FF"/>
              </a:gs>
              <a:gs pos="50000">
                <a:srgbClr val="9D6CFF"/>
              </a:gs>
              <a:gs pos="100000">
                <a:srgbClr val="080B18"/>
              </a:gs>
            </a:gsLst>
            <a:lin ang="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2"/>
          <p:cNvSpPr txBox="1"/>
          <p:nvPr/>
        </p:nvSpPr>
        <p:spPr>
          <a:xfrm>
            <a:off x="381000" y="1066800"/>
            <a:ext cx="51435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87E5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ZONE 2 — RISING HOURS APPLICATIONS</a:t>
            </a:r>
            <a:endParaRPr b="0" sz="900">
              <a:solidFill>
                <a:srgbClr val="87E5FF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grpSp>
        <p:nvGrpSpPr>
          <p:cNvPr id="508" name="Google Shape;508;p22"/>
          <p:cNvGrpSpPr/>
          <p:nvPr/>
        </p:nvGrpSpPr>
        <p:grpSpPr>
          <a:xfrm>
            <a:off x="381000" y="1276350"/>
            <a:ext cx="5143500" cy="1505100"/>
            <a:chOff x="0" y="0"/>
            <a:chExt cx="5143500" cy="1505100"/>
          </a:xfrm>
        </p:grpSpPr>
        <p:sp>
          <p:nvSpPr>
            <p:cNvPr id="509" name="Google Shape;509;p22"/>
            <p:cNvSpPr/>
            <p:nvPr/>
          </p:nvSpPr>
          <p:spPr>
            <a:xfrm>
              <a:off x="0" y="0"/>
              <a:ext cx="5143500" cy="1505100"/>
            </a:xfrm>
            <a:prstGeom prst="roundRect">
              <a:avLst>
                <a:gd fmla="val 3797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22"/>
            <p:cNvSpPr/>
            <p:nvPr/>
          </p:nvSpPr>
          <p:spPr>
            <a:xfrm>
              <a:off x="0" y="0"/>
              <a:ext cx="5143500" cy="28500"/>
            </a:xfrm>
            <a:prstGeom prst="roundRect">
              <a:avLst>
                <a:gd fmla="val 33333" name="adj"/>
              </a:avLst>
            </a:prstGeom>
            <a:solidFill>
              <a:srgbClr val="87E5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22"/>
            <p:cNvSpPr txBox="1"/>
            <p:nvPr/>
          </p:nvSpPr>
          <p:spPr>
            <a:xfrm>
              <a:off x="171450" y="114300"/>
              <a:ext cx="4800600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FFFFF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⚡ Quiz Rush</a:t>
              </a:r>
              <a:endParaRPr b="0" sz="13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/rising — QuizRush.jsx</a:t>
              </a:r>
              <a:endParaRPr b="0" sz="95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-317500" lvl="0" marL="457200" rtl="0" algn="l">
                <a:spcBef>
                  <a:spcPts val="45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0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5-question rapid trivia sprint drawn from a shuffled 10-question CS/Science/Geography bank</a:t>
              </a:r>
              <a:endParaRPr b="0" sz="105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-317500" lvl="0" marL="457200" rtl="0" algn="l">
                <a:spcBef>
                  <a:spcPts val="450"/>
                </a:spcBef>
                <a:spcAft>
                  <a:spcPts val="450"/>
                </a:spcAft>
                <a:buSzPts val="1400"/>
                <a:buChar char="●"/>
              </a:pPr>
              <a:r>
                <a:rPr b="0" lang="en" sz="10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Instant answer reveal, streak tracking, synced via </a:t>
              </a:r>
              <a:r>
                <a:rPr b="0" lang="en" sz="9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useGameStats('quiz')</a:t>
              </a:r>
              <a:endParaRPr b="0" sz="105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512" name="Google Shape;512;p22"/>
          <p:cNvGrpSpPr/>
          <p:nvPr/>
        </p:nvGrpSpPr>
        <p:grpSpPr>
          <a:xfrm>
            <a:off x="381000" y="2933700"/>
            <a:ext cx="5143500" cy="1638300"/>
            <a:chOff x="0" y="0"/>
            <a:chExt cx="5143500" cy="1638300"/>
          </a:xfrm>
        </p:grpSpPr>
        <p:sp>
          <p:nvSpPr>
            <p:cNvPr id="513" name="Google Shape;513;p22"/>
            <p:cNvSpPr/>
            <p:nvPr/>
          </p:nvSpPr>
          <p:spPr>
            <a:xfrm>
              <a:off x="0" y="0"/>
              <a:ext cx="5143500" cy="1638300"/>
            </a:xfrm>
            <a:prstGeom prst="roundRect">
              <a:avLst>
                <a:gd fmla="val 3488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22"/>
            <p:cNvSpPr/>
            <p:nvPr/>
          </p:nvSpPr>
          <p:spPr>
            <a:xfrm>
              <a:off x="0" y="0"/>
              <a:ext cx="5143500" cy="28500"/>
            </a:xfrm>
            <a:prstGeom prst="roundRect">
              <a:avLst>
                <a:gd fmla="val 33333" name="adj"/>
              </a:avLst>
            </a:prstGeom>
            <a:solidFill>
              <a:srgbClr val="9D6C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22"/>
            <p:cNvSpPr txBox="1"/>
            <p:nvPr/>
          </p:nvSpPr>
          <p:spPr>
            <a:xfrm>
              <a:off x="171450" y="114300"/>
              <a:ext cx="48006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FFFFF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⚔️ Quiz Battle</a:t>
              </a:r>
              <a:endParaRPr b="0" sz="13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/rising/battle — QuizBattle.jsx</a:t>
              </a:r>
              <a:endParaRPr b="0" sz="95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-317500" lvl="0" marL="457200" rtl="0" algn="l">
                <a:spcBef>
                  <a:spcPts val="45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0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Solo Challenge &amp; 2-Player Hotseat Versus mode across 4 categories (🌍 General, 🔬 Science, 💻 Tech, 🎮 Gaming)</a:t>
              </a:r>
              <a:endParaRPr b="0" sz="105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-317500" lvl="0" marL="457200" rtl="0" algn="l">
                <a:spcBef>
                  <a:spcPts val="450"/>
                </a:spcBef>
                <a:spcAft>
                  <a:spcPts val="450"/>
                </a:spcAft>
                <a:buSzPts val="1400"/>
                <a:buChar char="●"/>
              </a:pPr>
              <a:r>
                <a:rPr b="0" lang="en" sz="10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30-second countdown with speed bonus </a:t>
              </a:r>
              <a:r>
                <a:rPr b="0" lang="en" sz="90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(100 + floor(timeLeft / 3))</a:t>
              </a:r>
              <a:r>
                <a:rPr b="0" lang="en" sz="10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, turn indicator for Player 1 vs Player 2, separate leaderboards, timer cleanup refs, and API streak sync</a:t>
              </a:r>
              <a:endParaRPr b="0" sz="105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516" name="Google Shape;516;p22"/>
          <p:cNvSpPr txBox="1"/>
          <p:nvPr/>
        </p:nvSpPr>
        <p:spPr>
          <a:xfrm>
            <a:off x="5715000" y="1066800"/>
            <a:ext cx="30480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F3C96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ZONE 3 — GOLDEN HOURS APPLICATION</a:t>
            </a:r>
            <a:endParaRPr b="0" sz="900">
              <a:solidFill>
                <a:srgbClr val="F3C96D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grpSp>
        <p:nvGrpSpPr>
          <p:cNvPr id="517" name="Google Shape;517;p22"/>
          <p:cNvGrpSpPr/>
          <p:nvPr/>
        </p:nvGrpSpPr>
        <p:grpSpPr>
          <a:xfrm>
            <a:off x="5715000" y="1276350"/>
            <a:ext cx="3048000" cy="3295800"/>
            <a:chOff x="0" y="0"/>
            <a:chExt cx="3048000" cy="3295800"/>
          </a:xfrm>
        </p:grpSpPr>
        <p:sp>
          <p:nvSpPr>
            <p:cNvPr id="518" name="Google Shape;518;p22"/>
            <p:cNvSpPr/>
            <p:nvPr/>
          </p:nvSpPr>
          <p:spPr>
            <a:xfrm>
              <a:off x="0" y="0"/>
              <a:ext cx="3048000" cy="3295800"/>
            </a:xfrm>
            <a:prstGeom prst="roundRect">
              <a:avLst>
                <a:gd fmla="val 1875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22"/>
            <p:cNvSpPr/>
            <p:nvPr/>
          </p:nvSpPr>
          <p:spPr>
            <a:xfrm>
              <a:off x="0" y="0"/>
              <a:ext cx="3048000" cy="28500"/>
            </a:xfrm>
            <a:prstGeom prst="roundRect">
              <a:avLst>
                <a:gd fmla="val 33333" name="adj"/>
              </a:avLst>
            </a:prstGeom>
            <a:solidFill>
              <a:srgbClr val="F3C96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2"/>
            <p:cNvSpPr txBox="1"/>
            <p:nvPr/>
          </p:nvSpPr>
          <p:spPr>
            <a:xfrm>
              <a:off x="171450" y="114300"/>
              <a:ext cx="27051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FFFFFF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🌿 Pattern Recall</a:t>
              </a:r>
              <a:endParaRPr b="0" sz="1203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79">
                  <a:solidFill>
                    <a:srgbClr val="F3C96D"/>
                  </a:solidFill>
                  <a:latin typeface="DM Mono"/>
                  <a:ea typeface="DM Mono"/>
                  <a:cs typeface="DM Mono"/>
                  <a:sym typeface="DM Mono"/>
                </a:rPr>
                <a:t>/golden — PatternRecall.jsx</a:t>
              </a:r>
              <a:endParaRPr b="0" sz="879">
                <a:solidFill>
                  <a:srgbClr val="F3C96D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-310833" lvl="0" marL="457200" rtl="0" algn="l">
                <a:spcBef>
                  <a:spcPts val="450"/>
                </a:spcBef>
                <a:spcAft>
                  <a:spcPts val="0"/>
                </a:spcAft>
                <a:buSzPts val="1295"/>
                <a:buChar char="●"/>
              </a:pPr>
              <a:r>
                <a:rPr b="0" lang="en" sz="971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Calm, timer-free 3×3 nature emoji grid</a:t>
              </a:r>
              <a:endParaRPr b="0" sz="971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-310833" lvl="0" marL="457200" rtl="0" algn="l">
                <a:spcBef>
                  <a:spcPts val="450"/>
                </a:spcBef>
                <a:spcAft>
                  <a:spcPts val="0"/>
                </a:spcAft>
                <a:buSzPts val="1295"/>
                <a:buChar char="●"/>
              </a:pPr>
              <a:r>
                <a:rPr b="0" lang="en" sz="971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Progressive sequence length (4 to 7 tiles)</a:t>
              </a:r>
              <a:endParaRPr b="0" sz="971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-310833" lvl="0" marL="457200" rtl="0" algn="l">
                <a:spcBef>
                  <a:spcPts val="450"/>
                </a:spcBef>
                <a:spcAft>
                  <a:spcPts val="0"/>
                </a:spcAft>
                <a:buSzPts val="1295"/>
                <a:buChar char="●"/>
              </a:pPr>
              <a:r>
                <a:rPr b="0" lang="en" sz="971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700ms tile glow interval</a:t>
              </a:r>
              <a:endParaRPr b="0" sz="971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-310833" lvl="0" marL="457200" rtl="0" algn="l">
                <a:spcBef>
                  <a:spcPts val="450"/>
                </a:spcBef>
                <a:spcAft>
                  <a:spcPts val="450"/>
                </a:spcAft>
                <a:buSzPts val="1295"/>
                <a:buChar char="●"/>
              </a:pPr>
              <a:r>
                <a:rPr b="0" lang="en" sz="786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sequence.length * 25</a:t>
              </a:r>
              <a:r>
                <a:rPr b="0" lang="en" sz="971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score sync via </a:t>
              </a:r>
              <a:r>
                <a:rPr b="0" lang="en" sz="786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useGameStats('pattern')</a:t>
              </a:r>
              <a:endParaRPr b="0" sz="971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grpSp>
          <p:nvGrpSpPr>
            <p:cNvPr id="521" name="Google Shape;521;p22"/>
            <p:cNvGrpSpPr/>
            <p:nvPr/>
          </p:nvGrpSpPr>
          <p:grpSpPr>
            <a:xfrm>
              <a:off x="857250" y="1857375"/>
              <a:ext cx="1238400" cy="1200300"/>
              <a:chOff x="0" y="0"/>
              <a:chExt cx="1238400" cy="1200300"/>
            </a:xfrm>
          </p:grpSpPr>
          <p:sp>
            <p:nvSpPr>
              <p:cNvPr id="522" name="Google Shape;522;p22"/>
              <p:cNvSpPr/>
              <p:nvPr/>
            </p:nvSpPr>
            <p:spPr>
              <a:xfrm>
                <a:off x="0" y="0"/>
                <a:ext cx="362100" cy="362100"/>
              </a:xfrm>
              <a:prstGeom prst="roundRect">
                <a:avLst>
                  <a:gd fmla="val 10526" name="adj"/>
                </a:avLst>
              </a:prstGeom>
              <a:solidFill>
                <a:srgbClr val="080B18"/>
              </a:solidFill>
              <a:ln cap="flat" cmpd="sng" w="9525">
                <a:solidFill>
                  <a:srgbClr val="2A305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3" name="Google Shape;523;p22"/>
              <p:cNvSpPr txBox="1"/>
              <p:nvPr/>
            </p:nvSpPr>
            <p:spPr>
              <a:xfrm>
                <a:off x="0" y="0"/>
                <a:ext cx="3621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/>
                  <a:t>🌿</a:t>
                </a:r>
                <a:endParaRPr sz="1400"/>
              </a:p>
            </p:txBody>
          </p:sp>
          <p:sp>
            <p:nvSpPr>
              <p:cNvPr id="524" name="Google Shape;524;p22"/>
              <p:cNvSpPr/>
              <p:nvPr/>
            </p:nvSpPr>
            <p:spPr>
              <a:xfrm>
                <a:off x="438150" y="0"/>
                <a:ext cx="362100" cy="362100"/>
              </a:xfrm>
              <a:prstGeom prst="roundRect">
                <a:avLst>
                  <a:gd fmla="val 10526" name="adj"/>
                </a:avLst>
              </a:prstGeom>
              <a:solidFill>
                <a:srgbClr val="1E243A"/>
              </a:solidFill>
              <a:ln cap="flat" cmpd="sng" w="14300">
                <a:solidFill>
                  <a:srgbClr val="F3C96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" name="Google Shape;525;p22"/>
              <p:cNvSpPr txBox="1"/>
              <p:nvPr/>
            </p:nvSpPr>
            <p:spPr>
              <a:xfrm>
                <a:off x="438150" y="0"/>
                <a:ext cx="3621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/>
                  <a:t>🌻</a:t>
                </a:r>
                <a:endParaRPr sz="1400"/>
              </a:p>
            </p:txBody>
          </p:sp>
          <p:sp>
            <p:nvSpPr>
              <p:cNvPr id="526" name="Google Shape;526;p22"/>
              <p:cNvSpPr/>
              <p:nvPr/>
            </p:nvSpPr>
            <p:spPr>
              <a:xfrm>
                <a:off x="876300" y="0"/>
                <a:ext cx="362100" cy="362100"/>
              </a:xfrm>
              <a:prstGeom prst="roundRect">
                <a:avLst>
                  <a:gd fmla="val 10526" name="adj"/>
                </a:avLst>
              </a:prstGeom>
              <a:solidFill>
                <a:srgbClr val="080B18"/>
              </a:solidFill>
              <a:ln cap="flat" cmpd="sng" w="9525">
                <a:solidFill>
                  <a:srgbClr val="2A305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22"/>
              <p:cNvSpPr txBox="1"/>
              <p:nvPr/>
            </p:nvSpPr>
            <p:spPr>
              <a:xfrm>
                <a:off x="876300" y="0"/>
                <a:ext cx="3621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/>
                  <a:t>🍀</a:t>
                </a:r>
                <a:endParaRPr sz="1400"/>
              </a:p>
            </p:txBody>
          </p:sp>
          <p:sp>
            <p:nvSpPr>
              <p:cNvPr id="528" name="Google Shape;528;p22"/>
              <p:cNvSpPr/>
              <p:nvPr/>
            </p:nvSpPr>
            <p:spPr>
              <a:xfrm>
                <a:off x="0" y="419100"/>
                <a:ext cx="362100" cy="362100"/>
              </a:xfrm>
              <a:prstGeom prst="roundRect">
                <a:avLst>
                  <a:gd fmla="val 10526" name="adj"/>
                </a:avLst>
              </a:prstGeom>
              <a:solidFill>
                <a:srgbClr val="080B18"/>
              </a:solidFill>
              <a:ln cap="flat" cmpd="sng" w="9525">
                <a:solidFill>
                  <a:srgbClr val="2A305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" name="Google Shape;529;p22"/>
              <p:cNvSpPr txBox="1"/>
              <p:nvPr/>
            </p:nvSpPr>
            <p:spPr>
              <a:xfrm>
                <a:off x="0" y="419100"/>
                <a:ext cx="3621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/>
                  <a:t>🌊</a:t>
                </a:r>
                <a:endParaRPr sz="1400"/>
              </a:p>
            </p:txBody>
          </p:sp>
          <p:sp>
            <p:nvSpPr>
              <p:cNvPr id="530" name="Google Shape;530;p22"/>
              <p:cNvSpPr/>
              <p:nvPr/>
            </p:nvSpPr>
            <p:spPr>
              <a:xfrm>
                <a:off x="438150" y="419100"/>
                <a:ext cx="362100" cy="362100"/>
              </a:xfrm>
              <a:prstGeom prst="roundRect">
                <a:avLst>
                  <a:gd fmla="val 10526" name="adj"/>
                </a:avLst>
              </a:prstGeom>
              <a:solidFill>
                <a:srgbClr val="080B18"/>
              </a:solidFill>
              <a:ln cap="flat" cmpd="sng" w="9525">
                <a:solidFill>
                  <a:srgbClr val="2A305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" name="Google Shape;531;p22"/>
              <p:cNvSpPr txBox="1"/>
              <p:nvPr/>
            </p:nvSpPr>
            <p:spPr>
              <a:xfrm>
                <a:off x="438150" y="419100"/>
                <a:ext cx="3621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/>
                  <a:t>🍂</a:t>
                </a:r>
                <a:endParaRPr sz="1400"/>
              </a:p>
            </p:txBody>
          </p:sp>
          <p:sp>
            <p:nvSpPr>
              <p:cNvPr id="532" name="Google Shape;532;p22"/>
              <p:cNvSpPr/>
              <p:nvPr/>
            </p:nvSpPr>
            <p:spPr>
              <a:xfrm>
                <a:off x="876300" y="419100"/>
                <a:ext cx="362100" cy="362100"/>
              </a:xfrm>
              <a:prstGeom prst="roundRect">
                <a:avLst>
                  <a:gd fmla="val 10526" name="adj"/>
                </a:avLst>
              </a:prstGeom>
              <a:solidFill>
                <a:srgbClr val="1E243A"/>
              </a:solidFill>
              <a:ln cap="flat" cmpd="sng" w="14300">
                <a:solidFill>
                  <a:srgbClr val="74E7A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3" name="Google Shape;533;p22"/>
              <p:cNvSpPr txBox="1"/>
              <p:nvPr/>
            </p:nvSpPr>
            <p:spPr>
              <a:xfrm>
                <a:off x="876300" y="419100"/>
                <a:ext cx="3621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/>
                  <a:t>🌙</a:t>
                </a:r>
                <a:endParaRPr sz="1400"/>
              </a:p>
            </p:txBody>
          </p:sp>
          <p:sp>
            <p:nvSpPr>
              <p:cNvPr id="534" name="Google Shape;534;p22"/>
              <p:cNvSpPr/>
              <p:nvPr/>
            </p:nvSpPr>
            <p:spPr>
              <a:xfrm>
                <a:off x="0" y="838200"/>
                <a:ext cx="362100" cy="362100"/>
              </a:xfrm>
              <a:prstGeom prst="roundRect">
                <a:avLst>
                  <a:gd fmla="val 10526" name="adj"/>
                </a:avLst>
              </a:prstGeom>
              <a:solidFill>
                <a:srgbClr val="080B18"/>
              </a:solidFill>
              <a:ln cap="flat" cmpd="sng" w="9525">
                <a:solidFill>
                  <a:srgbClr val="2A305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5" name="Google Shape;535;p22"/>
              <p:cNvSpPr txBox="1"/>
              <p:nvPr/>
            </p:nvSpPr>
            <p:spPr>
              <a:xfrm>
                <a:off x="0" y="838200"/>
                <a:ext cx="3621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/>
                  <a:t>🌸</a:t>
                </a:r>
                <a:endParaRPr sz="1400"/>
              </a:p>
            </p:txBody>
          </p:sp>
          <p:sp>
            <p:nvSpPr>
              <p:cNvPr id="536" name="Google Shape;536;p22"/>
              <p:cNvSpPr/>
              <p:nvPr/>
            </p:nvSpPr>
            <p:spPr>
              <a:xfrm>
                <a:off x="438150" y="838200"/>
                <a:ext cx="362100" cy="362100"/>
              </a:xfrm>
              <a:prstGeom prst="roundRect">
                <a:avLst>
                  <a:gd fmla="val 10526" name="adj"/>
                </a:avLst>
              </a:prstGeom>
              <a:solidFill>
                <a:srgbClr val="080B18"/>
              </a:solidFill>
              <a:ln cap="flat" cmpd="sng" w="9525">
                <a:solidFill>
                  <a:srgbClr val="2A305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22"/>
              <p:cNvSpPr txBox="1"/>
              <p:nvPr/>
            </p:nvSpPr>
            <p:spPr>
              <a:xfrm>
                <a:off x="438150" y="838200"/>
                <a:ext cx="3621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/>
                  <a:t>⭐</a:t>
                </a:r>
                <a:endParaRPr sz="1400"/>
              </a:p>
            </p:txBody>
          </p:sp>
          <p:sp>
            <p:nvSpPr>
              <p:cNvPr id="538" name="Google Shape;538;p22"/>
              <p:cNvSpPr/>
              <p:nvPr/>
            </p:nvSpPr>
            <p:spPr>
              <a:xfrm>
                <a:off x="876300" y="838200"/>
                <a:ext cx="362100" cy="362100"/>
              </a:xfrm>
              <a:prstGeom prst="roundRect">
                <a:avLst>
                  <a:gd fmla="val 10526" name="adj"/>
                </a:avLst>
              </a:prstGeom>
              <a:solidFill>
                <a:srgbClr val="080B18"/>
              </a:solidFill>
              <a:ln cap="flat" cmpd="sng" w="9525">
                <a:solidFill>
                  <a:srgbClr val="2A305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9" name="Google Shape;539;p22"/>
              <p:cNvSpPr txBox="1"/>
              <p:nvPr/>
            </p:nvSpPr>
            <p:spPr>
              <a:xfrm>
                <a:off x="876300" y="838200"/>
                <a:ext cx="3621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/>
                  <a:t>🦋</a:t>
                </a:r>
                <a:endParaRPr sz="1400"/>
              </a:p>
            </p:txBody>
          </p:sp>
        </p:grpSp>
        <p:sp>
          <p:nvSpPr>
            <p:cNvPr id="540" name="Google Shape;540;p22"/>
            <p:cNvSpPr txBox="1"/>
            <p:nvPr/>
          </p:nvSpPr>
          <p:spPr>
            <a:xfrm>
              <a:off x="95250" y="3105150"/>
              <a:ext cx="2857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3C96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3×3 GRID SEQUENCE DISPLAY</a:t>
              </a:r>
              <a:endParaRPr b="0" sz="750">
                <a:solidFill>
                  <a:srgbClr val="F3C96D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</p:grpSp>
      <p:sp>
        <p:nvSpPr>
          <p:cNvPr id="541" name="Google Shape;541;p22"/>
          <p:cNvSpPr txBox="1"/>
          <p:nvPr/>
        </p:nvSpPr>
        <p:spPr>
          <a:xfrm>
            <a:off x="381000" y="478155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23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rPr>
              <a:t>NIGHT HOURS ARCHITECTURE • ZONE 2 &amp; ZONE 3</a:t>
            </a:r>
            <a:r>
              <a:rPr lang="en" sz="1190"/>
              <a:t> </a:t>
            </a:r>
            <a:r>
              <a:rPr b="0" lang="en" sz="723">
                <a:solidFill>
                  <a:srgbClr val="87E5FF"/>
                </a:solidFill>
                <a:latin typeface="DM Mono"/>
                <a:ea typeface="DM Mono"/>
                <a:cs typeface="DM Mono"/>
                <a:sym typeface="DM Mono"/>
              </a:rPr>
              <a:t>useGameStats INTEGRATION</a:t>
            </a:r>
            <a:endParaRPr sz="119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0132A">
                  <a:alpha val="89804"/>
                </a:srgbClr>
              </a:gs>
              <a:gs pos="100000">
                <a:srgbClr val="080B18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7" name="Google Shape;54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8" name="Google Shape;548;p23"/>
          <p:cNvGrpSpPr/>
          <p:nvPr/>
        </p:nvGrpSpPr>
        <p:grpSpPr>
          <a:xfrm>
            <a:off x="381000" y="228600"/>
            <a:ext cx="381000" cy="381000"/>
            <a:chOff x="0" y="0"/>
            <a:chExt cx="381000" cy="381000"/>
          </a:xfrm>
        </p:grpSpPr>
        <p:sp>
          <p:nvSpPr>
            <p:cNvPr id="549" name="Google Shape;549;p23"/>
            <p:cNvSpPr/>
            <p:nvPr/>
          </p:nvSpPr>
          <p:spPr>
            <a:xfrm>
              <a:off x="0" y="0"/>
              <a:ext cx="381000" cy="3810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30000"/>
                  </a:lnTo>
                  <a:lnTo>
                    <a:pt x="120000" y="90000"/>
                  </a:lnTo>
                  <a:lnTo>
                    <a:pt x="60000" y="120000"/>
                  </a:lnTo>
                  <a:lnTo>
                    <a:pt x="0" y="90000"/>
                  </a:lnTo>
                  <a:lnTo>
                    <a:pt x="0" y="3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9D6C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23"/>
            <p:cNvSpPr/>
            <p:nvPr/>
          </p:nvSpPr>
          <p:spPr>
            <a:xfrm>
              <a:off x="38100" y="38100"/>
              <a:ext cx="304800" cy="3048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30000"/>
                  </a:lnTo>
                  <a:lnTo>
                    <a:pt x="120000" y="90000"/>
                  </a:lnTo>
                  <a:lnTo>
                    <a:pt x="60000" y="120000"/>
                  </a:lnTo>
                  <a:lnTo>
                    <a:pt x="0" y="90000"/>
                  </a:lnTo>
                  <a:lnTo>
                    <a:pt x="0" y="30000"/>
                  </a:lnTo>
                  <a:close/>
                </a:path>
              </a:pathLst>
            </a:custGeom>
            <a:solidFill>
              <a:srgbClr val="10132A"/>
            </a:solidFill>
            <a:ln cap="flat" cmpd="sng" w="9525">
              <a:solidFill>
                <a:srgbClr val="87E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23"/>
            <p:cNvSpPr/>
            <p:nvPr/>
          </p:nvSpPr>
          <p:spPr>
            <a:xfrm>
              <a:off x="114300" y="142875"/>
              <a:ext cx="152400" cy="95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moveTo>
                    <a:pt x="0" y="0"/>
                  </a:moveTo>
                  <a:lnTo>
                    <a:pt x="60000" y="120000"/>
                  </a:lnTo>
                  <a:moveTo>
                    <a:pt x="60000" y="0"/>
                  </a:moveTo>
                  <a:lnTo>
                    <a:pt x="60000" y="120000"/>
                  </a:lnTo>
                  <a:moveTo>
                    <a:pt x="120000" y="0"/>
                  </a:moveTo>
                  <a:lnTo>
                    <a:pt x="120000" y="120000"/>
                  </a:lnTo>
                  <a:moveTo>
                    <a:pt x="82500" y="60000"/>
                  </a:moveTo>
                  <a:lnTo>
                    <a:pt x="120000" y="6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2" name="Google Shape;552;p23"/>
          <p:cNvSpPr txBox="1"/>
          <p:nvPr/>
        </p:nvSpPr>
        <p:spPr>
          <a:xfrm>
            <a:off x="904875" y="152400"/>
            <a:ext cx="7858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Zone 4 (Night Arena)</a:t>
            </a:r>
            <a:endParaRPr b="1" sz="220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87E5FF"/>
                </a:solidFill>
                <a:latin typeface="Outfit Medium"/>
                <a:ea typeface="Outfit Medium"/>
                <a:cs typeface="Outfit Medium"/>
                <a:sym typeface="Outfit Medium"/>
              </a:rPr>
              <a:t>Evolution from v1.0 Mockup to v2.0 Cloud VM Engine</a:t>
            </a:r>
            <a:endParaRPr b="0" sz="1300">
              <a:solidFill>
                <a:srgbClr val="87E5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553" name="Google Shape;553;p23"/>
          <p:cNvSpPr/>
          <p:nvPr/>
        </p:nvSpPr>
        <p:spPr>
          <a:xfrm>
            <a:off x="381000" y="895350"/>
            <a:ext cx="8382000" cy="19200"/>
          </a:xfrm>
          <a:prstGeom prst="rect">
            <a:avLst/>
          </a:prstGeom>
          <a:gradFill>
            <a:gsLst>
              <a:gs pos="0">
                <a:srgbClr val="87E5FF"/>
              </a:gs>
              <a:gs pos="50000">
                <a:srgbClr val="9D6CFF"/>
              </a:gs>
              <a:gs pos="100000">
                <a:srgbClr val="080B18"/>
              </a:gs>
            </a:gsLst>
            <a:lin ang="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23"/>
          <p:cNvSpPr/>
          <p:nvPr/>
        </p:nvSpPr>
        <p:spPr>
          <a:xfrm>
            <a:off x="381000" y="990600"/>
            <a:ext cx="8382000" cy="342900"/>
          </a:xfrm>
          <a:prstGeom prst="roundRect">
            <a:avLst>
              <a:gd fmla="val 11111" name="adj"/>
            </a:avLst>
          </a:prstGeom>
          <a:solidFill>
            <a:srgbClr val="10132A"/>
          </a:solidFill>
          <a:ln cap="flat" cmpd="sng" w="9525">
            <a:solidFill>
              <a:srgbClr val="2A30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3"/>
          <p:cNvSpPr/>
          <p:nvPr/>
        </p:nvSpPr>
        <p:spPr>
          <a:xfrm>
            <a:off x="495300" y="1123950"/>
            <a:ext cx="76200" cy="76200"/>
          </a:xfrm>
          <a:prstGeom prst="ellipse">
            <a:avLst/>
          </a:prstGeom>
          <a:solidFill>
            <a:srgbClr val="74E7A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3"/>
          <p:cNvSpPr txBox="1"/>
          <p:nvPr/>
        </p:nvSpPr>
        <p:spPr>
          <a:xfrm>
            <a:off x="666750" y="1009650"/>
            <a:ext cx="800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9D6CFF"/>
                </a:solidFill>
                <a:latin typeface="DM Mono"/>
                <a:ea typeface="DM Mono"/>
                <a:cs typeface="DM Mono"/>
                <a:sym typeface="DM Mono"/>
              </a:rPr>
              <a:t>ENGINE EVOLUTION:</a:t>
            </a:r>
            <a:r>
              <a:rPr b="0" lang="en" sz="100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b="0" lang="en" sz="1000">
                <a:solidFill>
                  <a:srgbClr val="FFFFFF"/>
                </a:solidFill>
                <a:latin typeface="DM Mono"/>
                <a:ea typeface="DM Mono"/>
                <a:cs typeface="DM Mono"/>
                <a:sym typeface="DM Mono"/>
              </a:rPr>
              <a:t>NightArena.jsx</a:t>
            </a:r>
            <a:r>
              <a:rPr b="0" lang="en" sz="100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rPr>
              <a:t> expanded from </a:t>
            </a:r>
            <a:r>
              <a:rPr b="0" lang="en" sz="1000">
                <a:solidFill>
                  <a:srgbClr val="F3C96D"/>
                </a:solidFill>
                <a:latin typeface="DM Mono"/>
                <a:ea typeface="DM Mono"/>
                <a:cs typeface="DM Mono"/>
                <a:sym typeface="DM Mono"/>
              </a:rPr>
              <a:t>~500</a:t>
            </a:r>
            <a:r>
              <a:rPr b="0" lang="en" sz="100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rPr>
              <a:t> to </a:t>
            </a:r>
            <a:r>
              <a:rPr b="1" lang="en" sz="100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rPr>
              <a:t>~1,300+ lines</a:t>
            </a:r>
            <a:r>
              <a:rPr b="0" lang="en" sz="100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b="0" lang="en" sz="10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rPr>
              <a:t>(53 KB total payload)</a:t>
            </a:r>
            <a:endParaRPr b="0" sz="1000">
              <a:solidFill>
                <a:srgbClr val="74E7A8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557" name="Google Shape;557;p23"/>
          <p:cNvSpPr txBox="1"/>
          <p:nvPr/>
        </p:nvSpPr>
        <p:spPr>
          <a:xfrm>
            <a:off x="381000" y="1409700"/>
            <a:ext cx="5143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87E5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3 Selectable Execution Modes</a:t>
            </a:r>
            <a:endParaRPr b="0" sz="950">
              <a:solidFill>
                <a:srgbClr val="87E5FF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grpSp>
        <p:nvGrpSpPr>
          <p:cNvPr id="558" name="Google Shape;558;p23"/>
          <p:cNvGrpSpPr/>
          <p:nvPr/>
        </p:nvGrpSpPr>
        <p:grpSpPr>
          <a:xfrm>
            <a:off x="381000" y="1638300"/>
            <a:ext cx="5143500" cy="914400"/>
            <a:chOff x="381000" y="1638300"/>
            <a:chExt cx="5143500" cy="914400"/>
          </a:xfrm>
        </p:grpSpPr>
        <p:sp>
          <p:nvSpPr>
            <p:cNvPr id="559" name="Google Shape;559;p23"/>
            <p:cNvSpPr/>
            <p:nvPr/>
          </p:nvSpPr>
          <p:spPr>
            <a:xfrm>
              <a:off x="381000" y="1638300"/>
              <a:ext cx="5143500" cy="914400"/>
            </a:xfrm>
            <a:prstGeom prst="roundRect">
              <a:avLst>
                <a:gd fmla="val 6250" name="adj"/>
              </a:avLst>
            </a:prstGeom>
            <a:solidFill>
              <a:srgbClr val="080B18"/>
            </a:solidFill>
            <a:ln cap="flat" cmpd="sng" w="9525">
              <a:solidFill>
                <a:srgbClr val="9D6C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3"/>
            <p:cNvSpPr/>
            <p:nvPr/>
          </p:nvSpPr>
          <p:spPr>
            <a:xfrm>
              <a:off x="381000" y="1638300"/>
              <a:ext cx="38100" cy="914400"/>
            </a:xfrm>
            <a:prstGeom prst="roundRect">
              <a:avLst>
                <a:gd fmla="val 50000" name="adj"/>
              </a:avLst>
            </a:prstGeom>
            <a:solidFill>
              <a:srgbClr val="9D6C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23"/>
            <p:cNvSpPr txBox="1"/>
            <p:nvPr/>
          </p:nvSpPr>
          <p:spPr>
            <a:xfrm>
              <a:off x="533400" y="1685925"/>
              <a:ext cx="48768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9D6CFF"/>
                  </a:solidFill>
                  <a:latin typeface="DM Mono"/>
                  <a:ea typeface="DM Mono"/>
                  <a:cs typeface="DM Mono"/>
                  <a:sym typeface="DM Mono"/>
                </a:rPr>
                <a:t>1. bluestacks-live </a:t>
              </a:r>
              <a:r>
                <a:rPr b="0" lang="en" sz="850">
                  <a:solidFill>
                    <a:srgbClr val="A0AEC0"/>
                  </a:solidFill>
                  <a:latin typeface="DM Mono"/>
                  <a:ea typeface="DM Mono"/>
                  <a:cs typeface="DM Mono"/>
                  <a:sym typeface="DM Mono"/>
                </a:rPr>
                <a:t>[Local ADB Stream]</a:t>
              </a:r>
              <a:endParaRPr b="1" sz="1050">
                <a:solidFill>
                  <a:srgbClr val="9D6CFF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Connects to local macOS </a:t>
              </a:r>
              <a:r>
                <a:rPr b="0" lang="en" sz="90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/Applications/BlueStacks.app</a:t>
              </a:r>
              <a:r>
                <a:rPr b="0" lang="en" sz="9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on </a:t>
              </a:r>
              <a:r>
                <a:rPr b="0" lang="en" sz="900">
                  <a:solidFill>
                    <a:srgbClr val="74E7A8"/>
                  </a:solidFill>
                  <a:latin typeface="Outfit"/>
                  <a:ea typeface="Outfit"/>
                  <a:cs typeface="Outfit"/>
                  <a:sym typeface="Outfit"/>
                </a:rPr>
                <a:t>127.0.0.1:5555</a:t>
              </a:r>
              <a:r>
                <a:rPr b="0" lang="en" sz="9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, launches Android APK via ADB (</a:t>
              </a:r>
              <a:r>
                <a:rPr b="0" lang="en" sz="900">
                  <a:solidFill>
                    <a:srgbClr val="87E5FF"/>
                  </a:solidFill>
                  <a:latin typeface="Outfit"/>
                  <a:ea typeface="Outfit"/>
                  <a:cs typeface="Outfit"/>
                  <a:sym typeface="Outfit"/>
                </a:rPr>
                <a:t>monkey</a:t>
              </a:r>
              <a:r>
                <a:rPr b="0" lang="en" sz="9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), captures live window stream, and bridges keyboard/mouse to ADB touch events.</a:t>
              </a:r>
              <a:endParaRPr b="0" sz="9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562" name="Google Shape;562;p23"/>
          <p:cNvGrpSpPr/>
          <p:nvPr/>
        </p:nvGrpSpPr>
        <p:grpSpPr>
          <a:xfrm>
            <a:off x="381000" y="2647950"/>
            <a:ext cx="5143500" cy="914400"/>
            <a:chOff x="381000" y="2647950"/>
            <a:chExt cx="5143500" cy="914400"/>
          </a:xfrm>
        </p:grpSpPr>
        <p:sp>
          <p:nvSpPr>
            <p:cNvPr id="563" name="Google Shape;563;p23"/>
            <p:cNvSpPr/>
            <p:nvPr/>
          </p:nvSpPr>
          <p:spPr>
            <a:xfrm>
              <a:off x="381000" y="2647950"/>
              <a:ext cx="5143500" cy="914400"/>
            </a:xfrm>
            <a:prstGeom prst="roundRect">
              <a:avLst>
                <a:gd fmla="val 6250" name="adj"/>
              </a:avLst>
            </a:prstGeom>
            <a:solidFill>
              <a:srgbClr val="080B18"/>
            </a:solidFill>
            <a:ln cap="flat" cmpd="sng" w="9525">
              <a:solidFill>
                <a:srgbClr val="87E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23"/>
            <p:cNvSpPr/>
            <p:nvPr/>
          </p:nvSpPr>
          <p:spPr>
            <a:xfrm>
              <a:off x="381000" y="2647950"/>
              <a:ext cx="38100" cy="914400"/>
            </a:xfrm>
            <a:prstGeom prst="roundRect">
              <a:avLst>
                <a:gd fmla="val 50000" name="adj"/>
              </a:avLst>
            </a:prstGeom>
            <a:solidFill>
              <a:srgbClr val="87E5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23"/>
            <p:cNvSpPr txBox="1"/>
            <p:nvPr/>
          </p:nvSpPr>
          <p:spPr>
            <a:xfrm>
              <a:off x="533400" y="2695575"/>
              <a:ext cx="48768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rPr>
                <a:t>2. mobile-vm-sim </a:t>
              </a:r>
              <a:r>
                <a:rPr b="0" lang="en" sz="850">
                  <a:solidFill>
                    <a:srgbClr val="A0AEC0"/>
                  </a:solidFill>
                  <a:latin typeface="DM Mono"/>
                  <a:ea typeface="DM Mono"/>
                  <a:cs typeface="DM Mono"/>
                  <a:sym typeface="DM Mono"/>
                </a:rPr>
                <a:t>[HTML5 Canvas Simulator]</a:t>
              </a:r>
              <a:endParaRPr b="1" sz="1050">
                <a:solidFill>
                  <a:srgbClr val="87E5FF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Built-in </a:t>
              </a:r>
              <a:r>
                <a:rPr b="0" lang="en" sz="900">
                  <a:solidFill>
                    <a:srgbClr val="F3C96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60 FPS</a:t>
              </a:r>
              <a:r>
                <a:rPr b="0" lang="en" sz="9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HTML5 Canvas Battle Royale (</a:t>
              </a:r>
              <a:r>
                <a:rPr b="0" lang="en" sz="90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BGMI</a:t>
              </a:r>
              <a:r>
                <a:rPr b="0" lang="en" sz="9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) &amp; Tactical Agent Shooter (</a:t>
              </a:r>
              <a:r>
                <a:rPr b="0" lang="en" sz="90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Valorant</a:t>
              </a:r>
              <a:r>
                <a:rPr b="0" lang="en" sz="9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) simulator so PC keymaps work immediately in the browser.</a:t>
              </a:r>
              <a:endParaRPr b="0" sz="9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566" name="Google Shape;566;p23"/>
          <p:cNvGrpSpPr/>
          <p:nvPr/>
        </p:nvGrpSpPr>
        <p:grpSpPr>
          <a:xfrm>
            <a:off x="381000" y="3657600"/>
            <a:ext cx="5143500" cy="914400"/>
            <a:chOff x="381000" y="3657600"/>
            <a:chExt cx="5143500" cy="914400"/>
          </a:xfrm>
        </p:grpSpPr>
        <p:sp>
          <p:nvSpPr>
            <p:cNvPr id="567" name="Google Shape;567;p23"/>
            <p:cNvSpPr/>
            <p:nvPr/>
          </p:nvSpPr>
          <p:spPr>
            <a:xfrm>
              <a:off x="381000" y="3657600"/>
              <a:ext cx="5143500" cy="914400"/>
            </a:xfrm>
            <a:prstGeom prst="roundRect">
              <a:avLst>
                <a:gd fmla="val 6250" name="adj"/>
              </a:avLst>
            </a:prstGeom>
            <a:solidFill>
              <a:srgbClr val="080B18"/>
            </a:solidFill>
            <a:ln cap="flat" cmpd="sng" w="9525">
              <a:solidFill>
                <a:srgbClr val="74E7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23"/>
            <p:cNvSpPr/>
            <p:nvPr/>
          </p:nvSpPr>
          <p:spPr>
            <a:xfrm>
              <a:off x="381000" y="3657600"/>
              <a:ext cx="38100" cy="914400"/>
            </a:xfrm>
            <a:prstGeom prst="roundRect">
              <a:avLst>
                <a:gd fmla="val 50000" name="adj"/>
              </a:avLst>
            </a:prstGeom>
            <a:solidFill>
              <a:srgbClr val="74E7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23"/>
            <p:cNvSpPr txBox="1"/>
            <p:nvPr/>
          </p:nvSpPr>
          <p:spPr>
            <a:xfrm>
              <a:off x="533400" y="3705225"/>
              <a:ext cx="48768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3. android-vnc </a:t>
              </a:r>
              <a:r>
                <a:rPr b="0" lang="en" sz="850">
                  <a:solidFill>
                    <a:srgbClr val="A0AEC0"/>
                  </a:solidFill>
                  <a:latin typeface="DM Mono"/>
                  <a:ea typeface="DM Mono"/>
                  <a:cs typeface="DM Mono"/>
                  <a:sym typeface="DM Mono"/>
                </a:rPr>
                <a:t>[Docker Web VNC Container]</a:t>
              </a:r>
              <a:endParaRPr b="1" sz="105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Embeds Dockerized Android 11 Emulator (</a:t>
              </a:r>
              <a:r>
                <a:rPr b="0" lang="en" sz="90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budtmo/docker-android:emulator_11.0</a:t>
              </a:r>
              <a:r>
                <a:rPr b="0" lang="en" sz="9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) via Web VNC (</a:t>
              </a:r>
              <a:r>
                <a:rPr b="0" lang="en" sz="900">
                  <a:solidFill>
                    <a:srgbClr val="87E5FF"/>
                  </a:solidFill>
                  <a:latin typeface="Outfit"/>
                  <a:ea typeface="Outfit"/>
                  <a:cs typeface="Outfit"/>
                  <a:sym typeface="Outfit"/>
                </a:rPr>
                <a:t>http://127.0.0.1:6080</a:t>
              </a:r>
              <a:r>
                <a:rPr b="0" lang="en" sz="9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).</a:t>
              </a:r>
              <a:endParaRPr b="0" sz="9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570" name="Google Shape;570;p23"/>
          <p:cNvSpPr txBox="1"/>
          <p:nvPr/>
        </p:nvSpPr>
        <p:spPr>
          <a:xfrm>
            <a:off x="5715000" y="1409700"/>
            <a:ext cx="3048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F3C96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6 Supported Gaming Titles</a:t>
            </a:r>
            <a:endParaRPr b="0" sz="950">
              <a:solidFill>
                <a:srgbClr val="F3C96D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571" name="Google Shape;571;p23"/>
          <p:cNvSpPr/>
          <p:nvPr/>
        </p:nvSpPr>
        <p:spPr>
          <a:xfrm>
            <a:off x="5715000" y="1638300"/>
            <a:ext cx="3048000" cy="2933700"/>
          </a:xfrm>
          <a:prstGeom prst="roundRect">
            <a:avLst>
              <a:gd fmla="val 1948" name="adj"/>
            </a:avLst>
          </a:prstGeom>
          <a:solidFill>
            <a:srgbClr val="10132A"/>
          </a:solidFill>
          <a:ln cap="flat" cmpd="sng" w="9525">
            <a:solidFill>
              <a:srgbClr val="2A30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3"/>
          <p:cNvSpPr/>
          <p:nvPr/>
        </p:nvSpPr>
        <p:spPr>
          <a:xfrm>
            <a:off x="5715000" y="1638300"/>
            <a:ext cx="3048000" cy="28500"/>
          </a:xfrm>
          <a:prstGeom prst="roundRect">
            <a:avLst>
              <a:gd fmla="val 33333" name="adj"/>
            </a:avLst>
          </a:prstGeom>
          <a:solidFill>
            <a:srgbClr val="F3C9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3"/>
          <p:cNvSpPr/>
          <p:nvPr/>
        </p:nvSpPr>
        <p:spPr>
          <a:xfrm>
            <a:off x="5829300" y="1752600"/>
            <a:ext cx="2819400" cy="400200"/>
          </a:xfrm>
          <a:prstGeom prst="roundRect">
            <a:avLst>
              <a:gd fmla="val 9523" name="adj"/>
            </a:avLst>
          </a:prstGeom>
          <a:solidFill>
            <a:srgbClr val="080B18"/>
          </a:solidFill>
          <a:ln cap="flat" cmpd="sng" w="9525">
            <a:solidFill>
              <a:srgbClr val="2A30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3"/>
          <p:cNvSpPr/>
          <p:nvPr/>
        </p:nvSpPr>
        <p:spPr>
          <a:xfrm>
            <a:off x="5924550" y="1924050"/>
            <a:ext cx="57300" cy="57300"/>
          </a:xfrm>
          <a:prstGeom prst="ellipse">
            <a:avLst/>
          </a:prstGeom>
          <a:solidFill>
            <a:srgbClr val="87E5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3"/>
          <p:cNvSpPr txBox="1"/>
          <p:nvPr/>
        </p:nvSpPr>
        <p:spPr>
          <a:xfrm>
            <a:off x="6048375" y="1790700"/>
            <a:ext cx="2524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BGMI</a:t>
            </a:r>
            <a:endParaRPr b="0" sz="950">
              <a:solidFill>
                <a:srgbClr val="FFFFFF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87E5FF"/>
                </a:solidFill>
                <a:latin typeface="DM Mono"/>
                <a:ea typeface="DM Mono"/>
                <a:cs typeface="DM Mono"/>
                <a:sym typeface="DM Mono"/>
              </a:rPr>
              <a:t>com.pubg.imobile</a:t>
            </a:r>
            <a:endParaRPr b="0" sz="800">
              <a:solidFill>
                <a:srgbClr val="87E5FF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576" name="Google Shape;576;p23"/>
          <p:cNvSpPr/>
          <p:nvPr/>
        </p:nvSpPr>
        <p:spPr>
          <a:xfrm>
            <a:off x="5829300" y="2209800"/>
            <a:ext cx="2819400" cy="400200"/>
          </a:xfrm>
          <a:prstGeom prst="roundRect">
            <a:avLst>
              <a:gd fmla="val 9523" name="adj"/>
            </a:avLst>
          </a:prstGeom>
          <a:solidFill>
            <a:srgbClr val="080B18"/>
          </a:solidFill>
          <a:ln cap="flat" cmpd="sng" w="9525">
            <a:solidFill>
              <a:srgbClr val="2A30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3"/>
          <p:cNvSpPr/>
          <p:nvPr/>
        </p:nvSpPr>
        <p:spPr>
          <a:xfrm>
            <a:off x="5924550" y="2381250"/>
            <a:ext cx="57300" cy="57300"/>
          </a:xfrm>
          <a:prstGeom prst="ellipse">
            <a:avLst/>
          </a:prstGeom>
          <a:solidFill>
            <a:srgbClr val="9D6C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3"/>
          <p:cNvSpPr txBox="1"/>
          <p:nvPr/>
        </p:nvSpPr>
        <p:spPr>
          <a:xfrm>
            <a:off x="6048375" y="2247900"/>
            <a:ext cx="2524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Valorant Mobile</a:t>
            </a:r>
            <a:endParaRPr b="0" sz="950">
              <a:solidFill>
                <a:srgbClr val="FFFFFF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9D6CFF"/>
                </a:solidFill>
                <a:latin typeface="DM Mono"/>
                <a:ea typeface="DM Mono"/>
                <a:cs typeface="DM Mono"/>
                <a:sym typeface="DM Mono"/>
              </a:rPr>
              <a:t>com.riotgames.valorant.mobile</a:t>
            </a:r>
            <a:endParaRPr b="0" sz="800">
              <a:solidFill>
                <a:srgbClr val="9D6CFF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579" name="Google Shape;579;p23"/>
          <p:cNvSpPr/>
          <p:nvPr/>
        </p:nvSpPr>
        <p:spPr>
          <a:xfrm>
            <a:off x="5829300" y="2667000"/>
            <a:ext cx="2819400" cy="400200"/>
          </a:xfrm>
          <a:prstGeom prst="roundRect">
            <a:avLst>
              <a:gd fmla="val 9523" name="adj"/>
            </a:avLst>
          </a:prstGeom>
          <a:solidFill>
            <a:srgbClr val="080B18"/>
          </a:solidFill>
          <a:ln cap="flat" cmpd="sng" w="9525">
            <a:solidFill>
              <a:srgbClr val="2A30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3"/>
          <p:cNvSpPr/>
          <p:nvPr/>
        </p:nvSpPr>
        <p:spPr>
          <a:xfrm>
            <a:off x="5924550" y="2838450"/>
            <a:ext cx="57300" cy="57300"/>
          </a:xfrm>
          <a:prstGeom prst="ellipse">
            <a:avLst/>
          </a:prstGeom>
          <a:solidFill>
            <a:srgbClr val="74E7A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3"/>
          <p:cNvSpPr txBox="1"/>
          <p:nvPr/>
        </p:nvSpPr>
        <p:spPr>
          <a:xfrm>
            <a:off x="6048375" y="2705100"/>
            <a:ext cx="2524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Apex Legends Mobile</a:t>
            </a:r>
            <a:endParaRPr b="0" sz="950">
              <a:solidFill>
                <a:srgbClr val="FFFFFF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rPr>
              <a:t>Tactical Battle Royale</a:t>
            </a:r>
            <a:endParaRPr b="0" sz="800">
              <a:solidFill>
                <a:srgbClr val="A0AEC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82" name="Google Shape;582;p23"/>
          <p:cNvSpPr/>
          <p:nvPr/>
        </p:nvSpPr>
        <p:spPr>
          <a:xfrm>
            <a:off x="5829300" y="3124200"/>
            <a:ext cx="2819400" cy="400200"/>
          </a:xfrm>
          <a:prstGeom prst="roundRect">
            <a:avLst>
              <a:gd fmla="val 9523" name="adj"/>
            </a:avLst>
          </a:prstGeom>
          <a:solidFill>
            <a:srgbClr val="080B18"/>
          </a:solidFill>
          <a:ln cap="flat" cmpd="sng" w="9525">
            <a:solidFill>
              <a:srgbClr val="2A30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3"/>
          <p:cNvSpPr/>
          <p:nvPr/>
        </p:nvSpPr>
        <p:spPr>
          <a:xfrm>
            <a:off x="5924550" y="3295650"/>
            <a:ext cx="57300" cy="57300"/>
          </a:xfrm>
          <a:prstGeom prst="ellipse">
            <a:avLst/>
          </a:prstGeom>
          <a:solidFill>
            <a:srgbClr val="F3C9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3"/>
          <p:cNvSpPr txBox="1"/>
          <p:nvPr/>
        </p:nvSpPr>
        <p:spPr>
          <a:xfrm>
            <a:off x="6048375" y="3162300"/>
            <a:ext cx="2524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Resident Evil 4</a:t>
            </a:r>
            <a:endParaRPr b="0" sz="950">
              <a:solidFill>
                <a:srgbClr val="FFFFFF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rPr>
              <a:t>AAA Survival Horror Engine</a:t>
            </a:r>
            <a:endParaRPr b="0" sz="800">
              <a:solidFill>
                <a:srgbClr val="A0AEC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85" name="Google Shape;585;p23"/>
          <p:cNvSpPr/>
          <p:nvPr/>
        </p:nvSpPr>
        <p:spPr>
          <a:xfrm>
            <a:off x="5829300" y="3581400"/>
            <a:ext cx="2819400" cy="400200"/>
          </a:xfrm>
          <a:prstGeom prst="roundRect">
            <a:avLst>
              <a:gd fmla="val 9523" name="adj"/>
            </a:avLst>
          </a:prstGeom>
          <a:solidFill>
            <a:srgbClr val="080B18"/>
          </a:solidFill>
          <a:ln cap="flat" cmpd="sng" w="9525">
            <a:solidFill>
              <a:srgbClr val="2A30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3"/>
          <p:cNvSpPr/>
          <p:nvPr/>
        </p:nvSpPr>
        <p:spPr>
          <a:xfrm>
            <a:off x="5924550" y="3752850"/>
            <a:ext cx="57300" cy="57300"/>
          </a:xfrm>
          <a:prstGeom prst="ellipse">
            <a:avLst/>
          </a:prstGeom>
          <a:solidFill>
            <a:srgbClr val="87E5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3"/>
          <p:cNvSpPr txBox="1"/>
          <p:nvPr/>
        </p:nvSpPr>
        <p:spPr>
          <a:xfrm>
            <a:off x="6048375" y="3619500"/>
            <a:ext cx="2524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Cyberpunk 2077</a:t>
            </a:r>
            <a:endParaRPr b="0" sz="950">
              <a:solidFill>
                <a:srgbClr val="FFFFFF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rPr>
              <a:t>Next-Gen Cloud Streaming</a:t>
            </a:r>
            <a:endParaRPr b="0" sz="800">
              <a:solidFill>
                <a:srgbClr val="A0AEC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88" name="Google Shape;588;p23"/>
          <p:cNvSpPr/>
          <p:nvPr/>
        </p:nvSpPr>
        <p:spPr>
          <a:xfrm>
            <a:off x="5829300" y="4038600"/>
            <a:ext cx="2819400" cy="400200"/>
          </a:xfrm>
          <a:prstGeom prst="roundRect">
            <a:avLst>
              <a:gd fmla="val 9523" name="adj"/>
            </a:avLst>
          </a:prstGeom>
          <a:solidFill>
            <a:srgbClr val="080B18"/>
          </a:solidFill>
          <a:ln cap="flat" cmpd="sng" w="9525">
            <a:solidFill>
              <a:srgbClr val="2A30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3"/>
          <p:cNvSpPr/>
          <p:nvPr/>
        </p:nvSpPr>
        <p:spPr>
          <a:xfrm>
            <a:off x="5924550" y="4210050"/>
            <a:ext cx="57300" cy="57300"/>
          </a:xfrm>
          <a:prstGeom prst="ellipse">
            <a:avLst/>
          </a:prstGeom>
          <a:solidFill>
            <a:srgbClr val="9D6C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23"/>
          <p:cNvSpPr txBox="1"/>
          <p:nvPr/>
        </p:nvSpPr>
        <p:spPr>
          <a:xfrm>
            <a:off x="6048375" y="4076700"/>
            <a:ext cx="2524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Elden Ring</a:t>
            </a:r>
            <a:endParaRPr b="0" sz="950">
              <a:solidFill>
                <a:srgbClr val="FFFFFF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rPr>
              <a:t>Action RPG Cloud Engine</a:t>
            </a:r>
            <a:endParaRPr b="0" sz="800">
              <a:solidFill>
                <a:srgbClr val="A0AEC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91" name="Google Shape;591;p23"/>
          <p:cNvSpPr txBox="1"/>
          <p:nvPr/>
        </p:nvSpPr>
        <p:spPr>
          <a:xfrm>
            <a:off x="381000" y="476250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23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rPr>
              <a:t>NIGHT HOURS v2.0 // ZONE 4 VM ENGINE</a:t>
            </a:r>
            <a:r>
              <a:rPr lang="en" sz="1190"/>
              <a:t> </a:t>
            </a:r>
            <a:r>
              <a:rPr b="0" lang="en" sz="723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rPr>
              <a:t>ARCHITECTURE &amp; EXECUTION MODES</a:t>
            </a:r>
            <a:endParaRPr sz="119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B18"/>
        </a:solid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0132A">
                  <a:alpha val="89804"/>
                </a:srgbClr>
              </a:gs>
              <a:gs pos="100000">
                <a:srgbClr val="080B18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7" name="Google Shape;59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8" name="Google Shape;598;p24"/>
          <p:cNvGrpSpPr/>
          <p:nvPr/>
        </p:nvGrpSpPr>
        <p:grpSpPr>
          <a:xfrm>
            <a:off x="381000" y="209550"/>
            <a:ext cx="304800" cy="304800"/>
            <a:chOff x="0" y="0"/>
            <a:chExt cx="304800" cy="304800"/>
          </a:xfrm>
        </p:grpSpPr>
        <p:sp>
          <p:nvSpPr>
            <p:cNvPr id="599" name="Google Shape;599;p24"/>
            <p:cNvSpPr/>
            <p:nvPr/>
          </p:nvSpPr>
          <p:spPr>
            <a:xfrm>
              <a:off x="0" y="0"/>
              <a:ext cx="304800" cy="3048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30000"/>
                  </a:lnTo>
                  <a:lnTo>
                    <a:pt x="120000" y="90000"/>
                  </a:lnTo>
                  <a:lnTo>
                    <a:pt x="60000" y="120000"/>
                  </a:lnTo>
                  <a:lnTo>
                    <a:pt x="0" y="90000"/>
                  </a:lnTo>
                  <a:lnTo>
                    <a:pt x="0" y="3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9D6C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24"/>
            <p:cNvSpPr/>
            <p:nvPr/>
          </p:nvSpPr>
          <p:spPr>
            <a:xfrm>
              <a:off x="28575" y="28575"/>
              <a:ext cx="247800" cy="2478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32308"/>
                  </a:lnTo>
                  <a:lnTo>
                    <a:pt x="120000" y="87692"/>
                  </a:lnTo>
                  <a:lnTo>
                    <a:pt x="60000" y="120000"/>
                  </a:lnTo>
                  <a:lnTo>
                    <a:pt x="0" y="87692"/>
                  </a:lnTo>
                  <a:lnTo>
                    <a:pt x="0" y="32308"/>
                  </a:lnTo>
                  <a:close/>
                </a:path>
              </a:pathLst>
            </a:custGeom>
            <a:solidFill>
              <a:srgbClr val="10132A"/>
            </a:solidFill>
            <a:ln cap="flat" cmpd="sng" w="9525">
              <a:solidFill>
                <a:srgbClr val="87E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24"/>
            <p:cNvSpPr/>
            <p:nvPr/>
          </p:nvSpPr>
          <p:spPr>
            <a:xfrm>
              <a:off x="95250" y="114300"/>
              <a:ext cx="114300" cy="762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moveTo>
                    <a:pt x="0" y="0"/>
                  </a:moveTo>
                  <a:lnTo>
                    <a:pt x="60000" y="120000"/>
                  </a:lnTo>
                  <a:moveTo>
                    <a:pt x="60000" y="0"/>
                  </a:moveTo>
                  <a:lnTo>
                    <a:pt x="60000" y="120000"/>
                  </a:lnTo>
                  <a:moveTo>
                    <a:pt x="120000" y="0"/>
                  </a:moveTo>
                  <a:lnTo>
                    <a:pt x="120000" y="120000"/>
                  </a:lnTo>
                  <a:moveTo>
                    <a:pt x="80000" y="60000"/>
                  </a:moveTo>
                  <a:lnTo>
                    <a:pt x="120000" y="6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2" name="Google Shape;602;p24"/>
          <p:cNvSpPr txBox="1"/>
          <p:nvPr/>
        </p:nvSpPr>
        <p:spPr>
          <a:xfrm>
            <a:off x="809625" y="171450"/>
            <a:ext cx="79533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NEW IN V2.0: PC-TO-MOBILE KEYMAPPER &amp; ADB TOUCH BRIDGE</a:t>
            </a:r>
            <a:endParaRPr b="1" sz="200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F3C96D"/>
                </a:solidFill>
                <a:latin typeface="Outfit Medium"/>
                <a:ea typeface="Outfit Medium"/>
                <a:cs typeface="Outfit Medium"/>
                <a:sym typeface="Outfit Medium"/>
              </a:rPr>
              <a:t>Arch:</a:t>
            </a:r>
            <a:r>
              <a:rPr b="0" lang="en" sz="1050">
                <a:solidFill>
                  <a:srgbClr val="87E5FF"/>
                </a:solidFill>
                <a:latin typeface="Outfit Medium"/>
                <a:ea typeface="Outfit Medium"/>
                <a:cs typeface="Outfit Medium"/>
                <a:sym typeface="Outfit Medium"/>
              </a:rPr>
              <a:t> NightArena.jsx </a:t>
            </a:r>
            <a:r>
              <a:rPr b="0" lang="en" sz="1050">
                <a:solidFill>
                  <a:srgbClr val="A0AEC0"/>
                </a:solidFill>
                <a:latin typeface="Outfit Medium"/>
                <a:ea typeface="Outfit Medium"/>
                <a:cs typeface="Outfit Medium"/>
                <a:sym typeface="Outfit Medium"/>
              </a:rPr>
              <a:t>+</a:t>
            </a:r>
            <a:r>
              <a:rPr b="0" lang="en" sz="1050">
                <a:solidFill>
                  <a:srgbClr val="87E5FF"/>
                </a:solidFill>
                <a:latin typeface="Outfit Medium"/>
                <a:ea typeface="Outfit Medium"/>
                <a:cs typeface="Outfit Medium"/>
                <a:sym typeface="Outfit Medium"/>
              </a:rPr>
              <a:t> vm-host-agent.js </a:t>
            </a:r>
            <a:r>
              <a:rPr b="0" lang="en" sz="1050">
                <a:solidFill>
                  <a:srgbClr val="A0AEC0"/>
                </a:solidFill>
                <a:latin typeface="Outfit Medium"/>
                <a:ea typeface="Outfit Medium"/>
                <a:cs typeface="Outfit Medium"/>
                <a:sym typeface="Outfit Medium"/>
              </a:rPr>
              <a:t>+</a:t>
            </a:r>
            <a:r>
              <a:rPr b="0" lang="en" sz="1050">
                <a:solidFill>
                  <a:srgbClr val="87E5FF"/>
                </a:solidFill>
                <a:latin typeface="Outfit Medium"/>
                <a:ea typeface="Outfit Medium"/>
                <a:cs typeface="Outfit Medium"/>
                <a:sym typeface="Outfit Medium"/>
              </a:rPr>
              <a:t> backend/src/routes/sessions.js</a:t>
            </a:r>
            <a:endParaRPr b="0" sz="1050">
              <a:solidFill>
                <a:srgbClr val="87E5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603" name="Google Shape;603;p24"/>
          <p:cNvSpPr/>
          <p:nvPr/>
        </p:nvSpPr>
        <p:spPr>
          <a:xfrm>
            <a:off x="381000" y="952500"/>
            <a:ext cx="8382000" cy="19200"/>
          </a:xfrm>
          <a:prstGeom prst="rect">
            <a:avLst/>
          </a:prstGeom>
          <a:gradFill>
            <a:gsLst>
              <a:gs pos="0">
                <a:srgbClr val="87E5FF"/>
              </a:gs>
              <a:gs pos="50000">
                <a:srgbClr val="9D6CFF"/>
              </a:gs>
              <a:gs pos="100000">
                <a:srgbClr val="080B18"/>
              </a:gs>
            </a:gsLst>
            <a:lin ang="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4" name="Google Shape;604;p24"/>
          <p:cNvGrpSpPr/>
          <p:nvPr/>
        </p:nvGrpSpPr>
        <p:grpSpPr>
          <a:xfrm>
            <a:off x="381000" y="1114425"/>
            <a:ext cx="4000500" cy="1733625"/>
            <a:chOff x="0" y="-9525"/>
            <a:chExt cx="4000500" cy="1733625"/>
          </a:xfrm>
        </p:grpSpPr>
        <p:sp>
          <p:nvSpPr>
            <p:cNvPr id="605" name="Google Shape;605;p24"/>
            <p:cNvSpPr/>
            <p:nvPr/>
          </p:nvSpPr>
          <p:spPr>
            <a:xfrm>
              <a:off x="0" y="0"/>
              <a:ext cx="4000500" cy="1714500"/>
            </a:xfrm>
            <a:prstGeom prst="roundRect">
              <a:avLst>
                <a:gd fmla="val 3333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24"/>
            <p:cNvSpPr/>
            <p:nvPr/>
          </p:nvSpPr>
          <p:spPr>
            <a:xfrm>
              <a:off x="0" y="0"/>
              <a:ext cx="4000500" cy="28500"/>
            </a:xfrm>
            <a:prstGeom prst="roundRect">
              <a:avLst>
                <a:gd fmla="val 33333" name="adj"/>
              </a:avLst>
            </a:prstGeom>
            <a:solidFill>
              <a:srgbClr val="87E5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07" name="Google Shape;607;p24"/>
            <p:cNvGrpSpPr/>
            <p:nvPr/>
          </p:nvGrpSpPr>
          <p:grpSpPr>
            <a:xfrm>
              <a:off x="28575" y="-9525"/>
              <a:ext cx="3943425" cy="1733625"/>
              <a:chOff x="-9525" y="-9525"/>
              <a:chExt cx="3943425" cy="1733625"/>
            </a:xfrm>
          </p:grpSpPr>
          <p:pic>
            <p:nvPicPr>
              <p:cNvPr id="608" name="Google Shape;608;p2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9525" y="-9525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09" name="Google Shape;609;p2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848100" y="-9525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10" name="Google Shape;610;p2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-9525" y="1638300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11" name="Google Shape;611;p24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3848100" y="1638300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12" name="Google Shape;612;p24"/>
            <p:cNvSpPr txBox="1"/>
            <p:nvPr/>
          </p:nvSpPr>
          <p:spPr>
            <a:xfrm>
              <a:off x="152400" y="114300"/>
              <a:ext cx="3695700" cy="14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87E5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BGMI Erangel Preset</a:t>
              </a:r>
              <a:r>
                <a:rPr lang="en"/>
                <a:t> </a:t>
              </a:r>
              <a:r>
                <a:rPr b="0" lang="en" sz="750">
                  <a:solidFill>
                    <a:srgbClr val="F3C96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16 MAPPED CONTROLS</a:t>
              </a:r>
              <a:endParaRPr/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FFF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Joystick:</a:t>
              </a:r>
              <a:r>
                <a:rPr b="0" lang="en" sz="10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WASD + Shift Virtual Joystick</a:t>
              </a:r>
              <a:endParaRPr b="0" sz="10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FFF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Combat:</a:t>
              </a:r>
              <a:r>
                <a:rPr b="0" lang="en" sz="10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L-Click Auto Fire | R-Click 4x Scope | Q/E Peek Lean</a:t>
              </a:r>
              <a:endParaRPr b="0" sz="10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FFF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Stance &amp; Action:</a:t>
              </a:r>
              <a:r>
                <a:rPr b="0" lang="en" sz="10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Space Jump | C Crouch | Z Prone | R Reload</a:t>
              </a:r>
              <a:endParaRPr b="0" sz="10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FFF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Utility:</a:t>
              </a:r>
              <a:r>
                <a:rPr b="0" lang="en" sz="10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F Loot Crate | 1/2/3/G Slots | Tab Bag | M Map</a:t>
              </a:r>
              <a:endParaRPr b="0" sz="10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613" name="Google Shape;613;p24"/>
          <p:cNvGrpSpPr/>
          <p:nvPr/>
        </p:nvGrpSpPr>
        <p:grpSpPr>
          <a:xfrm>
            <a:off x="381000" y="2943225"/>
            <a:ext cx="4000500" cy="1733625"/>
            <a:chOff x="0" y="-9525"/>
            <a:chExt cx="4000500" cy="1733625"/>
          </a:xfrm>
        </p:grpSpPr>
        <p:sp>
          <p:nvSpPr>
            <p:cNvPr id="614" name="Google Shape;614;p24"/>
            <p:cNvSpPr/>
            <p:nvPr/>
          </p:nvSpPr>
          <p:spPr>
            <a:xfrm>
              <a:off x="0" y="0"/>
              <a:ext cx="4000500" cy="1714500"/>
            </a:xfrm>
            <a:prstGeom prst="roundRect">
              <a:avLst>
                <a:gd fmla="val 3333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24"/>
            <p:cNvSpPr/>
            <p:nvPr/>
          </p:nvSpPr>
          <p:spPr>
            <a:xfrm>
              <a:off x="0" y="0"/>
              <a:ext cx="4000500" cy="28500"/>
            </a:xfrm>
            <a:prstGeom prst="roundRect">
              <a:avLst>
                <a:gd fmla="val 33333" name="adj"/>
              </a:avLst>
            </a:prstGeom>
            <a:solidFill>
              <a:srgbClr val="9D6C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16" name="Google Shape;616;p24"/>
            <p:cNvGrpSpPr/>
            <p:nvPr/>
          </p:nvGrpSpPr>
          <p:grpSpPr>
            <a:xfrm>
              <a:off x="28575" y="-9525"/>
              <a:ext cx="3943425" cy="1733625"/>
              <a:chOff x="-9525" y="-9525"/>
              <a:chExt cx="3943425" cy="1733625"/>
            </a:xfrm>
          </p:grpSpPr>
          <p:pic>
            <p:nvPicPr>
              <p:cNvPr id="617" name="Google Shape;617;p2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9525" y="-9525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18" name="Google Shape;618;p2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848100" y="-9525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19" name="Google Shape;619;p2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-9525" y="1638300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20" name="Google Shape;620;p24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3848100" y="1638300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21" name="Google Shape;621;p24"/>
            <p:cNvSpPr txBox="1"/>
            <p:nvPr/>
          </p:nvSpPr>
          <p:spPr>
            <a:xfrm>
              <a:off x="152400" y="114300"/>
              <a:ext cx="3695700" cy="14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9D6C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Valorant Jett Preset</a:t>
              </a:r>
              <a:r>
                <a:rPr lang="en"/>
                <a:t> </a:t>
              </a:r>
              <a:r>
                <a:rPr b="0" lang="en" sz="750">
                  <a:solidFill>
                    <a:srgbClr val="F3C96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14 MAPPED CONTROLS</a:t>
              </a:r>
              <a:endParaRPr/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FFF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Abilities:</a:t>
              </a:r>
              <a:r>
                <a:rPr b="0" lang="en" sz="10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C Cloudburst Smoke | Q Updraft | E Tailwind Dash</a:t>
              </a:r>
              <a:endParaRPr b="0" sz="10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FFF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Ultimate:</a:t>
              </a:r>
              <a:r>
                <a:rPr b="0" lang="en" sz="10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X Blade Storm Ultimate</a:t>
              </a:r>
              <a:endParaRPr b="0" sz="10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FFF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Weapons &amp; Loadout:</a:t>
              </a:r>
              <a:r>
                <a:rPr b="0" lang="en" sz="10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1/2 Vandal/Sheriff | B Buy | G Drop</a:t>
              </a:r>
              <a:endParaRPr b="0" sz="10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FFF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Objective:</a:t>
              </a:r>
              <a:r>
                <a:rPr b="0" lang="en" sz="10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4 Plant / Defuse Spike</a:t>
              </a:r>
              <a:endParaRPr b="0" sz="10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622" name="Google Shape;622;p24"/>
          <p:cNvGrpSpPr/>
          <p:nvPr/>
        </p:nvGrpSpPr>
        <p:grpSpPr>
          <a:xfrm>
            <a:off x="4572000" y="1114425"/>
            <a:ext cx="4191000" cy="1733625"/>
            <a:chOff x="0" y="-9525"/>
            <a:chExt cx="4191000" cy="1733625"/>
          </a:xfrm>
        </p:grpSpPr>
        <p:sp>
          <p:nvSpPr>
            <p:cNvPr id="623" name="Google Shape;623;p24"/>
            <p:cNvSpPr/>
            <p:nvPr/>
          </p:nvSpPr>
          <p:spPr>
            <a:xfrm>
              <a:off x="0" y="0"/>
              <a:ext cx="4191000" cy="1714500"/>
            </a:xfrm>
            <a:prstGeom prst="roundRect">
              <a:avLst>
                <a:gd fmla="val 3333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24"/>
            <p:cNvSpPr/>
            <p:nvPr/>
          </p:nvSpPr>
          <p:spPr>
            <a:xfrm>
              <a:off x="0" y="0"/>
              <a:ext cx="4191000" cy="28500"/>
            </a:xfrm>
            <a:prstGeom prst="roundRect">
              <a:avLst>
                <a:gd fmla="val 33333" name="adj"/>
              </a:avLst>
            </a:prstGeom>
            <a:solidFill>
              <a:srgbClr val="74E7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25" name="Google Shape;625;p24"/>
            <p:cNvGrpSpPr/>
            <p:nvPr/>
          </p:nvGrpSpPr>
          <p:grpSpPr>
            <a:xfrm>
              <a:off x="28575" y="-9525"/>
              <a:ext cx="4133925" cy="1733625"/>
              <a:chOff x="-9525" y="-9525"/>
              <a:chExt cx="4133925" cy="1733625"/>
            </a:xfrm>
          </p:grpSpPr>
          <p:pic>
            <p:nvPicPr>
              <p:cNvPr id="626" name="Google Shape;626;p2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9525" y="-9525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27" name="Google Shape;627;p2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4038600" y="-9525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28" name="Google Shape;628;p2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-9525" y="1638300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29" name="Google Shape;629;p24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4038600" y="1638300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30" name="Google Shape;630;p24"/>
            <p:cNvSpPr txBox="1"/>
            <p:nvPr/>
          </p:nvSpPr>
          <p:spPr>
            <a:xfrm>
              <a:off x="152400" y="114300"/>
              <a:ext cx="3886200" cy="14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74E7A8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Live Customization Engine</a:t>
              </a:r>
              <a:endParaRPr b="0" sz="850">
                <a:solidFill>
                  <a:srgbClr val="74E7A8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• </a:t>
              </a:r>
              <a:r>
                <a:rPr b="0" lang="en" sz="100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Interactive Editor:</a:t>
              </a:r>
              <a:r>
                <a:rPr b="0" lang="en" sz="10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Drag-and-drop keymap nodes with instant click-to-rebind</a:t>
              </a:r>
              <a:endParaRPr b="0" sz="10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• </a:t>
              </a:r>
              <a:r>
                <a:rPr b="0" lang="en" sz="100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State Persistence:</a:t>
              </a:r>
              <a:r>
                <a:rPr b="0" lang="en" sz="10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Auto-saved in </a:t>
              </a:r>
              <a:r>
                <a:rPr b="0" lang="en" sz="8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localStorage</a:t>
              </a:r>
              <a:r>
                <a:rPr b="0" lang="en" sz="10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as </a:t>
              </a:r>
              <a:r>
                <a:rPr b="0" lang="en" sz="8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nh_keymap_&lt;gameId&gt;</a:t>
              </a:r>
              <a:endParaRPr b="0" sz="10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• </a:t>
              </a:r>
              <a:r>
                <a:rPr b="0" lang="en" sz="100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Visual Feedback:</a:t>
              </a:r>
              <a:r>
                <a:rPr b="0" lang="en" sz="10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Animated touch ripples overlaid on native 1920×1080 display screen</a:t>
              </a:r>
              <a:endParaRPr b="0" sz="10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631" name="Google Shape;631;p24"/>
          <p:cNvGrpSpPr/>
          <p:nvPr/>
        </p:nvGrpSpPr>
        <p:grpSpPr>
          <a:xfrm>
            <a:off x="4572000" y="2952750"/>
            <a:ext cx="4191000" cy="1714500"/>
            <a:chOff x="0" y="0"/>
            <a:chExt cx="4191000" cy="1714500"/>
          </a:xfrm>
        </p:grpSpPr>
        <p:sp>
          <p:nvSpPr>
            <p:cNvPr id="632" name="Google Shape;632;p24"/>
            <p:cNvSpPr/>
            <p:nvPr/>
          </p:nvSpPr>
          <p:spPr>
            <a:xfrm>
              <a:off x="0" y="0"/>
              <a:ext cx="4191000" cy="1714500"/>
            </a:xfrm>
            <a:prstGeom prst="roundRect">
              <a:avLst>
                <a:gd fmla="val 3333" name="adj"/>
              </a:avLst>
            </a:prstGeom>
            <a:solidFill>
              <a:srgbClr val="05070F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24"/>
            <p:cNvSpPr/>
            <p:nvPr/>
          </p:nvSpPr>
          <p:spPr>
            <a:xfrm>
              <a:off x="0" y="0"/>
              <a:ext cx="4191000" cy="209700"/>
            </a:xfrm>
            <a:prstGeom prst="roundRect">
              <a:avLst>
                <a:gd fmla="val 27272" name="adj"/>
              </a:avLst>
            </a:prstGeom>
            <a:solidFill>
              <a:srgbClr val="1013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24"/>
            <p:cNvSpPr/>
            <p:nvPr/>
          </p:nvSpPr>
          <p:spPr>
            <a:xfrm>
              <a:off x="80963" y="71438"/>
              <a:ext cx="66600" cy="666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24"/>
            <p:cNvSpPr/>
            <p:nvPr/>
          </p:nvSpPr>
          <p:spPr>
            <a:xfrm>
              <a:off x="185738" y="71438"/>
              <a:ext cx="66600" cy="666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24"/>
            <p:cNvSpPr/>
            <p:nvPr/>
          </p:nvSpPr>
          <p:spPr>
            <a:xfrm>
              <a:off x="290513" y="71438"/>
              <a:ext cx="66600" cy="666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24"/>
            <p:cNvSpPr txBox="1"/>
            <p:nvPr/>
          </p:nvSpPr>
          <p:spPr>
            <a:xfrm>
              <a:off x="476250" y="28575"/>
              <a:ext cx="35244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A0AEC0"/>
                  </a:solidFill>
                  <a:latin typeface="DM Mono"/>
                  <a:ea typeface="DM Mono"/>
                  <a:cs typeface="DM Mono"/>
                  <a:sym typeface="DM Mono"/>
                </a:rPr>
                <a:t>Real-Time ADB Pipeline — Socket.IO Translation</a:t>
              </a:r>
              <a:endParaRPr b="0" sz="75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sp>
          <p:nvSpPr>
            <p:cNvPr id="638" name="Google Shape;638;p24"/>
            <p:cNvSpPr txBox="1"/>
            <p:nvPr/>
          </p:nvSpPr>
          <p:spPr>
            <a:xfrm>
              <a:off x="133350" y="266700"/>
              <a:ext cx="392430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A0AEC0"/>
                  </a:solidFill>
                  <a:latin typeface="DM Mono"/>
                  <a:ea typeface="DM Mono"/>
                  <a:cs typeface="DM Mono"/>
                  <a:sym typeface="DM Mono"/>
                </a:rPr>
                <a:t>// 1. Browser Event Dispatch</a:t>
              </a:r>
              <a:endParaRPr b="0" sz="95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rPr>
                <a:t>socket.emit(</a:t>
              </a:r>
              <a:r>
                <a:rPr b="0" lang="en" sz="950">
                  <a:solidFill>
                    <a:srgbClr val="F3C96D"/>
                  </a:solidFill>
                  <a:latin typeface="DM Mono"/>
                  <a:ea typeface="DM Mono"/>
                  <a:cs typeface="DM Mono"/>
                  <a:sym typeface="DM Mono"/>
                </a:rPr>
                <a:t>'vm-input'</a:t>
              </a:r>
              <a:r>
                <a:rPr b="0" lang="en" sz="95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rPr>
                <a:t>, { type, coords });</a:t>
              </a:r>
              <a:endParaRPr b="0" sz="950">
                <a:solidFill>
                  <a:srgbClr val="87E5FF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A0AEC0"/>
                  </a:solidFill>
                  <a:latin typeface="DM Mono"/>
                  <a:ea typeface="DM Mono"/>
                  <a:cs typeface="DM Mono"/>
                  <a:sym typeface="DM Mono"/>
                </a:rPr>
                <a:t>// 2. Backend &amp; vm-host-agent.js Execution</a:t>
              </a:r>
              <a:endParaRPr b="0" sz="95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adb -s 127.0.0.1:5555 shell input tap &lt;x&gt; &lt;y&gt;</a:t>
              </a:r>
              <a:endParaRPr b="0" sz="95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adb -s 127.0.0.1:5555 shell input swipe &lt;x1&gt; &lt;y1&gt; &lt;x2&gt; &lt;y2&gt; 110</a:t>
              </a:r>
              <a:endParaRPr b="0" sz="95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</p:grpSp>
      <p:sp>
        <p:nvSpPr>
          <p:cNvPr id="639" name="Google Shape;639;p24"/>
          <p:cNvSpPr txBox="1"/>
          <p:nvPr/>
        </p:nvSpPr>
        <p:spPr>
          <a:xfrm>
            <a:off x="381000" y="480060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68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rPr>
              <a:t>NIGHT HOURS v2.0 ARCHITECTURE</a:t>
            </a:r>
            <a:r>
              <a:rPr lang="en" sz="1190"/>
              <a:t> </a:t>
            </a:r>
            <a:r>
              <a:rPr b="0" lang="en" sz="68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rPr>
              <a:t>ADB TOUCH BRIDGE &amp; KEYMAPPER</a:t>
            </a:r>
            <a:endParaRPr sz="119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0132A">
                <a:alpha val="80000"/>
              </a:srgbClr>
            </a:gs>
            <a:gs pos="100000">
              <a:srgbClr val="080B1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4" name="Google Shape;64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5" name="Google Shape;645;p25"/>
          <p:cNvGrpSpPr/>
          <p:nvPr/>
        </p:nvGrpSpPr>
        <p:grpSpPr>
          <a:xfrm>
            <a:off x="381000" y="209550"/>
            <a:ext cx="381000" cy="381000"/>
            <a:chOff x="0" y="0"/>
            <a:chExt cx="381000" cy="381000"/>
          </a:xfrm>
        </p:grpSpPr>
        <p:sp>
          <p:nvSpPr>
            <p:cNvPr id="646" name="Google Shape;646;p25"/>
            <p:cNvSpPr/>
            <p:nvPr/>
          </p:nvSpPr>
          <p:spPr>
            <a:xfrm>
              <a:off x="0" y="0"/>
              <a:ext cx="381000" cy="3810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30000"/>
                  </a:lnTo>
                  <a:lnTo>
                    <a:pt x="120000" y="90000"/>
                  </a:lnTo>
                  <a:lnTo>
                    <a:pt x="60000" y="120000"/>
                  </a:lnTo>
                  <a:lnTo>
                    <a:pt x="0" y="90000"/>
                  </a:lnTo>
                  <a:lnTo>
                    <a:pt x="0" y="3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9D6C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25"/>
            <p:cNvSpPr/>
            <p:nvPr/>
          </p:nvSpPr>
          <p:spPr>
            <a:xfrm>
              <a:off x="38100" y="38100"/>
              <a:ext cx="304800" cy="3048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30000"/>
                  </a:lnTo>
                  <a:lnTo>
                    <a:pt x="120000" y="90000"/>
                  </a:lnTo>
                  <a:lnTo>
                    <a:pt x="60000" y="120000"/>
                  </a:lnTo>
                  <a:lnTo>
                    <a:pt x="0" y="90000"/>
                  </a:lnTo>
                  <a:lnTo>
                    <a:pt x="0" y="30000"/>
                  </a:lnTo>
                  <a:close/>
                </a:path>
              </a:pathLst>
            </a:custGeom>
            <a:solidFill>
              <a:srgbClr val="10132A"/>
            </a:solidFill>
            <a:ln cap="flat" cmpd="sng" w="9525">
              <a:solidFill>
                <a:srgbClr val="87E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25"/>
            <p:cNvSpPr/>
            <p:nvPr/>
          </p:nvSpPr>
          <p:spPr>
            <a:xfrm>
              <a:off x="114300" y="142875"/>
              <a:ext cx="152400" cy="95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moveTo>
                    <a:pt x="0" y="0"/>
                  </a:moveTo>
                  <a:lnTo>
                    <a:pt x="60000" y="120000"/>
                  </a:lnTo>
                  <a:moveTo>
                    <a:pt x="60000" y="0"/>
                  </a:moveTo>
                  <a:lnTo>
                    <a:pt x="60000" y="120000"/>
                  </a:lnTo>
                  <a:moveTo>
                    <a:pt x="120000" y="0"/>
                  </a:moveTo>
                  <a:lnTo>
                    <a:pt x="120000" y="120000"/>
                  </a:lnTo>
                  <a:moveTo>
                    <a:pt x="82500" y="60000"/>
                  </a:moveTo>
                  <a:lnTo>
                    <a:pt x="120000" y="6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9" name="Google Shape;649;p25"/>
          <p:cNvSpPr txBox="1"/>
          <p:nvPr/>
        </p:nvSpPr>
        <p:spPr>
          <a:xfrm>
            <a:off x="904875" y="171450"/>
            <a:ext cx="78582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NEW IN V2.0: BUILT-IN 60 FPS CANVAS BATTLE SIMULATOR</a:t>
            </a:r>
            <a:endParaRPr b="1" sz="200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87E5FF"/>
                </a:solidFill>
                <a:latin typeface="DM Mono"/>
                <a:ea typeface="DM Mono"/>
                <a:cs typeface="DM Mono"/>
                <a:sym typeface="DM Mono"/>
              </a:rPr>
              <a:t>Night Arena • </a:t>
            </a:r>
            <a:r>
              <a:rPr b="0" lang="en" sz="105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rPr>
              <a:t>startMobileVmSimulation</a:t>
            </a:r>
            <a:r>
              <a:rPr b="0" lang="en" sz="1050">
                <a:solidFill>
                  <a:srgbClr val="87E5FF"/>
                </a:solidFill>
                <a:latin typeface="DM Mono"/>
                <a:ea typeface="DM Mono"/>
                <a:cs typeface="DM Mono"/>
                <a:sym typeface="DM Mono"/>
              </a:rPr>
              <a:t> in </a:t>
            </a:r>
            <a:r>
              <a:rPr b="0" lang="en" sz="1050">
                <a:solidFill>
                  <a:srgbClr val="F3C96D"/>
                </a:solidFill>
                <a:latin typeface="DM Mono"/>
                <a:ea typeface="DM Mono"/>
                <a:cs typeface="DM Mono"/>
                <a:sym typeface="DM Mono"/>
              </a:rPr>
              <a:t>NightArena.jsx</a:t>
            </a:r>
            <a:endParaRPr b="0" sz="1050">
              <a:solidFill>
                <a:srgbClr val="87E5FF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650" name="Google Shape;650;p25"/>
          <p:cNvSpPr/>
          <p:nvPr/>
        </p:nvSpPr>
        <p:spPr>
          <a:xfrm>
            <a:off x="381000" y="933450"/>
            <a:ext cx="8382000" cy="19200"/>
          </a:xfrm>
          <a:prstGeom prst="rect">
            <a:avLst/>
          </a:prstGeom>
          <a:gradFill>
            <a:gsLst>
              <a:gs pos="0">
                <a:srgbClr val="87E5FF"/>
              </a:gs>
              <a:gs pos="50000">
                <a:srgbClr val="9D6CFF"/>
              </a:gs>
              <a:gs pos="100000">
                <a:srgbClr val="080B18"/>
              </a:gs>
            </a:gsLst>
            <a:lin ang="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1" name="Google Shape;651;p25"/>
          <p:cNvGrpSpPr/>
          <p:nvPr/>
        </p:nvGrpSpPr>
        <p:grpSpPr>
          <a:xfrm>
            <a:off x="381000" y="1047750"/>
            <a:ext cx="8382000" cy="381000"/>
            <a:chOff x="0" y="0"/>
            <a:chExt cx="8382000" cy="381000"/>
          </a:xfrm>
        </p:grpSpPr>
        <p:sp>
          <p:nvSpPr>
            <p:cNvPr id="652" name="Google Shape;652;p25"/>
            <p:cNvSpPr/>
            <p:nvPr/>
          </p:nvSpPr>
          <p:spPr>
            <a:xfrm>
              <a:off x="0" y="0"/>
              <a:ext cx="8382000" cy="381000"/>
            </a:xfrm>
            <a:prstGeom prst="roundRect">
              <a:avLst>
                <a:gd fmla="val 10000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25"/>
            <p:cNvSpPr/>
            <p:nvPr/>
          </p:nvSpPr>
          <p:spPr>
            <a:xfrm>
              <a:off x="0" y="0"/>
              <a:ext cx="38100" cy="381000"/>
            </a:xfrm>
            <a:prstGeom prst="roundRect">
              <a:avLst>
                <a:gd fmla="val 50000" name="adj"/>
              </a:avLst>
            </a:prstGeom>
            <a:solidFill>
              <a:srgbClr val="87E5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25"/>
            <p:cNvSpPr txBox="1"/>
            <p:nvPr/>
          </p:nvSpPr>
          <p:spPr>
            <a:xfrm>
              <a:off x="142875" y="0"/>
              <a:ext cx="809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F3C96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SIMULATOR PURPOSE:</a:t>
              </a:r>
              <a:r>
                <a:rPr b="0" lang="en" sz="105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Provides zero-setup, instant 60 FPS interactive gameplay for full keymap testing prior to capturing external WebRTC feeds.</a:t>
              </a:r>
              <a:endParaRPr b="0" sz="105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655" name="Google Shape;655;p25"/>
          <p:cNvGrpSpPr/>
          <p:nvPr/>
        </p:nvGrpSpPr>
        <p:grpSpPr>
          <a:xfrm>
            <a:off x="381000" y="1543050"/>
            <a:ext cx="2619300" cy="3143400"/>
            <a:chOff x="0" y="0"/>
            <a:chExt cx="2619300" cy="3143400"/>
          </a:xfrm>
        </p:grpSpPr>
        <p:sp>
          <p:nvSpPr>
            <p:cNvPr id="656" name="Google Shape;656;p25"/>
            <p:cNvSpPr/>
            <p:nvPr/>
          </p:nvSpPr>
          <p:spPr>
            <a:xfrm>
              <a:off x="0" y="0"/>
              <a:ext cx="2619300" cy="3143400"/>
            </a:xfrm>
            <a:prstGeom prst="roundRect">
              <a:avLst>
                <a:gd fmla="val 2181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25"/>
            <p:cNvSpPr/>
            <p:nvPr/>
          </p:nvSpPr>
          <p:spPr>
            <a:xfrm>
              <a:off x="0" y="0"/>
              <a:ext cx="2619300" cy="38100"/>
            </a:xfrm>
            <a:prstGeom prst="roundRect">
              <a:avLst>
                <a:gd fmla="val 50000" name="adj"/>
              </a:avLst>
            </a:prstGeom>
            <a:solidFill>
              <a:srgbClr val="87E5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58" name="Google Shape;658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625" y="66675"/>
              <a:ext cx="85800" cy="85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9" name="Google Shape;659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86025" y="66675"/>
              <a:ext cx="85800" cy="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0" name="Google Shape;660;p25"/>
            <p:cNvSpPr txBox="1"/>
            <p:nvPr/>
          </p:nvSpPr>
          <p:spPr>
            <a:xfrm>
              <a:off x="152400" y="152400"/>
              <a:ext cx="23145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87E5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CORE ENGINE</a:t>
              </a:r>
              <a:endParaRPr b="0" sz="900">
                <a:solidFill>
                  <a:srgbClr val="87E5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FFFFFF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60 FPS Loop &amp; Physics</a:t>
              </a:r>
              <a:endParaRPr b="0" sz="135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00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Real-time Rendering:</a:t>
              </a:r>
              <a:r>
                <a:rPr b="0" lang="en" sz="10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</a:t>
              </a:r>
              <a:r>
                <a:rPr b="0" lang="en" sz="90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requestAnimationFrame</a:t>
              </a:r>
              <a:r>
                <a:rPr b="0" lang="en" sz="10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loop at native 60 FPS.</a:t>
              </a:r>
              <a:endParaRPr b="0" sz="10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00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Delta-Time Physics:</a:t>
              </a:r>
              <a:r>
                <a:rPr b="0" lang="en" sz="10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Frame-independent movement &amp; collision calculations.</a:t>
              </a:r>
              <a:endParaRPr b="0" sz="10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00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Perspective Grid:</a:t>
              </a:r>
              <a:r>
                <a:rPr b="0" lang="en" sz="10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Dynamic rendering grid for sky and ground alignment.</a:t>
              </a:r>
              <a:endParaRPr b="0" sz="10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600"/>
                </a:spcAft>
                <a:buSzPts val="1400"/>
                <a:buChar char="●"/>
              </a:pPr>
              <a:r>
                <a:rPr b="1" lang="en" sz="100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Live Telemetry:</a:t>
              </a:r>
              <a:r>
                <a:rPr b="0" lang="en" sz="10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Real-time FPS performance counter HUD element.</a:t>
              </a:r>
              <a:endParaRPr b="0" sz="10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661" name="Google Shape;661;p25"/>
          <p:cNvGrpSpPr/>
          <p:nvPr/>
        </p:nvGrpSpPr>
        <p:grpSpPr>
          <a:xfrm>
            <a:off x="3257550" y="1543050"/>
            <a:ext cx="2619300" cy="3143400"/>
            <a:chOff x="0" y="0"/>
            <a:chExt cx="2619300" cy="3143400"/>
          </a:xfrm>
        </p:grpSpPr>
        <p:sp>
          <p:nvSpPr>
            <p:cNvPr id="662" name="Google Shape;662;p25"/>
            <p:cNvSpPr/>
            <p:nvPr/>
          </p:nvSpPr>
          <p:spPr>
            <a:xfrm>
              <a:off x="0" y="0"/>
              <a:ext cx="2619300" cy="3143400"/>
            </a:xfrm>
            <a:prstGeom prst="roundRect">
              <a:avLst>
                <a:gd fmla="val 2181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25"/>
            <p:cNvSpPr/>
            <p:nvPr/>
          </p:nvSpPr>
          <p:spPr>
            <a:xfrm>
              <a:off x="0" y="0"/>
              <a:ext cx="2619300" cy="38100"/>
            </a:xfrm>
            <a:prstGeom prst="roundRect">
              <a:avLst>
                <a:gd fmla="val 50000" name="adj"/>
              </a:avLst>
            </a:prstGeom>
            <a:solidFill>
              <a:srgbClr val="9D6C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64" name="Google Shape;664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7625" y="66675"/>
              <a:ext cx="85800" cy="85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5" name="Google Shape;665;p2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486025" y="66675"/>
              <a:ext cx="85800" cy="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6" name="Google Shape;666;p25"/>
            <p:cNvSpPr txBox="1"/>
            <p:nvPr/>
          </p:nvSpPr>
          <p:spPr>
            <a:xfrm>
              <a:off x="152400" y="152400"/>
              <a:ext cx="23145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33">
                  <a:solidFill>
                    <a:srgbClr val="9D6C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COMBAT &amp; STANCE</a:t>
              </a:r>
              <a:endParaRPr b="0" sz="833">
                <a:solidFill>
                  <a:srgbClr val="9D6C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249">
                  <a:solidFill>
                    <a:srgbClr val="FFFFFF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Mechanics &amp; Hit Detection</a:t>
              </a:r>
              <a:endParaRPr b="0" sz="1249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-310833" lvl="0" marL="457200" rtl="0" algn="l">
                <a:spcBef>
                  <a:spcPts val="750"/>
                </a:spcBef>
                <a:spcAft>
                  <a:spcPts val="0"/>
                </a:spcAft>
                <a:buSzPts val="1295"/>
                <a:buChar char="●"/>
              </a:pPr>
              <a:r>
                <a:rPr b="1" lang="en" sz="879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AI Enemies:</a:t>
              </a:r>
              <a:r>
                <a:rPr b="0" lang="en" sz="879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Moving targets with health bars, return fire &amp; particle FX.</a:t>
              </a:r>
              <a:endParaRPr b="0" sz="879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-310833" lvl="0" marL="457200" rtl="0" algn="l">
                <a:spcBef>
                  <a:spcPts val="600"/>
                </a:spcBef>
                <a:spcAft>
                  <a:spcPts val="0"/>
                </a:spcAft>
                <a:buSzPts val="1295"/>
                <a:buChar char="●"/>
              </a:pPr>
              <a:r>
                <a:rPr b="1" lang="en" sz="879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Hit Scoring:</a:t>
              </a:r>
              <a:r>
                <a:rPr b="0" lang="en" sz="879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Headshot (</a:t>
              </a:r>
              <a:r>
                <a:rPr b="0" lang="en" sz="879">
                  <a:solidFill>
                    <a:srgbClr val="F3C96D"/>
                  </a:solidFill>
                  <a:latin typeface="Outfit"/>
                  <a:ea typeface="Outfit"/>
                  <a:cs typeface="Outfit"/>
                  <a:sym typeface="Outfit"/>
                </a:rPr>
                <a:t>+180 pts</a:t>
              </a:r>
              <a:r>
                <a:rPr b="0" lang="en" sz="879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) vs Body hit (</a:t>
              </a:r>
              <a:r>
                <a:rPr b="0" lang="en" sz="879">
                  <a:solidFill>
                    <a:srgbClr val="87E5FF"/>
                  </a:solidFill>
                  <a:latin typeface="Outfit"/>
                  <a:ea typeface="Outfit"/>
                  <a:cs typeface="Outfit"/>
                  <a:sym typeface="Outfit"/>
                </a:rPr>
                <a:t>+120 pts</a:t>
              </a:r>
              <a:r>
                <a:rPr b="0" lang="en" sz="879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).</a:t>
              </a:r>
              <a:endParaRPr b="0" sz="879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-310833" lvl="0" marL="457200" rtl="0" algn="l">
                <a:spcBef>
                  <a:spcPts val="600"/>
                </a:spcBef>
                <a:spcAft>
                  <a:spcPts val="0"/>
                </a:spcAft>
                <a:buSzPts val="1295"/>
                <a:buChar char="●"/>
              </a:pPr>
              <a:r>
                <a:rPr b="1" lang="en" sz="879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Weapon Systems:</a:t>
              </a:r>
              <a:r>
                <a:rPr b="0" lang="en" sz="879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Recoil management &amp; active ammo tracking.</a:t>
              </a:r>
              <a:endParaRPr b="0" sz="879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-310833" lvl="0" marL="457200" rtl="0" algn="l">
                <a:spcBef>
                  <a:spcPts val="600"/>
                </a:spcBef>
                <a:spcAft>
                  <a:spcPts val="0"/>
                </a:spcAft>
                <a:buSzPts val="1295"/>
                <a:buChar char="●"/>
              </a:pPr>
              <a:r>
                <a:rPr b="1" lang="en" sz="879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Optics &amp; Tilt:</a:t>
              </a:r>
              <a:r>
                <a:rPr b="0" lang="en" sz="879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1.45x scope magnification, Q/E lean tilt (±0.11 rad).</a:t>
              </a:r>
              <a:endParaRPr b="0" sz="879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-310833" lvl="0" marL="457200" rtl="0" algn="l">
                <a:spcBef>
                  <a:spcPts val="600"/>
                </a:spcBef>
                <a:spcAft>
                  <a:spcPts val="600"/>
                </a:spcAft>
                <a:buSzPts val="1295"/>
                <a:buChar char="●"/>
              </a:pPr>
              <a:r>
                <a:rPr b="1" lang="en" sz="879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Stances:</a:t>
              </a:r>
              <a:r>
                <a:rPr b="0" lang="en" sz="879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Stand / Crouch / Prone speed &amp; hit-box modifiers.</a:t>
              </a:r>
              <a:endParaRPr b="0" sz="879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667" name="Google Shape;667;p25"/>
          <p:cNvGrpSpPr/>
          <p:nvPr/>
        </p:nvGrpSpPr>
        <p:grpSpPr>
          <a:xfrm>
            <a:off x="6134100" y="1543050"/>
            <a:ext cx="2628900" cy="3143400"/>
            <a:chOff x="0" y="0"/>
            <a:chExt cx="2628900" cy="3143400"/>
          </a:xfrm>
        </p:grpSpPr>
        <p:sp>
          <p:nvSpPr>
            <p:cNvPr id="668" name="Google Shape;668;p25"/>
            <p:cNvSpPr/>
            <p:nvPr/>
          </p:nvSpPr>
          <p:spPr>
            <a:xfrm>
              <a:off x="0" y="0"/>
              <a:ext cx="2628900" cy="3143400"/>
            </a:xfrm>
            <a:prstGeom prst="roundRect">
              <a:avLst>
                <a:gd fmla="val 2173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25"/>
            <p:cNvSpPr/>
            <p:nvPr/>
          </p:nvSpPr>
          <p:spPr>
            <a:xfrm>
              <a:off x="0" y="0"/>
              <a:ext cx="2628900" cy="38100"/>
            </a:xfrm>
            <a:prstGeom prst="roundRect">
              <a:avLst>
                <a:gd fmla="val 50000" name="adj"/>
              </a:avLst>
            </a:prstGeom>
            <a:solidFill>
              <a:srgbClr val="74E7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70" name="Google Shape;670;p2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7625" y="66675"/>
              <a:ext cx="85800" cy="85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1" name="Google Shape;671;p2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495550" y="66675"/>
              <a:ext cx="85800" cy="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2" name="Google Shape;672;p25"/>
            <p:cNvSpPr txBox="1"/>
            <p:nvPr/>
          </p:nvSpPr>
          <p:spPr>
            <a:xfrm>
              <a:off x="152400" y="152400"/>
              <a:ext cx="23241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74E7A8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GAME ABILITIES</a:t>
              </a:r>
              <a:endParaRPr b="0" sz="900">
                <a:solidFill>
                  <a:srgbClr val="74E7A8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FFFFFF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Valorant &amp; BGMI Mechanics</a:t>
              </a:r>
              <a:endParaRPr b="0" sz="135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87E5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VALORANT (JETT) ABILITIES:</a:t>
              </a:r>
              <a:endParaRPr b="0" sz="800">
                <a:solidFill>
                  <a:srgbClr val="87E5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-317500" lvl="0" marL="457200" rtl="0" algn="l">
                <a:spcBef>
                  <a:spcPts val="30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900">
                  <a:solidFill>
                    <a:srgbClr val="87E5FF"/>
                  </a:solidFill>
                  <a:latin typeface="Outfit"/>
                  <a:ea typeface="Outfit"/>
                  <a:cs typeface="Outfit"/>
                  <a:sym typeface="Outfit"/>
                </a:rPr>
                <a:t>E:</a:t>
              </a:r>
              <a:r>
                <a:rPr b="0" lang="en" sz="9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Tailwind Dash | </a:t>
              </a:r>
              <a:r>
                <a:rPr b="1" lang="en" sz="900">
                  <a:solidFill>
                    <a:srgbClr val="87E5FF"/>
                  </a:solidFill>
                  <a:latin typeface="Outfit"/>
                  <a:ea typeface="Outfit"/>
                  <a:cs typeface="Outfit"/>
                  <a:sym typeface="Outfit"/>
                </a:rPr>
                <a:t>C:</a:t>
              </a:r>
              <a:r>
                <a:rPr b="0" lang="en" sz="9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Cloudburst Smoke</a:t>
              </a:r>
              <a:endParaRPr b="0" sz="9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900">
                  <a:solidFill>
                    <a:srgbClr val="9D6CFF"/>
                  </a:solidFill>
                  <a:latin typeface="Outfit"/>
                  <a:ea typeface="Outfit"/>
                  <a:cs typeface="Outfit"/>
                  <a:sym typeface="Outfit"/>
                </a:rPr>
                <a:t>X:</a:t>
              </a:r>
              <a:r>
                <a:rPr b="0" lang="en" sz="9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Blade Storm Ultimate </a:t>
              </a:r>
              <a:r>
                <a:rPr b="0" lang="en" sz="8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(infinite ammo + 1-shot)</a:t>
              </a:r>
              <a:endParaRPr b="0" sz="9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900">
                  <a:solidFill>
                    <a:srgbClr val="F3C96D"/>
                  </a:solidFill>
                  <a:latin typeface="Outfit"/>
                  <a:ea typeface="Outfit"/>
                  <a:cs typeface="Outfit"/>
                  <a:sym typeface="Outfit"/>
                </a:rPr>
                <a:t>4:</a:t>
              </a:r>
              <a:r>
                <a:rPr b="0" lang="en" sz="9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Spike Planting </a:t>
              </a:r>
              <a:r>
                <a:rPr b="0" lang="en" sz="900">
                  <a:solidFill>
                    <a:srgbClr val="F3C96D"/>
                  </a:solidFill>
                  <a:latin typeface="Outfit"/>
                  <a:ea typeface="Outfit"/>
                  <a:cs typeface="Outfit"/>
                  <a:sym typeface="Outfit"/>
                </a:rPr>
                <a:t>(+300 pts)</a:t>
              </a:r>
              <a:endParaRPr b="0" sz="9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74E7A8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BGMI MECHANICS:</a:t>
              </a:r>
              <a:endParaRPr b="0" sz="800">
                <a:solidFill>
                  <a:srgbClr val="74E7A8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-317500" lvl="0" marL="457200" rtl="0" algn="l">
                <a:spcBef>
                  <a:spcPts val="30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900">
                  <a:solidFill>
                    <a:srgbClr val="74E7A8"/>
                  </a:solidFill>
                  <a:latin typeface="Outfit"/>
                  <a:ea typeface="Outfit"/>
                  <a:cs typeface="Outfit"/>
                  <a:sym typeface="Outfit"/>
                </a:rPr>
                <a:t>F:</a:t>
              </a:r>
              <a:r>
                <a:rPr b="0" lang="en" sz="9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Level 3 Crate Looting</a:t>
              </a:r>
              <a:endParaRPr b="0" sz="9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600"/>
                </a:spcAft>
                <a:buSzPts val="1400"/>
                <a:buChar char="●"/>
              </a:pPr>
              <a:r>
                <a:rPr b="1" lang="en" sz="900">
                  <a:solidFill>
                    <a:srgbClr val="74E7A8"/>
                  </a:solidFill>
                  <a:latin typeface="Outfit"/>
                  <a:ea typeface="Outfit"/>
                  <a:cs typeface="Outfit"/>
                  <a:sym typeface="Outfit"/>
                </a:rPr>
                <a:t>3:</a:t>
              </a:r>
              <a:r>
                <a:rPr b="0" lang="en" sz="9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First Aid Kit Healing </a:t>
              </a:r>
              <a:r>
                <a:rPr b="0" lang="en" sz="900">
                  <a:solidFill>
                    <a:srgbClr val="74E7A8"/>
                  </a:solidFill>
                  <a:latin typeface="Outfit"/>
                  <a:ea typeface="Outfit"/>
                  <a:cs typeface="Outfit"/>
                  <a:sym typeface="Outfit"/>
                </a:rPr>
                <a:t>(+35 HP)</a:t>
              </a:r>
              <a:endParaRPr b="0" sz="9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673" name="Google Shape;673;p25"/>
          <p:cNvSpPr txBox="1"/>
          <p:nvPr/>
        </p:nvSpPr>
        <p:spPr>
          <a:xfrm>
            <a:off x="381000" y="4810125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23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rPr>
              <a:t>NIGHT ARENA ENGINE v2.0</a:t>
            </a:r>
            <a:r>
              <a:rPr lang="en" sz="1190"/>
              <a:t> </a:t>
            </a:r>
            <a:r>
              <a:rPr b="0" lang="en" sz="723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rPr>
              <a:t>CANVAS BATTLE SIMULATOR • 60 FPS REALTIME</a:t>
            </a:r>
            <a:endParaRPr sz="119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0132A">
                  <a:alpha val="89804"/>
                </a:srgbClr>
              </a:gs>
              <a:gs pos="100000">
                <a:srgbClr val="080B18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9" name="Google Shape;67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0" name="Google Shape;680;p26"/>
          <p:cNvGrpSpPr/>
          <p:nvPr/>
        </p:nvGrpSpPr>
        <p:grpSpPr>
          <a:xfrm>
            <a:off x="381000" y="238125"/>
            <a:ext cx="342900" cy="342900"/>
            <a:chOff x="0" y="0"/>
            <a:chExt cx="342900" cy="342900"/>
          </a:xfrm>
        </p:grpSpPr>
        <p:sp>
          <p:nvSpPr>
            <p:cNvPr id="681" name="Google Shape;681;p26"/>
            <p:cNvSpPr/>
            <p:nvPr/>
          </p:nvSpPr>
          <p:spPr>
            <a:xfrm>
              <a:off x="0" y="0"/>
              <a:ext cx="342900" cy="3429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30000"/>
                  </a:lnTo>
                  <a:lnTo>
                    <a:pt x="120000" y="90000"/>
                  </a:lnTo>
                  <a:lnTo>
                    <a:pt x="60000" y="120000"/>
                  </a:lnTo>
                  <a:lnTo>
                    <a:pt x="0" y="90000"/>
                  </a:lnTo>
                  <a:lnTo>
                    <a:pt x="0" y="3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9D6C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26"/>
            <p:cNvSpPr/>
            <p:nvPr/>
          </p:nvSpPr>
          <p:spPr>
            <a:xfrm>
              <a:off x="38100" y="38100"/>
              <a:ext cx="266700" cy="2667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30000"/>
                  </a:lnTo>
                  <a:lnTo>
                    <a:pt x="120000" y="90000"/>
                  </a:lnTo>
                  <a:lnTo>
                    <a:pt x="60000" y="120000"/>
                  </a:lnTo>
                  <a:lnTo>
                    <a:pt x="0" y="90000"/>
                  </a:lnTo>
                  <a:lnTo>
                    <a:pt x="0" y="30000"/>
                  </a:lnTo>
                  <a:close/>
                </a:path>
              </a:pathLst>
            </a:custGeom>
            <a:solidFill>
              <a:srgbClr val="10132A"/>
            </a:solidFill>
            <a:ln cap="flat" cmpd="sng" w="9525">
              <a:solidFill>
                <a:srgbClr val="87E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26"/>
            <p:cNvSpPr/>
            <p:nvPr/>
          </p:nvSpPr>
          <p:spPr>
            <a:xfrm>
              <a:off x="104775" y="123825"/>
              <a:ext cx="13350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moveTo>
                    <a:pt x="0" y="0"/>
                  </a:moveTo>
                  <a:lnTo>
                    <a:pt x="60000" y="120000"/>
                  </a:lnTo>
                  <a:moveTo>
                    <a:pt x="60000" y="0"/>
                  </a:moveTo>
                  <a:lnTo>
                    <a:pt x="60000" y="120000"/>
                  </a:lnTo>
                  <a:moveTo>
                    <a:pt x="120000" y="0"/>
                  </a:moveTo>
                  <a:lnTo>
                    <a:pt x="120000" y="120000"/>
                  </a:lnTo>
                  <a:moveTo>
                    <a:pt x="85714" y="53333"/>
                  </a:moveTo>
                  <a:lnTo>
                    <a:pt x="120000" y="53333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4" name="Google Shape;684;p26"/>
          <p:cNvSpPr txBox="1"/>
          <p:nvPr/>
        </p:nvSpPr>
        <p:spPr>
          <a:xfrm>
            <a:off x="857250" y="190500"/>
            <a:ext cx="7905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50">
                <a:solidFill>
                  <a:srgbClr val="87E5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NEW IN V2.0</a:t>
            </a:r>
            <a:endParaRPr b="0" sz="850">
              <a:solidFill>
                <a:srgbClr val="87E5FF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REAL-TIME SYSTEM TELEMETRY &amp; SESSION MANAGEMENT API</a:t>
            </a:r>
            <a:endParaRPr b="1" sz="200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87E5FF"/>
                </a:solidFill>
                <a:latin typeface="Outfit Medium"/>
                <a:ea typeface="Outfit Medium"/>
                <a:cs typeface="Outfit Medium"/>
                <a:sym typeface="Outfit Medium"/>
              </a:rPr>
              <a:t>Telemetry &amp; Provisioning Infrastructure </a:t>
            </a:r>
            <a:r>
              <a:rPr b="0" lang="en" sz="95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rPr>
              <a:t>(backend/src/routes/sessions.js)</a:t>
            </a:r>
            <a:endParaRPr b="0" sz="1300">
              <a:solidFill>
                <a:srgbClr val="87E5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685" name="Google Shape;685;p26"/>
          <p:cNvSpPr/>
          <p:nvPr/>
        </p:nvSpPr>
        <p:spPr>
          <a:xfrm>
            <a:off x="381000" y="1028700"/>
            <a:ext cx="8382000" cy="19200"/>
          </a:xfrm>
          <a:prstGeom prst="rect">
            <a:avLst/>
          </a:prstGeom>
          <a:gradFill>
            <a:gsLst>
              <a:gs pos="0">
                <a:srgbClr val="87E5FF"/>
              </a:gs>
              <a:gs pos="50000">
                <a:srgbClr val="9D6CFF"/>
              </a:gs>
              <a:gs pos="100000">
                <a:srgbClr val="080B18"/>
              </a:gs>
            </a:gsLst>
            <a:lin ang="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6" name="Google Shape;686;p26"/>
          <p:cNvGrpSpPr/>
          <p:nvPr/>
        </p:nvGrpSpPr>
        <p:grpSpPr>
          <a:xfrm>
            <a:off x="381000" y="1190625"/>
            <a:ext cx="4048200" cy="3381300"/>
            <a:chOff x="0" y="0"/>
            <a:chExt cx="4048200" cy="3381300"/>
          </a:xfrm>
        </p:grpSpPr>
        <p:sp>
          <p:nvSpPr>
            <p:cNvPr id="687" name="Google Shape;687;p26"/>
            <p:cNvSpPr/>
            <p:nvPr/>
          </p:nvSpPr>
          <p:spPr>
            <a:xfrm>
              <a:off x="0" y="0"/>
              <a:ext cx="4048200" cy="3381300"/>
            </a:xfrm>
            <a:prstGeom prst="roundRect">
              <a:avLst>
                <a:gd fmla="val 1690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26"/>
            <p:cNvSpPr/>
            <p:nvPr/>
          </p:nvSpPr>
          <p:spPr>
            <a:xfrm>
              <a:off x="0" y="0"/>
              <a:ext cx="4048200" cy="38100"/>
            </a:xfrm>
            <a:prstGeom prst="roundRect">
              <a:avLst>
                <a:gd fmla="val 50000" name="adj"/>
              </a:avLst>
            </a:prstGeom>
            <a:solidFill>
              <a:srgbClr val="87E5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89" name="Google Shape;689;p26"/>
            <p:cNvGrpSpPr/>
            <p:nvPr/>
          </p:nvGrpSpPr>
          <p:grpSpPr>
            <a:xfrm>
              <a:off x="38100" y="9525"/>
              <a:ext cx="3972000" cy="3352875"/>
              <a:chOff x="-9525" y="-9525"/>
              <a:chExt cx="3972000" cy="3352875"/>
            </a:xfrm>
          </p:grpSpPr>
          <p:pic>
            <p:nvPicPr>
              <p:cNvPr id="690" name="Google Shape;690;p2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9525" y="-9525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91" name="Google Shape;691;p2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876675" y="-9525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92" name="Google Shape;692;p2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-9525" y="3257550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93" name="Google Shape;693;p26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3876675" y="3257550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94" name="Google Shape;694;p26"/>
            <p:cNvSpPr txBox="1"/>
            <p:nvPr/>
          </p:nvSpPr>
          <p:spPr>
            <a:xfrm>
              <a:off x="190500" y="171450"/>
              <a:ext cx="36672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F3C96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LIVE MONITORING MODULE</a:t>
              </a:r>
              <a:endParaRPr b="0" sz="850">
                <a:solidFill>
                  <a:srgbClr val="F3C96D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87E5FF"/>
                  </a:solidFill>
                  <a:latin typeface="Outfit"/>
                  <a:ea typeface="Outfit"/>
                  <a:cs typeface="Outfit"/>
                  <a:sym typeface="Outfit"/>
                </a:rPr>
                <a:t>LIVE HARDWARE &amp; VM TELEMETRY</a:t>
              </a:r>
              <a:endParaRPr b="1" sz="1300">
                <a:solidFill>
                  <a:srgbClr val="87E5FF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getSystemTelemetry()</a:t>
              </a:r>
              <a:endParaRPr b="0" sz="95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Inspects host OS metrics via Node </a:t>
              </a:r>
              <a:r>
                <a:rPr b="0" lang="en" sz="9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os</a:t>
              </a:r>
              <a:r>
                <a:rPr b="0" lang="en" sz="9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&amp; </a:t>
              </a:r>
              <a:r>
                <a:rPr b="0" lang="en" sz="9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net</a:t>
              </a:r>
              <a:r>
                <a:rPr b="0" lang="en" sz="9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modules every 3s. Broadcasts via </a:t>
              </a:r>
              <a:r>
                <a:rPr b="0" lang="en" sz="9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vm-telemetry</a:t>
              </a:r>
              <a:r>
                <a:rPr b="0" lang="en" sz="9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Socket.IO event + </a:t>
              </a:r>
              <a:r>
                <a:rPr b="0" lang="en" sz="9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vm-ping/vm-pong</a:t>
              </a:r>
              <a:r>
                <a:rPr b="0" lang="en" sz="9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RTT latency measurement.</a:t>
              </a:r>
              <a:endParaRPr b="0" sz="95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9D6C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PORT DIAGNOSTICS</a:t>
              </a:r>
              <a:endParaRPr b="0" sz="850">
                <a:solidFill>
                  <a:srgbClr val="9D6C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Detects if BlueStacks ADB port </a:t>
              </a:r>
              <a:r>
                <a:rPr b="0" lang="en" sz="9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127.0.0.1:5555</a:t>
              </a:r>
              <a:r>
                <a:rPr b="0" lang="en" sz="9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is open (</a:t>
              </a:r>
              <a:r>
                <a:rPr b="0" lang="en" sz="9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checkBlueStacksPort</a:t>
              </a:r>
              <a:r>
                <a:rPr b="0" lang="en" sz="9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). Resolves ADB binary path (</a:t>
              </a:r>
              <a:r>
                <a:rPr b="0" lang="en" sz="9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/Applications/BlueStacks.app/...</a:t>
              </a:r>
              <a:r>
                <a:rPr b="0" lang="en" sz="9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or Homebrew </a:t>
              </a:r>
              <a:r>
                <a:rPr b="0" lang="en" sz="9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adb</a:t>
              </a:r>
              <a:r>
                <a:rPr b="0" lang="en" sz="9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).</a:t>
              </a:r>
              <a:endParaRPr b="0" sz="95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74E7A8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METRICS COLLECTED</a:t>
              </a:r>
              <a:endParaRPr b="0" sz="850">
                <a:solidFill>
                  <a:srgbClr val="74E7A8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• CPU Model &amp; Core Count</a:t>
              </a:r>
              <a:br>
                <a:rPr b="0" lang="en" sz="9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</a:br>
              <a:r>
                <a:rPr b="0" lang="en" sz="9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• Real-time CPU Load %</a:t>
              </a:r>
              <a:br>
                <a:rPr b="0" lang="en" sz="9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</a:br>
              <a:r>
                <a:rPr b="0" lang="en" sz="9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• RAM Used / Total GB</a:t>
              </a:r>
              <a:br>
                <a:rPr b="0" lang="en" sz="9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</a:br>
              <a:r>
                <a:rPr b="0" lang="en" sz="9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• Host Uptime &amp; Active VM Sessions</a:t>
              </a:r>
              <a:endParaRPr b="0" sz="9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695" name="Google Shape;695;p26"/>
          <p:cNvGrpSpPr/>
          <p:nvPr/>
        </p:nvGrpSpPr>
        <p:grpSpPr>
          <a:xfrm>
            <a:off x="4714875" y="1190625"/>
            <a:ext cx="4048200" cy="3381300"/>
            <a:chOff x="0" y="0"/>
            <a:chExt cx="4048200" cy="3381300"/>
          </a:xfrm>
        </p:grpSpPr>
        <p:sp>
          <p:nvSpPr>
            <p:cNvPr id="696" name="Google Shape;696;p26"/>
            <p:cNvSpPr/>
            <p:nvPr/>
          </p:nvSpPr>
          <p:spPr>
            <a:xfrm>
              <a:off x="0" y="0"/>
              <a:ext cx="4048200" cy="3381300"/>
            </a:xfrm>
            <a:prstGeom prst="roundRect">
              <a:avLst>
                <a:gd fmla="val 1690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26"/>
            <p:cNvSpPr/>
            <p:nvPr/>
          </p:nvSpPr>
          <p:spPr>
            <a:xfrm>
              <a:off x="0" y="0"/>
              <a:ext cx="4048200" cy="38100"/>
            </a:xfrm>
            <a:prstGeom prst="roundRect">
              <a:avLst>
                <a:gd fmla="val 50000" name="adj"/>
              </a:avLst>
            </a:prstGeom>
            <a:solidFill>
              <a:srgbClr val="9D6C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98" name="Google Shape;698;p26"/>
            <p:cNvGrpSpPr/>
            <p:nvPr/>
          </p:nvGrpSpPr>
          <p:grpSpPr>
            <a:xfrm>
              <a:off x="38100" y="9525"/>
              <a:ext cx="3972000" cy="3352875"/>
              <a:chOff x="-9525" y="-9525"/>
              <a:chExt cx="3972000" cy="3352875"/>
            </a:xfrm>
          </p:grpSpPr>
          <p:pic>
            <p:nvPicPr>
              <p:cNvPr id="699" name="Google Shape;699;p2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9525" y="-9525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00" name="Google Shape;700;p2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876675" y="-9525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01" name="Google Shape;701;p2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-9525" y="3257550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02" name="Google Shape;702;p26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3876675" y="3257550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703" name="Google Shape;703;p26"/>
            <p:cNvSpPr txBox="1"/>
            <p:nvPr/>
          </p:nvSpPr>
          <p:spPr>
            <a:xfrm>
              <a:off x="190500" y="171450"/>
              <a:ext cx="36672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F3C96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ORCHESTRATION ENGINE</a:t>
              </a:r>
              <a:endParaRPr b="0" sz="850">
                <a:solidFill>
                  <a:srgbClr val="F3C96D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9D6CFF"/>
                  </a:solidFill>
                  <a:latin typeface="Outfit"/>
                  <a:ea typeface="Outfit"/>
                  <a:cs typeface="Outfit"/>
                  <a:sym typeface="Outfit"/>
                </a:rPr>
                <a:t>SESSION PROVISIONING &amp; ADMIN WORKFLOW</a:t>
              </a:r>
              <a:endParaRPr b="1" sz="1300">
                <a:solidFill>
                  <a:srgbClr val="9D6CFF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87E5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VM LIFECYCLE ENDPOINTS</a:t>
              </a:r>
              <a:endParaRPr b="0" sz="850">
                <a:solidFill>
                  <a:srgbClr val="87E5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POST /api/sessions/vm/provision</a:t>
              </a:r>
              <a:endParaRPr b="0" sz="95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POST /api/sessions/vm/terminate</a:t>
              </a:r>
              <a:endParaRPr b="0" sz="95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Launches BlueStacks app, connects ADB interface, boots Android package, and assigns unique session ID </a:t>
              </a:r>
              <a:r>
                <a:rPr b="0" lang="en" sz="950">
                  <a:solidFill>
                    <a:srgbClr val="F3C96D"/>
                  </a:solidFill>
                  <a:latin typeface="DM Mono"/>
                  <a:ea typeface="DM Mono"/>
                  <a:cs typeface="DM Mono"/>
                  <a:sym typeface="DM Mono"/>
                </a:rPr>
                <a:t>BS-&lt;timestamp&gt;</a:t>
              </a:r>
              <a:r>
                <a:rPr b="0" lang="en" sz="9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.</a:t>
              </a:r>
              <a:endParaRPr b="0" sz="95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74E7A8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REQUEST MANAGEMENT &amp; APPROVAL</a:t>
              </a:r>
              <a:endParaRPr b="0" sz="850">
                <a:solidFill>
                  <a:srgbClr val="74E7A8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POST /api/sessions/request</a:t>
              </a:r>
              <a:endParaRPr b="0" sz="95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GET /api/sessions/requests</a:t>
              </a:r>
              <a:endParaRPr b="0" sz="95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PUT /api/sessions/admin/requests/:id</a:t>
              </a:r>
              <a:endParaRPr b="0" sz="95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Admin approval queue for session authorization. Protected with strict </a:t>
              </a:r>
              <a:r>
                <a:rPr b="0" lang="en" sz="950">
                  <a:solidFill>
                    <a:srgbClr val="F3C96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30s rate limiting</a:t>
              </a:r>
              <a:r>
                <a:rPr b="0" lang="en" sz="9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per client.</a:t>
              </a:r>
              <a:endParaRPr b="0" sz="95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704" name="Google Shape;704;p26"/>
          <p:cNvSpPr txBox="1"/>
          <p:nvPr/>
        </p:nvSpPr>
        <p:spPr>
          <a:xfrm>
            <a:off x="381000" y="478155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23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rPr>
              <a:t>NIGHT HOURS v2.0 ARCHITECTURE</a:t>
            </a:r>
            <a:r>
              <a:rPr lang="en" sz="1190"/>
              <a:t> </a:t>
            </a:r>
            <a:r>
              <a:rPr b="0" lang="en" sz="723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rPr>
              <a:t>SYSTEM TELEMETRY &amp; PROVISIONING API</a:t>
            </a:r>
            <a:endParaRPr sz="119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B18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0132A">
                  <a:alpha val="80000"/>
                </a:srgbClr>
              </a:gs>
              <a:gs pos="100000">
                <a:srgbClr val="080B18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0" name="Google Shape;71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1" name="Google Shape;711;p27"/>
          <p:cNvGrpSpPr/>
          <p:nvPr/>
        </p:nvGrpSpPr>
        <p:grpSpPr>
          <a:xfrm>
            <a:off x="381000" y="190500"/>
            <a:ext cx="8382150" cy="619200"/>
            <a:chOff x="0" y="0"/>
            <a:chExt cx="8382150" cy="619200"/>
          </a:xfrm>
        </p:grpSpPr>
        <p:grpSp>
          <p:nvGrpSpPr>
            <p:cNvPr id="712" name="Google Shape;712;p27"/>
            <p:cNvGrpSpPr/>
            <p:nvPr/>
          </p:nvGrpSpPr>
          <p:grpSpPr>
            <a:xfrm>
              <a:off x="0" y="19050"/>
              <a:ext cx="381000" cy="381000"/>
              <a:chOff x="0" y="0"/>
              <a:chExt cx="381000" cy="381000"/>
            </a:xfrm>
          </p:grpSpPr>
          <p:sp>
            <p:nvSpPr>
              <p:cNvPr id="713" name="Google Shape;713;p27"/>
              <p:cNvSpPr/>
              <p:nvPr/>
            </p:nvSpPr>
            <p:spPr>
              <a:xfrm>
                <a:off x="0" y="0"/>
                <a:ext cx="381000" cy="3810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lnTo>
                      <a:pt x="120000" y="30000"/>
                    </a:lnTo>
                    <a:lnTo>
                      <a:pt x="120000" y="90000"/>
                    </a:lnTo>
                    <a:lnTo>
                      <a:pt x="60000" y="120000"/>
                    </a:lnTo>
                    <a:lnTo>
                      <a:pt x="0" y="90000"/>
                    </a:lnTo>
                    <a:lnTo>
                      <a:pt x="0" y="300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9D6C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4" name="Google Shape;714;p27"/>
              <p:cNvSpPr/>
              <p:nvPr/>
            </p:nvSpPr>
            <p:spPr>
              <a:xfrm>
                <a:off x="38100" y="38100"/>
                <a:ext cx="304800" cy="3048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lnTo>
                      <a:pt x="120000" y="30000"/>
                    </a:lnTo>
                    <a:lnTo>
                      <a:pt x="120000" y="90000"/>
                    </a:lnTo>
                    <a:lnTo>
                      <a:pt x="60000" y="120000"/>
                    </a:lnTo>
                    <a:lnTo>
                      <a:pt x="0" y="90000"/>
                    </a:lnTo>
                    <a:lnTo>
                      <a:pt x="0" y="30000"/>
                    </a:lnTo>
                    <a:close/>
                  </a:path>
                </a:pathLst>
              </a:custGeom>
              <a:solidFill>
                <a:srgbClr val="10132A"/>
              </a:solidFill>
              <a:ln cap="flat" cmpd="sng" w="9525">
                <a:solidFill>
                  <a:srgbClr val="87E5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5" name="Google Shape;715;p27"/>
              <p:cNvSpPr/>
              <p:nvPr/>
            </p:nvSpPr>
            <p:spPr>
              <a:xfrm>
                <a:off x="114300" y="142875"/>
                <a:ext cx="152400" cy="95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120000"/>
                    </a:lnTo>
                    <a:moveTo>
                      <a:pt x="0" y="0"/>
                    </a:moveTo>
                    <a:lnTo>
                      <a:pt x="60000" y="120000"/>
                    </a:lnTo>
                    <a:moveTo>
                      <a:pt x="60000" y="0"/>
                    </a:moveTo>
                    <a:lnTo>
                      <a:pt x="60000" y="120000"/>
                    </a:lnTo>
                    <a:moveTo>
                      <a:pt x="120000" y="0"/>
                    </a:moveTo>
                    <a:lnTo>
                      <a:pt x="120000" y="120000"/>
                    </a:lnTo>
                    <a:moveTo>
                      <a:pt x="82500" y="60000"/>
                    </a:moveTo>
                    <a:lnTo>
                      <a:pt x="120000" y="6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16" name="Google Shape;716;p27"/>
            <p:cNvSpPr txBox="1"/>
            <p:nvPr/>
          </p:nvSpPr>
          <p:spPr>
            <a:xfrm>
              <a:off x="476250" y="0"/>
              <a:ext cx="79059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65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NEW IN V2.0: DOCKERIZED MULTIPLAYER GAME SERVER INFRASTRUCTURE</a:t>
              </a:r>
              <a:endParaRPr b="1" sz="1665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110">
                  <a:solidFill>
                    <a:srgbClr val="87E5FF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Self-Hosted Gaming Cloud Network • Containerized Server Fleet</a:t>
              </a:r>
              <a:endParaRPr b="0" sz="1110">
                <a:solidFill>
                  <a:srgbClr val="87E5FF"/>
                </a:solidFill>
                <a:latin typeface="Outfit Medium"/>
                <a:ea typeface="Outfit Medium"/>
                <a:cs typeface="Outfit Medium"/>
                <a:sym typeface="Outfit Medium"/>
              </a:endParaRPr>
            </a:p>
          </p:txBody>
        </p:sp>
      </p:grpSp>
      <p:sp>
        <p:nvSpPr>
          <p:cNvPr id="717" name="Google Shape;717;p27"/>
          <p:cNvSpPr/>
          <p:nvPr/>
        </p:nvSpPr>
        <p:spPr>
          <a:xfrm>
            <a:off x="381000" y="809625"/>
            <a:ext cx="8382000" cy="19200"/>
          </a:xfrm>
          <a:prstGeom prst="rect">
            <a:avLst/>
          </a:prstGeom>
          <a:gradFill>
            <a:gsLst>
              <a:gs pos="0">
                <a:srgbClr val="87E5FF"/>
              </a:gs>
              <a:gs pos="50000">
                <a:srgbClr val="9D6CFF"/>
              </a:gs>
              <a:gs pos="100000">
                <a:srgbClr val="080B18"/>
              </a:gs>
            </a:gsLst>
            <a:lin ang="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8" name="Google Shape;718;p27"/>
          <p:cNvGrpSpPr/>
          <p:nvPr/>
        </p:nvGrpSpPr>
        <p:grpSpPr>
          <a:xfrm>
            <a:off x="381000" y="904875"/>
            <a:ext cx="8382000" cy="362100"/>
            <a:chOff x="0" y="0"/>
            <a:chExt cx="8382000" cy="362100"/>
          </a:xfrm>
        </p:grpSpPr>
        <p:sp>
          <p:nvSpPr>
            <p:cNvPr id="719" name="Google Shape;719;p27"/>
            <p:cNvSpPr/>
            <p:nvPr/>
          </p:nvSpPr>
          <p:spPr>
            <a:xfrm>
              <a:off x="0" y="0"/>
              <a:ext cx="8382000" cy="362100"/>
            </a:xfrm>
            <a:prstGeom prst="roundRect">
              <a:avLst>
                <a:gd fmla="val 10526" name="adj"/>
              </a:avLst>
            </a:prstGeom>
            <a:solidFill>
              <a:srgbClr val="05070F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27"/>
            <p:cNvSpPr/>
            <p:nvPr/>
          </p:nvSpPr>
          <p:spPr>
            <a:xfrm>
              <a:off x="0" y="0"/>
              <a:ext cx="38100" cy="362100"/>
            </a:xfrm>
            <a:prstGeom prst="roundRect">
              <a:avLst>
                <a:gd fmla="val 50000" name="adj"/>
              </a:avLst>
            </a:prstGeom>
            <a:solidFill>
              <a:srgbClr val="74E7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27"/>
            <p:cNvSpPr txBox="1"/>
            <p:nvPr/>
          </p:nvSpPr>
          <p:spPr>
            <a:xfrm>
              <a:off x="142875" y="0"/>
              <a:ext cx="80964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F3C96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BRIDGE NETWORK:</a:t>
              </a:r>
              <a:r>
                <a:rPr b="0" lang="en" sz="900">
                  <a:solidFill>
                    <a:srgbClr val="A0AEC0"/>
                  </a:solidFill>
                  <a:latin typeface="DM Mono"/>
                  <a:ea typeface="DM Mono"/>
                  <a:cs typeface="DM Mono"/>
                  <a:sym typeface="DM Mono"/>
                </a:rPr>
                <a:t> </a:t>
              </a:r>
              <a:r>
                <a:rPr b="0" lang="en" sz="90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night-hours-gaming</a:t>
              </a:r>
              <a:r>
                <a:rPr b="0" lang="en" sz="900">
                  <a:solidFill>
                    <a:srgbClr val="A0AEC0"/>
                  </a:solidFill>
                  <a:latin typeface="DM Mono"/>
                  <a:ea typeface="DM Mono"/>
                  <a:cs typeface="DM Mono"/>
                  <a:sym typeface="DM Mono"/>
                </a:rPr>
                <a:t> </a:t>
              </a:r>
              <a:r>
                <a:rPr b="0" lang="en" sz="900">
                  <a:solidFill>
                    <a:srgbClr val="2A3052"/>
                  </a:solidFill>
                  <a:latin typeface="DM Mono"/>
                  <a:ea typeface="DM Mono"/>
                  <a:cs typeface="DM Mono"/>
                  <a:sym typeface="DM Mono"/>
                </a:rPr>
                <a:t>|</a:t>
              </a:r>
              <a:r>
                <a:rPr b="0" lang="en" sz="900">
                  <a:solidFill>
                    <a:srgbClr val="A0AEC0"/>
                  </a:solidFill>
                  <a:latin typeface="DM Mono"/>
                  <a:ea typeface="DM Mono"/>
                  <a:cs typeface="DM Mono"/>
                  <a:sym typeface="DM Mono"/>
                </a:rPr>
                <a:t> </a:t>
              </a:r>
              <a:r>
                <a:rPr b="0" lang="en" sz="800">
                  <a:solidFill>
                    <a:srgbClr val="87E5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STACK CONFIG:</a:t>
              </a:r>
              <a:r>
                <a:rPr b="0" lang="en" sz="900">
                  <a:solidFill>
                    <a:srgbClr val="A0AEC0"/>
                  </a:solidFill>
                  <a:latin typeface="DM Mono"/>
                  <a:ea typeface="DM Mono"/>
                  <a:cs typeface="DM Mono"/>
                  <a:sym typeface="DM Mono"/>
                </a:rPr>
                <a:t> </a:t>
              </a:r>
              <a:r>
                <a:rPr b="0" lang="en" sz="90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rPr>
                <a:t>docker-compose.yml</a:t>
              </a:r>
              <a:r>
                <a:rPr b="0" lang="en" sz="900">
                  <a:solidFill>
                    <a:srgbClr val="A0AEC0"/>
                  </a:solidFill>
                  <a:latin typeface="DM Mono"/>
                  <a:ea typeface="DM Mono"/>
                  <a:cs typeface="DM Mono"/>
                  <a:sym typeface="DM Mono"/>
                </a:rPr>
                <a:t> </a:t>
              </a:r>
              <a:r>
                <a:rPr b="0" lang="en" sz="900">
                  <a:solidFill>
                    <a:srgbClr val="4A5568"/>
                  </a:solidFill>
                  <a:latin typeface="DM Mono"/>
                  <a:ea typeface="DM Mono"/>
                  <a:cs typeface="DM Mono"/>
                  <a:sym typeface="DM Mono"/>
                </a:rPr>
                <a:t>•</a:t>
              </a:r>
              <a:r>
                <a:rPr b="0" lang="en" sz="900">
                  <a:solidFill>
                    <a:srgbClr val="A0AEC0"/>
                  </a:solidFill>
                  <a:latin typeface="DM Mono"/>
                  <a:ea typeface="DM Mono"/>
                  <a:cs typeface="DM Mono"/>
                  <a:sym typeface="DM Mono"/>
                </a:rPr>
                <a:t> </a:t>
              </a:r>
              <a:r>
                <a:rPr b="0" lang="en" sz="90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rPr>
                <a:t>start-game-servers.sh</a:t>
              </a:r>
              <a:r>
                <a:rPr b="0" lang="en" sz="900">
                  <a:solidFill>
                    <a:srgbClr val="A0AEC0"/>
                  </a:solidFill>
                  <a:latin typeface="DM Mono"/>
                  <a:ea typeface="DM Mono"/>
                  <a:cs typeface="DM Mono"/>
                  <a:sym typeface="DM Mono"/>
                </a:rPr>
                <a:t> </a:t>
              </a:r>
              <a:r>
                <a:rPr b="0" lang="en" sz="900">
                  <a:solidFill>
                    <a:srgbClr val="4A5568"/>
                  </a:solidFill>
                  <a:latin typeface="DM Mono"/>
                  <a:ea typeface="DM Mono"/>
                  <a:cs typeface="DM Mono"/>
                  <a:sym typeface="DM Mono"/>
                </a:rPr>
                <a:t>•</a:t>
              </a:r>
              <a:r>
                <a:rPr b="0" lang="en" sz="900">
                  <a:solidFill>
                    <a:srgbClr val="A0AEC0"/>
                  </a:solidFill>
                  <a:latin typeface="DM Mono"/>
                  <a:ea typeface="DM Mono"/>
                  <a:cs typeface="DM Mono"/>
                  <a:sym typeface="DM Mono"/>
                </a:rPr>
                <a:t> </a:t>
              </a:r>
              <a:r>
                <a:rPr b="0" lang="en" sz="90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rPr>
                <a:t>.env.gameservers</a:t>
              </a:r>
              <a:endParaRPr b="0" sz="9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</p:grpSp>
      <p:grpSp>
        <p:nvGrpSpPr>
          <p:cNvPr id="722" name="Google Shape;722;p27"/>
          <p:cNvGrpSpPr/>
          <p:nvPr/>
        </p:nvGrpSpPr>
        <p:grpSpPr>
          <a:xfrm>
            <a:off x="371475" y="1371600"/>
            <a:ext cx="1971750" cy="1562175"/>
            <a:chOff x="-9525" y="-9525"/>
            <a:chExt cx="1971750" cy="1562175"/>
          </a:xfrm>
        </p:grpSpPr>
        <p:sp>
          <p:nvSpPr>
            <p:cNvPr id="723" name="Google Shape;723;p27"/>
            <p:cNvSpPr/>
            <p:nvPr/>
          </p:nvSpPr>
          <p:spPr>
            <a:xfrm>
              <a:off x="0" y="0"/>
              <a:ext cx="1952700" cy="1524000"/>
            </a:xfrm>
            <a:prstGeom prst="roundRect">
              <a:avLst>
                <a:gd fmla="val 3750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27"/>
            <p:cNvSpPr/>
            <p:nvPr/>
          </p:nvSpPr>
          <p:spPr>
            <a:xfrm>
              <a:off x="0" y="0"/>
              <a:ext cx="1952700" cy="28500"/>
            </a:xfrm>
            <a:prstGeom prst="roundRect">
              <a:avLst>
                <a:gd fmla="val 33333" name="adj"/>
              </a:avLst>
            </a:prstGeom>
            <a:solidFill>
              <a:srgbClr val="87E5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25" name="Google Shape;725;p27"/>
            <p:cNvGrpSpPr/>
            <p:nvPr/>
          </p:nvGrpSpPr>
          <p:grpSpPr>
            <a:xfrm>
              <a:off x="-9525" y="-9525"/>
              <a:ext cx="1971750" cy="1562175"/>
              <a:chOff x="-9525" y="-9525"/>
              <a:chExt cx="1971750" cy="1562175"/>
            </a:xfrm>
          </p:grpSpPr>
          <p:pic>
            <p:nvPicPr>
              <p:cNvPr id="726" name="Google Shape;726;p2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9525" y="-9525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27" name="Google Shape;727;p2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876425" y="-9525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28" name="Google Shape;728;p2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-9525" y="1466850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29" name="Google Shape;729;p27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1876425" y="1466850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730" name="Google Shape;730;p27"/>
            <p:cNvSpPr/>
            <p:nvPr/>
          </p:nvSpPr>
          <p:spPr>
            <a:xfrm>
              <a:off x="114300" y="152400"/>
              <a:ext cx="76200" cy="76200"/>
            </a:xfrm>
            <a:prstGeom prst="ellipse">
              <a:avLst/>
            </a:prstGeom>
            <a:solidFill>
              <a:srgbClr val="74E7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27"/>
            <p:cNvSpPr txBox="1"/>
            <p:nvPr/>
          </p:nvSpPr>
          <p:spPr>
            <a:xfrm>
              <a:off x="247650" y="76200"/>
              <a:ext cx="16191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FFFF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Android Cloud VM</a:t>
              </a:r>
              <a:endParaRPr b="0" sz="1050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sp>
          <p:nvSpPr>
            <p:cNvPr id="732" name="Google Shape;732;p27"/>
            <p:cNvSpPr/>
            <p:nvPr/>
          </p:nvSpPr>
          <p:spPr>
            <a:xfrm>
              <a:off x="95250" y="323850"/>
              <a:ext cx="1762200" cy="209700"/>
            </a:xfrm>
            <a:prstGeom prst="roundRect">
              <a:avLst>
                <a:gd fmla="val 13636" name="adj"/>
              </a:avLst>
            </a:prstGeom>
            <a:solidFill>
              <a:srgbClr val="05070F"/>
            </a:solidFill>
            <a:ln cap="flat" cmpd="sng" w="9525">
              <a:solidFill>
                <a:srgbClr val="1A203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27"/>
            <p:cNvSpPr txBox="1"/>
            <p:nvPr/>
          </p:nvSpPr>
          <p:spPr>
            <a:xfrm>
              <a:off x="133350" y="323850"/>
              <a:ext cx="1686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595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budtmo/docker-android:emulator_11.0</a:t>
              </a:r>
              <a:endParaRPr b="0" sz="595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sp>
          <p:nvSpPr>
            <p:cNvPr id="734" name="Google Shape;734;p27"/>
            <p:cNvSpPr txBox="1"/>
            <p:nvPr/>
          </p:nvSpPr>
          <p:spPr>
            <a:xfrm>
              <a:off x="114300" y="590550"/>
              <a:ext cx="17241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9D6C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PROFILE</a:t>
              </a:r>
              <a:endParaRPr b="0" sz="750">
                <a:solidFill>
                  <a:srgbClr val="9D6C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Samsung Galaxy S10</a:t>
              </a:r>
              <a:endParaRPr b="0"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87E5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EXPOSED INTERFACES</a:t>
              </a:r>
              <a:endParaRPr b="0" sz="750">
                <a:solidFill>
                  <a:srgbClr val="87E5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rPr>
                <a:t>Web VNC :6080</a:t>
              </a:r>
              <a:br>
                <a:rPr b="0" lang="en" sz="80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rPr>
              </a:br>
              <a:r>
                <a:rPr b="0" lang="en" sz="80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rPr>
                <a:t>ADB :5554 / :5555</a:t>
              </a:r>
              <a:endParaRPr b="0" sz="800">
                <a:solidFill>
                  <a:srgbClr val="87E5FF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</p:grpSp>
      <p:grpSp>
        <p:nvGrpSpPr>
          <p:cNvPr id="735" name="Google Shape;735;p27"/>
          <p:cNvGrpSpPr/>
          <p:nvPr/>
        </p:nvGrpSpPr>
        <p:grpSpPr>
          <a:xfrm>
            <a:off x="2514600" y="1371600"/>
            <a:ext cx="1971750" cy="1562175"/>
            <a:chOff x="-9525" y="-9525"/>
            <a:chExt cx="1971750" cy="1562175"/>
          </a:xfrm>
        </p:grpSpPr>
        <p:sp>
          <p:nvSpPr>
            <p:cNvPr id="736" name="Google Shape;736;p27"/>
            <p:cNvSpPr/>
            <p:nvPr/>
          </p:nvSpPr>
          <p:spPr>
            <a:xfrm>
              <a:off x="0" y="0"/>
              <a:ext cx="1952700" cy="1524000"/>
            </a:xfrm>
            <a:prstGeom prst="roundRect">
              <a:avLst>
                <a:gd fmla="val 3750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27"/>
            <p:cNvSpPr/>
            <p:nvPr/>
          </p:nvSpPr>
          <p:spPr>
            <a:xfrm>
              <a:off x="0" y="0"/>
              <a:ext cx="1952700" cy="28500"/>
            </a:xfrm>
            <a:prstGeom prst="roundRect">
              <a:avLst>
                <a:gd fmla="val 33333" name="adj"/>
              </a:avLst>
            </a:prstGeom>
            <a:solidFill>
              <a:srgbClr val="9D6C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38" name="Google Shape;738;p27"/>
            <p:cNvGrpSpPr/>
            <p:nvPr/>
          </p:nvGrpSpPr>
          <p:grpSpPr>
            <a:xfrm>
              <a:off x="-9525" y="-9525"/>
              <a:ext cx="1971750" cy="1562175"/>
              <a:chOff x="-9525" y="-9525"/>
              <a:chExt cx="1971750" cy="1562175"/>
            </a:xfrm>
          </p:grpSpPr>
          <p:pic>
            <p:nvPicPr>
              <p:cNvPr id="739" name="Google Shape;739;p2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9525" y="-9525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40" name="Google Shape;740;p2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876425" y="-9525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41" name="Google Shape;741;p2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-9525" y="1466850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42" name="Google Shape;742;p27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1876425" y="1466850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743" name="Google Shape;743;p27"/>
            <p:cNvSpPr/>
            <p:nvPr/>
          </p:nvSpPr>
          <p:spPr>
            <a:xfrm>
              <a:off x="114300" y="152400"/>
              <a:ext cx="76200" cy="76200"/>
            </a:xfrm>
            <a:prstGeom prst="ellipse">
              <a:avLst/>
            </a:prstGeom>
            <a:solidFill>
              <a:srgbClr val="74E7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27"/>
            <p:cNvSpPr txBox="1"/>
            <p:nvPr/>
          </p:nvSpPr>
          <p:spPr>
            <a:xfrm>
              <a:off x="247650" y="76200"/>
              <a:ext cx="16191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FFFF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LinuxGSM Manager</a:t>
              </a:r>
              <a:endParaRPr b="0" sz="1050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sp>
          <p:nvSpPr>
            <p:cNvPr id="745" name="Google Shape;745;p27"/>
            <p:cNvSpPr/>
            <p:nvPr/>
          </p:nvSpPr>
          <p:spPr>
            <a:xfrm>
              <a:off x="95250" y="323850"/>
              <a:ext cx="1762200" cy="209700"/>
            </a:xfrm>
            <a:prstGeom prst="roundRect">
              <a:avLst>
                <a:gd fmla="val 13636" name="adj"/>
              </a:avLst>
            </a:prstGeom>
            <a:solidFill>
              <a:srgbClr val="05070F"/>
            </a:solidFill>
            <a:ln cap="flat" cmpd="sng" w="9525">
              <a:solidFill>
                <a:srgbClr val="1A203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27"/>
            <p:cNvSpPr txBox="1"/>
            <p:nvPr/>
          </p:nvSpPr>
          <p:spPr>
            <a:xfrm>
              <a:off x="133350" y="323850"/>
              <a:ext cx="1686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527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ghcr.io/gameservermanagers/linuxgsm-docker</a:t>
              </a:r>
              <a:endParaRPr b="0" sz="527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sp>
          <p:nvSpPr>
            <p:cNvPr id="747" name="Google Shape;747;p27"/>
            <p:cNvSpPr txBox="1"/>
            <p:nvPr/>
          </p:nvSpPr>
          <p:spPr>
            <a:xfrm>
              <a:off x="114300" y="590550"/>
              <a:ext cx="17241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9D6C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ROLE</a:t>
              </a:r>
              <a:endParaRPr b="0" sz="750">
                <a:solidFill>
                  <a:srgbClr val="9D6C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Game Server Manager</a:t>
              </a:r>
              <a:endParaRPr b="0"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87E5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CONTROL PANEL</a:t>
              </a:r>
              <a:endParaRPr b="0" sz="750">
                <a:solidFill>
                  <a:srgbClr val="87E5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rPr>
                <a:t>Web UI on :8080</a:t>
              </a:r>
              <a:endParaRPr b="0" sz="800">
                <a:solidFill>
                  <a:srgbClr val="87E5FF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</p:grpSp>
      <p:grpSp>
        <p:nvGrpSpPr>
          <p:cNvPr id="748" name="Google Shape;748;p27"/>
          <p:cNvGrpSpPr/>
          <p:nvPr/>
        </p:nvGrpSpPr>
        <p:grpSpPr>
          <a:xfrm>
            <a:off x="4657725" y="1371600"/>
            <a:ext cx="1971750" cy="1562175"/>
            <a:chOff x="-9525" y="-9525"/>
            <a:chExt cx="1971750" cy="1562175"/>
          </a:xfrm>
        </p:grpSpPr>
        <p:sp>
          <p:nvSpPr>
            <p:cNvPr id="749" name="Google Shape;749;p27"/>
            <p:cNvSpPr/>
            <p:nvPr/>
          </p:nvSpPr>
          <p:spPr>
            <a:xfrm>
              <a:off x="0" y="0"/>
              <a:ext cx="1952700" cy="1524000"/>
            </a:xfrm>
            <a:prstGeom prst="roundRect">
              <a:avLst>
                <a:gd fmla="val 3750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27"/>
            <p:cNvSpPr/>
            <p:nvPr/>
          </p:nvSpPr>
          <p:spPr>
            <a:xfrm>
              <a:off x="0" y="0"/>
              <a:ext cx="1952700" cy="28500"/>
            </a:xfrm>
            <a:prstGeom prst="roundRect">
              <a:avLst>
                <a:gd fmla="val 33333" name="adj"/>
              </a:avLst>
            </a:prstGeom>
            <a:solidFill>
              <a:srgbClr val="74E7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51" name="Google Shape;751;p27"/>
            <p:cNvGrpSpPr/>
            <p:nvPr/>
          </p:nvGrpSpPr>
          <p:grpSpPr>
            <a:xfrm>
              <a:off x="-9525" y="-9525"/>
              <a:ext cx="1971750" cy="1562175"/>
              <a:chOff x="-9525" y="-9525"/>
              <a:chExt cx="1971750" cy="1562175"/>
            </a:xfrm>
          </p:grpSpPr>
          <p:pic>
            <p:nvPicPr>
              <p:cNvPr id="752" name="Google Shape;752;p2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9525" y="-9525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53" name="Google Shape;753;p2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876425" y="-9525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54" name="Google Shape;754;p2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-9525" y="1466850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55" name="Google Shape;755;p27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1876425" y="1466850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756" name="Google Shape;756;p27"/>
            <p:cNvSpPr/>
            <p:nvPr/>
          </p:nvSpPr>
          <p:spPr>
            <a:xfrm>
              <a:off x="114300" y="152400"/>
              <a:ext cx="76200" cy="76200"/>
            </a:xfrm>
            <a:prstGeom prst="ellipse">
              <a:avLst/>
            </a:prstGeom>
            <a:solidFill>
              <a:srgbClr val="74E7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27"/>
            <p:cNvSpPr txBox="1"/>
            <p:nvPr/>
          </p:nvSpPr>
          <p:spPr>
            <a:xfrm>
              <a:off x="247650" y="76200"/>
              <a:ext cx="16191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FFFF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Valheim Server</a:t>
              </a:r>
              <a:endParaRPr b="0" sz="1050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sp>
          <p:nvSpPr>
            <p:cNvPr id="758" name="Google Shape;758;p27"/>
            <p:cNvSpPr/>
            <p:nvPr/>
          </p:nvSpPr>
          <p:spPr>
            <a:xfrm>
              <a:off x="95250" y="323850"/>
              <a:ext cx="1762200" cy="209700"/>
            </a:xfrm>
            <a:prstGeom prst="roundRect">
              <a:avLst>
                <a:gd fmla="val 13636" name="adj"/>
              </a:avLst>
            </a:prstGeom>
            <a:solidFill>
              <a:srgbClr val="05070F"/>
            </a:solidFill>
            <a:ln cap="flat" cmpd="sng" w="9525">
              <a:solidFill>
                <a:srgbClr val="1A203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27"/>
            <p:cNvSpPr txBox="1"/>
            <p:nvPr/>
          </p:nvSpPr>
          <p:spPr>
            <a:xfrm>
              <a:off x="133350" y="323850"/>
              <a:ext cx="1686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mbround18/valheim-docker</a:t>
              </a:r>
              <a:endParaRPr b="0" sz="75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sp>
          <p:nvSpPr>
            <p:cNvPr id="760" name="Google Shape;760;p27"/>
            <p:cNvSpPr txBox="1"/>
            <p:nvPr/>
          </p:nvSpPr>
          <p:spPr>
            <a:xfrm>
              <a:off x="114300" y="590550"/>
              <a:ext cx="17241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9D6C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GAME TYPE</a:t>
              </a:r>
              <a:endParaRPr b="0" sz="750">
                <a:solidFill>
                  <a:srgbClr val="9D6C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Viking Survival World</a:t>
              </a:r>
              <a:endParaRPr b="0"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87E5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NETWORK PORTS</a:t>
              </a:r>
              <a:endParaRPr b="0" sz="750">
                <a:solidFill>
                  <a:srgbClr val="87E5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rPr>
                <a:t>Ports 2456-2458/udp</a:t>
              </a:r>
              <a:endParaRPr b="0" sz="800">
                <a:solidFill>
                  <a:srgbClr val="87E5FF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</p:grpSp>
      <p:grpSp>
        <p:nvGrpSpPr>
          <p:cNvPr id="761" name="Google Shape;761;p27"/>
          <p:cNvGrpSpPr/>
          <p:nvPr/>
        </p:nvGrpSpPr>
        <p:grpSpPr>
          <a:xfrm>
            <a:off x="6800850" y="1371600"/>
            <a:ext cx="1971750" cy="1562175"/>
            <a:chOff x="-9525" y="-9525"/>
            <a:chExt cx="1971750" cy="1562175"/>
          </a:xfrm>
        </p:grpSpPr>
        <p:sp>
          <p:nvSpPr>
            <p:cNvPr id="762" name="Google Shape;762;p27"/>
            <p:cNvSpPr/>
            <p:nvPr/>
          </p:nvSpPr>
          <p:spPr>
            <a:xfrm>
              <a:off x="0" y="0"/>
              <a:ext cx="1952700" cy="1524000"/>
            </a:xfrm>
            <a:prstGeom prst="roundRect">
              <a:avLst>
                <a:gd fmla="val 3750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27"/>
            <p:cNvSpPr/>
            <p:nvPr/>
          </p:nvSpPr>
          <p:spPr>
            <a:xfrm>
              <a:off x="0" y="0"/>
              <a:ext cx="1952700" cy="28500"/>
            </a:xfrm>
            <a:prstGeom prst="roundRect">
              <a:avLst>
                <a:gd fmla="val 33333" name="adj"/>
              </a:avLst>
            </a:prstGeom>
            <a:solidFill>
              <a:srgbClr val="F3C96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64" name="Google Shape;764;p27"/>
            <p:cNvGrpSpPr/>
            <p:nvPr/>
          </p:nvGrpSpPr>
          <p:grpSpPr>
            <a:xfrm>
              <a:off x="-9525" y="-9525"/>
              <a:ext cx="1971750" cy="1562175"/>
              <a:chOff x="-9525" y="-9525"/>
              <a:chExt cx="1971750" cy="1562175"/>
            </a:xfrm>
          </p:grpSpPr>
          <p:pic>
            <p:nvPicPr>
              <p:cNvPr id="765" name="Google Shape;765;p2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9525" y="-9525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66" name="Google Shape;766;p2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876425" y="-9525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67" name="Google Shape;767;p2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-9525" y="1466850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68" name="Google Shape;768;p27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1876425" y="1466850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769" name="Google Shape;769;p27"/>
            <p:cNvSpPr/>
            <p:nvPr/>
          </p:nvSpPr>
          <p:spPr>
            <a:xfrm>
              <a:off x="114300" y="152400"/>
              <a:ext cx="76200" cy="76200"/>
            </a:xfrm>
            <a:prstGeom prst="ellipse">
              <a:avLst/>
            </a:prstGeom>
            <a:solidFill>
              <a:srgbClr val="74E7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27"/>
            <p:cNvSpPr txBox="1"/>
            <p:nvPr/>
          </p:nvSpPr>
          <p:spPr>
            <a:xfrm>
              <a:off x="247650" y="76200"/>
              <a:ext cx="16191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FFFF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Minecraft PaperMC</a:t>
              </a:r>
              <a:endParaRPr b="0" sz="1050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sp>
          <p:nvSpPr>
            <p:cNvPr id="771" name="Google Shape;771;p27"/>
            <p:cNvSpPr/>
            <p:nvPr/>
          </p:nvSpPr>
          <p:spPr>
            <a:xfrm>
              <a:off x="95250" y="323850"/>
              <a:ext cx="1762200" cy="209700"/>
            </a:xfrm>
            <a:prstGeom prst="roundRect">
              <a:avLst>
                <a:gd fmla="val 13636" name="adj"/>
              </a:avLst>
            </a:prstGeom>
            <a:solidFill>
              <a:srgbClr val="05070F"/>
            </a:solidFill>
            <a:ln cap="flat" cmpd="sng" w="9525">
              <a:solidFill>
                <a:srgbClr val="1A203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27"/>
            <p:cNvSpPr txBox="1"/>
            <p:nvPr/>
          </p:nvSpPr>
          <p:spPr>
            <a:xfrm>
              <a:off x="133350" y="323850"/>
              <a:ext cx="1686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itzg/minecraft-server</a:t>
              </a:r>
              <a:endParaRPr b="0" sz="75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sp>
          <p:nvSpPr>
            <p:cNvPr id="773" name="Google Shape;773;p27"/>
            <p:cNvSpPr txBox="1"/>
            <p:nvPr/>
          </p:nvSpPr>
          <p:spPr>
            <a:xfrm>
              <a:off x="114300" y="590550"/>
              <a:ext cx="17241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9D6C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SPECS &amp; VERSION</a:t>
              </a:r>
              <a:endParaRPr b="0" sz="750">
                <a:solidFill>
                  <a:srgbClr val="9D6C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PaperMC 1.21 • 4GB RAM • RCON</a:t>
              </a:r>
              <a:endParaRPr b="0" sz="85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87E5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EXPOSED PORTS</a:t>
              </a:r>
              <a:endParaRPr b="0" sz="750">
                <a:solidFill>
                  <a:srgbClr val="87E5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rPr>
                <a:t>Ports 25565 / 25575</a:t>
              </a:r>
              <a:endParaRPr b="0" sz="800">
                <a:solidFill>
                  <a:srgbClr val="87E5FF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</p:grpSp>
      <p:grpSp>
        <p:nvGrpSpPr>
          <p:cNvPr id="774" name="Google Shape;774;p27"/>
          <p:cNvGrpSpPr/>
          <p:nvPr/>
        </p:nvGrpSpPr>
        <p:grpSpPr>
          <a:xfrm>
            <a:off x="371475" y="3019425"/>
            <a:ext cx="1971750" cy="1562175"/>
            <a:chOff x="-9525" y="-9525"/>
            <a:chExt cx="1971750" cy="1562175"/>
          </a:xfrm>
        </p:grpSpPr>
        <p:sp>
          <p:nvSpPr>
            <p:cNvPr id="775" name="Google Shape;775;p27"/>
            <p:cNvSpPr/>
            <p:nvPr/>
          </p:nvSpPr>
          <p:spPr>
            <a:xfrm>
              <a:off x="0" y="0"/>
              <a:ext cx="1952700" cy="1524000"/>
            </a:xfrm>
            <a:prstGeom prst="roundRect">
              <a:avLst>
                <a:gd fmla="val 3750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27"/>
            <p:cNvSpPr/>
            <p:nvPr/>
          </p:nvSpPr>
          <p:spPr>
            <a:xfrm>
              <a:off x="0" y="0"/>
              <a:ext cx="1952700" cy="28500"/>
            </a:xfrm>
            <a:prstGeom prst="roundRect">
              <a:avLst>
                <a:gd fmla="val 33333" name="adj"/>
              </a:avLst>
            </a:prstGeom>
            <a:solidFill>
              <a:srgbClr val="74E7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77" name="Google Shape;777;p27"/>
            <p:cNvGrpSpPr/>
            <p:nvPr/>
          </p:nvGrpSpPr>
          <p:grpSpPr>
            <a:xfrm>
              <a:off x="-9525" y="-9525"/>
              <a:ext cx="1971750" cy="1562175"/>
              <a:chOff x="-9525" y="-9525"/>
              <a:chExt cx="1971750" cy="1562175"/>
            </a:xfrm>
          </p:grpSpPr>
          <p:pic>
            <p:nvPicPr>
              <p:cNvPr id="778" name="Google Shape;778;p2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9525" y="-9525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79" name="Google Shape;779;p2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876425" y="-9525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80" name="Google Shape;780;p2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-9525" y="1466850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81" name="Google Shape;781;p27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1876425" y="1466850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782" name="Google Shape;782;p27"/>
            <p:cNvSpPr/>
            <p:nvPr/>
          </p:nvSpPr>
          <p:spPr>
            <a:xfrm>
              <a:off x="114300" y="152400"/>
              <a:ext cx="76200" cy="76200"/>
            </a:xfrm>
            <a:prstGeom prst="ellipse">
              <a:avLst/>
            </a:prstGeom>
            <a:solidFill>
              <a:srgbClr val="74E7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27"/>
            <p:cNvSpPr txBox="1"/>
            <p:nvPr/>
          </p:nvSpPr>
          <p:spPr>
            <a:xfrm>
              <a:off x="247650" y="76200"/>
              <a:ext cx="16191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FFFF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Terraria Server</a:t>
              </a:r>
              <a:endParaRPr b="0" sz="1050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sp>
          <p:nvSpPr>
            <p:cNvPr id="784" name="Google Shape;784;p27"/>
            <p:cNvSpPr/>
            <p:nvPr/>
          </p:nvSpPr>
          <p:spPr>
            <a:xfrm>
              <a:off x="95250" y="323850"/>
              <a:ext cx="1762200" cy="209700"/>
            </a:xfrm>
            <a:prstGeom prst="roundRect">
              <a:avLst>
                <a:gd fmla="val 13636" name="adj"/>
              </a:avLst>
            </a:prstGeom>
            <a:solidFill>
              <a:srgbClr val="05070F"/>
            </a:solidFill>
            <a:ln cap="flat" cmpd="sng" w="9525">
              <a:solidFill>
                <a:srgbClr val="1A203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27"/>
            <p:cNvSpPr txBox="1"/>
            <p:nvPr/>
          </p:nvSpPr>
          <p:spPr>
            <a:xfrm>
              <a:off x="133350" y="323850"/>
              <a:ext cx="1686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vladimirbabichev/terraria</a:t>
              </a:r>
              <a:endParaRPr b="0" sz="75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sp>
          <p:nvSpPr>
            <p:cNvPr id="786" name="Google Shape;786;p27"/>
            <p:cNvSpPr txBox="1"/>
            <p:nvPr/>
          </p:nvSpPr>
          <p:spPr>
            <a:xfrm>
              <a:off x="114300" y="590550"/>
              <a:ext cx="17241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9D6C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CAPACITY</a:t>
              </a:r>
              <a:endParaRPr b="0" sz="750">
                <a:solidFill>
                  <a:srgbClr val="9D6C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8-Player World</a:t>
              </a:r>
              <a:endParaRPr b="0"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87E5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EXPOSED PORT</a:t>
              </a:r>
              <a:endParaRPr b="0" sz="750">
                <a:solidFill>
                  <a:srgbClr val="87E5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rPr>
                <a:t>Port 7777</a:t>
              </a:r>
              <a:endParaRPr b="0" sz="800">
                <a:solidFill>
                  <a:srgbClr val="87E5FF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</p:grpSp>
      <p:grpSp>
        <p:nvGrpSpPr>
          <p:cNvPr id="787" name="Google Shape;787;p27"/>
          <p:cNvGrpSpPr/>
          <p:nvPr/>
        </p:nvGrpSpPr>
        <p:grpSpPr>
          <a:xfrm>
            <a:off x="2514600" y="3019425"/>
            <a:ext cx="1971750" cy="1562175"/>
            <a:chOff x="-9525" y="-9525"/>
            <a:chExt cx="1971750" cy="1562175"/>
          </a:xfrm>
        </p:grpSpPr>
        <p:sp>
          <p:nvSpPr>
            <p:cNvPr id="788" name="Google Shape;788;p27"/>
            <p:cNvSpPr/>
            <p:nvPr/>
          </p:nvSpPr>
          <p:spPr>
            <a:xfrm>
              <a:off x="0" y="0"/>
              <a:ext cx="1952700" cy="1524000"/>
            </a:xfrm>
            <a:prstGeom prst="roundRect">
              <a:avLst>
                <a:gd fmla="val 3750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27"/>
            <p:cNvSpPr/>
            <p:nvPr/>
          </p:nvSpPr>
          <p:spPr>
            <a:xfrm>
              <a:off x="0" y="0"/>
              <a:ext cx="1952700" cy="28500"/>
            </a:xfrm>
            <a:prstGeom prst="roundRect">
              <a:avLst>
                <a:gd fmla="val 33333" name="adj"/>
              </a:avLst>
            </a:prstGeom>
            <a:solidFill>
              <a:srgbClr val="F3C96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90" name="Google Shape;790;p27"/>
            <p:cNvGrpSpPr/>
            <p:nvPr/>
          </p:nvGrpSpPr>
          <p:grpSpPr>
            <a:xfrm>
              <a:off x="-9525" y="-9525"/>
              <a:ext cx="1971750" cy="1562175"/>
              <a:chOff x="-9525" y="-9525"/>
              <a:chExt cx="1971750" cy="1562175"/>
            </a:xfrm>
          </p:grpSpPr>
          <p:pic>
            <p:nvPicPr>
              <p:cNvPr id="791" name="Google Shape;791;p2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9525" y="-9525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92" name="Google Shape;792;p2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876425" y="-9525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93" name="Google Shape;793;p2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-9525" y="1466850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94" name="Google Shape;794;p27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1876425" y="1466850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795" name="Google Shape;795;p27"/>
            <p:cNvSpPr/>
            <p:nvPr/>
          </p:nvSpPr>
          <p:spPr>
            <a:xfrm>
              <a:off x="114300" y="152400"/>
              <a:ext cx="76200" cy="76200"/>
            </a:xfrm>
            <a:prstGeom prst="ellipse">
              <a:avLst/>
            </a:prstGeom>
            <a:solidFill>
              <a:srgbClr val="74E7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27"/>
            <p:cNvSpPr txBox="1"/>
            <p:nvPr/>
          </p:nvSpPr>
          <p:spPr>
            <a:xfrm>
              <a:off x="247650" y="76200"/>
              <a:ext cx="16191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FFFF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7 Days to Die</a:t>
              </a:r>
              <a:endParaRPr b="0" sz="1050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sp>
          <p:nvSpPr>
            <p:cNvPr id="797" name="Google Shape;797;p27"/>
            <p:cNvSpPr/>
            <p:nvPr/>
          </p:nvSpPr>
          <p:spPr>
            <a:xfrm>
              <a:off x="95250" y="323850"/>
              <a:ext cx="1762200" cy="209700"/>
            </a:xfrm>
            <a:prstGeom prst="roundRect">
              <a:avLst>
                <a:gd fmla="val 13636" name="adj"/>
              </a:avLst>
            </a:prstGeom>
            <a:solidFill>
              <a:srgbClr val="05070F"/>
            </a:solidFill>
            <a:ln cap="flat" cmpd="sng" w="9525">
              <a:solidFill>
                <a:srgbClr val="1A203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27"/>
            <p:cNvSpPr txBox="1"/>
            <p:nvPr/>
          </p:nvSpPr>
          <p:spPr>
            <a:xfrm>
              <a:off x="133350" y="323850"/>
              <a:ext cx="1686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didstopia/7dtd-server</a:t>
              </a:r>
              <a:endParaRPr b="0" sz="75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sp>
          <p:nvSpPr>
            <p:cNvPr id="799" name="Google Shape;799;p27"/>
            <p:cNvSpPr txBox="1"/>
            <p:nvPr/>
          </p:nvSpPr>
          <p:spPr>
            <a:xfrm>
              <a:off x="114300" y="590550"/>
              <a:ext cx="17241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9D6C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FEATURES</a:t>
              </a:r>
              <a:endParaRPr b="0" sz="750">
                <a:solidFill>
                  <a:srgbClr val="9D6C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Survival + Web Panel</a:t>
              </a:r>
              <a:endParaRPr b="0"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87E5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EXPOSED PORTS</a:t>
              </a:r>
              <a:endParaRPr b="0" sz="750">
                <a:solidFill>
                  <a:srgbClr val="87E5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rPr>
                <a:t>26900-26902/udp</a:t>
              </a:r>
              <a:br>
                <a:rPr b="0" lang="en" sz="80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rPr>
              </a:br>
              <a:r>
                <a:rPr b="0" lang="en" sz="80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rPr>
                <a:t>Web Panel :8081</a:t>
              </a:r>
              <a:endParaRPr b="0" sz="800">
                <a:solidFill>
                  <a:srgbClr val="87E5FF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</p:grpSp>
      <p:grpSp>
        <p:nvGrpSpPr>
          <p:cNvPr id="800" name="Google Shape;800;p27"/>
          <p:cNvGrpSpPr/>
          <p:nvPr/>
        </p:nvGrpSpPr>
        <p:grpSpPr>
          <a:xfrm>
            <a:off x="4657725" y="3019425"/>
            <a:ext cx="1971750" cy="1562175"/>
            <a:chOff x="-9525" y="-9525"/>
            <a:chExt cx="1971750" cy="1562175"/>
          </a:xfrm>
        </p:grpSpPr>
        <p:sp>
          <p:nvSpPr>
            <p:cNvPr id="801" name="Google Shape;801;p27"/>
            <p:cNvSpPr/>
            <p:nvPr/>
          </p:nvSpPr>
          <p:spPr>
            <a:xfrm>
              <a:off x="0" y="0"/>
              <a:ext cx="1952700" cy="1524000"/>
            </a:xfrm>
            <a:prstGeom prst="roundRect">
              <a:avLst>
                <a:gd fmla="val 3750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27"/>
            <p:cNvSpPr/>
            <p:nvPr/>
          </p:nvSpPr>
          <p:spPr>
            <a:xfrm>
              <a:off x="0" y="0"/>
              <a:ext cx="1952700" cy="28500"/>
            </a:xfrm>
            <a:prstGeom prst="roundRect">
              <a:avLst>
                <a:gd fmla="val 33333" name="adj"/>
              </a:avLst>
            </a:prstGeom>
            <a:solidFill>
              <a:srgbClr val="87E5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03" name="Google Shape;803;p27"/>
            <p:cNvGrpSpPr/>
            <p:nvPr/>
          </p:nvGrpSpPr>
          <p:grpSpPr>
            <a:xfrm>
              <a:off x="-9525" y="-9525"/>
              <a:ext cx="1971750" cy="1562175"/>
              <a:chOff x="-9525" y="-9525"/>
              <a:chExt cx="1971750" cy="1562175"/>
            </a:xfrm>
          </p:grpSpPr>
          <p:pic>
            <p:nvPicPr>
              <p:cNvPr id="804" name="Google Shape;804;p2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9525" y="-9525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05" name="Google Shape;805;p2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876425" y="-9525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06" name="Google Shape;806;p2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-9525" y="1466850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07" name="Google Shape;807;p27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1876425" y="1466850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08" name="Google Shape;808;p27"/>
            <p:cNvSpPr/>
            <p:nvPr/>
          </p:nvSpPr>
          <p:spPr>
            <a:xfrm>
              <a:off x="114300" y="152400"/>
              <a:ext cx="76200" cy="76200"/>
            </a:xfrm>
            <a:prstGeom prst="ellipse">
              <a:avLst/>
            </a:prstGeom>
            <a:solidFill>
              <a:srgbClr val="74E7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27"/>
            <p:cNvSpPr txBox="1"/>
            <p:nvPr/>
          </p:nvSpPr>
          <p:spPr>
            <a:xfrm>
              <a:off x="247650" y="76200"/>
              <a:ext cx="16191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FFFF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CS2 &amp; Team Fortress 2</a:t>
              </a:r>
              <a:endParaRPr b="0" sz="1050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sp>
          <p:nvSpPr>
            <p:cNvPr id="810" name="Google Shape;810;p27"/>
            <p:cNvSpPr/>
            <p:nvPr/>
          </p:nvSpPr>
          <p:spPr>
            <a:xfrm>
              <a:off x="95250" y="323850"/>
              <a:ext cx="1762200" cy="209700"/>
            </a:xfrm>
            <a:prstGeom prst="roundRect">
              <a:avLst>
                <a:gd fmla="val 13636" name="adj"/>
              </a:avLst>
            </a:prstGeom>
            <a:solidFill>
              <a:srgbClr val="05070F"/>
            </a:solidFill>
            <a:ln cap="flat" cmpd="sng" w="9525">
              <a:solidFill>
                <a:srgbClr val="1A203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27"/>
            <p:cNvSpPr txBox="1"/>
            <p:nvPr/>
          </p:nvSpPr>
          <p:spPr>
            <a:xfrm>
              <a:off x="133350" y="323850"/>
              <a:ext cx="1686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cm2network/cs2 &amp; tf2</a:t>
              </a:r>
              <a:endParaRPr b="0" sz="75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sp>
          <p:nvSpPr>
            <p:cNvPr id="812" name="Google Shape;812;p27"/>
            <p:cNvSpPr txBox="1"/>
            <p:nvPr/>
          </p:nvSpPr>
          <p:spPr>
            <a:xfrm>
              <a:off x="114300" y="590550"/>
              <a:ext cx="17241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9D6C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SERVERS &amp; MAPS</a:t>
              </a:r>
              <a:endParaRPr b="0" sz="750">
                <a:solidFill>
                  <a:srgbClr val="9D6C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CS2: 16p de_dust2 (:27015)</a:t>
              </a:r>
              <a:endParaRPr b="0" sz="8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450"/>
                </a:spcAft>
                <a:buNone/>
              </a:pPr>
              <a:r>
                <a:rPr b="0" lang="en" sz="80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TF2: 24p pl_badwater (:27016)</a:t>
              </a:r>
              <a:endParaRPr b="0" sz="8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813" name="Google Shape;813;p27"/>
          <p:cNvGrpSpPr/>
          <p:nvPr/>
        </p:nvGrpSpPr>
        <p:grpSpPr>
          <a:xfrm>
            <a:off x="6800850" y="3019425"/>
            <a:ext cx="1971750" cy="1562175"/>
            <a:chOff x="-9525" y="-9525"/>
            <a:chExt cx="1971750" cy="1562175"/>
          </a:xfrm>
        </p:grpSpPr>
        <p:sp>
          <p:nvSpPr>
            <p:cNvPr id="814" name="Google Shape;814;p27"/>
            <p:cNvSpPr/>
            <p:nvPr/>
          </p:nvSpPr>
          <p:spPr>
            <a:xfrm>
              <a:off x="0" y="0"/>
              <a:ext cx="1952700" cy="1524000"/>
            </a:xfrm>
            <a:prstGeom prst="roundRect">
              <a:avLst>
                <a:gd fmla="val 3750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27"/>
            <p:cNvSpPr/>
            <p:nvPr/>
          </p:nvSpPr>
          <p:spPr>
            <a:xfrm>
              <a:off x="0" y="0"/>
              <a:ext cx="1952700" cy="28500"/>
            </a:xfrm>
            <a:prstGeom prst="roundRect">
              <a:avLst>
                <a:gd fmla="val 33333" name="adj"/>
              </a:avLst>
            </a:prstGeom>
            <a:solidFill>
              <a:srgbClr val="9D6C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16" name="Google Shape;816;p27"/>
            <p:cNvGrpSpPr/>
            <p:nvPr/>
          </p:nvGrpSpPr>
          <p:grpSpPr>
            <a:xfrm>
              <a:off x="-9525" y="-9525"/>
              <a:ext cx="1971750" cy="1562175"/>
              <a:chOff x="-9525" y="-9525"/>
              <a:chExt cx="1971750" cy="1562175"/>
            </a:xfrm>
          </p:grpSpPr>
          <p:pic>
            <p:nvPicPr>
              <p:cNvPr id="817" name="Google Shape;817;p2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9525" y="-9525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18" name="Google Shape;818;p2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876425" y="-9525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19" name="Google Shape;819;p2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-9525" y="1466850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20" name="Google Shape;820;p27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1876425" y="1466850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21" name="Google Shape;821;p27"/>
            <p:cNvSpPr/>
            <p:nvPr/>
          </p:nvSpPr>
          <p:spPr>
            <a:xfrm>
              <a:off x="114300" y="152400"/>
              <a:ext cx="76200" cy="76200"/>
            </a:xfrm>
            <a:prstGeom prst="ellipse">
              <a:avLst/>
            </a:prstGeom>
            <a:solidFill>
              <a:srgbClr val="74E7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27"/>
            <p:cNvSpPr txBox="1"/>
            <p:nvPr/>
          </p:nvSpPr>
          <p:spPr>
            <a:xfrm>
              <a:off x="247650" y="76200"/>
              <a:ext cx="16191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FFFF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Palworld Server</a:t>
              </a:r>
              <a:endParaRPr b="0" sz="1050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sp>
          <p:nvSpPr>
            <p:cNvPr id="823" name="Google Shape;823;p27"/>
            <p:cNvSpPr/>
            <p:nvPr/>
          </p:nvSpPr>
          <p:spPr>
            <a:xfrm>
              <a:off x="95250" y="323850"/>
              <a:ext cx="1762200" cy="209700"/>
            </a:xfrm>
            <a:prstGeom prst="roundRect">
              <a:avLst>
                <a:gd fmla="val 13636" name="adj"/>
              </a:avLst>
            </a:prstGeom>
            <a:solidFill>
              <a:srgbClr val="05070F"/>
            </a:solidFill>
            <a:ln cap="flat" cmpd="sng" w="9525">
              <a:solidFill>
                <a:srgbClr val="1A203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27"/>
            <p:cNvSpPr txBox="1"/>
            <p:nvPr/>
          </p:nvSpPr>
          <p:spPr>
            <a:xfrm>
              <a:off x="133350" y="323850"/>
              <a:ext cx="1686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29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thijsvanloef/palworld-server-docker</a:t>
              </a:r>
              <a:endParaRPr b="0" sz="629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sp>
          <p:nvSpPr>
            <p:cNvPr id="825" name="Google Shape;825;p27"/>
            <p:cNvSpPr txBox="1"/>
            <p:nvPr/>
          </p:nvSpPr>
          <p:spPr>
            <a:xfrm>
              <a:off x="114300" y="590550"/>
              <a:ext cx="17241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9D6C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RESOURCE ALLOCATION</a:t>
              </a:r>
              <a:endParaRPr b="0" sz="750">
                <a:solidFill>
                  <a:srgbClr val="9D6C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8GB Memory Limit</a:t>
              </a:r>
              <a:endParaRPr b="0"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87E5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EXPOSED PORTS</a:t>
              </a:r>
              <a:endParaRPr b="0" sz="750">
                <a:solidFill>
                  <a:srgbClr val="87E5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rPr>
                <a:t>Ports 8211-8212/udp</a:t>
              </a:r>
              <a:endParaRPr b="0" sz="800">
                <a:solidFill>
                  <a:srgbClr val="87E5FF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</p:grpSp>
      <p:sp>
        <p:nvSpPr>
          <p:cNvPr id="826" name="Google Shape;826;p27"/>
          <p:cNvSpPr txBox="1"/>
          <p:nvPr/>
        </p:nvSpPr>
        <p:spPr>
          <a:xfrm>
            <a:off x="381000" y="474345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23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rPr>
              <a:t>NIGHT HOURS v2.0 • INFRASTRUCTURE TELEMETRY</a:t>
            </a:r>
            <a:r>
              <a:rPr lang="en" sz="1190"/>
              <a:t> </a:t>
            </a:r>
            <a:r>
              <a:rPr b="0" lang="en" sz="723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rPr>
              <a:t>8 CONTAINER SERVICES ONLINE</a:t>
            </a:r>
            <a:endParaRPr sz="119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0132A">
                  <a:alpha val="89804"/>
                </a:srgbClr>
              </a:gs>
              <a:gs pos="100000">
                <a:srgbClr val="080B18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2" name="Google Shape;83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3" name="Google Shape;833;p28"/>
          <p:cNvGrpSpPr/>
          <p:nvPr/>
        </p:nvGrpSpPr>
        <p:grpSpPr>
          <a:xfrm>
            <a:off x="381000" y="209550"/>
            <a:ext cx="304800" cy="304800"/>
            <a:chOff x="0" y="0"/>
            <a:chExt cx="304800" cy="304800"/>
          </a:xfrm>
        </p:grpSpPr>
        <p:sp>
          <p:nvSpPr>
            <p:cNvPr id="834" name="Google Shape;834;p28"/>
            <p:cNvSpPr/>
            <p:nvPr/>
          </p:nvSpPr>
          <p:spPr>
            <a:xfrm>
              <a:off x="0" y="0"/>
              <a:ext cx="304800" cy="3048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30000"/>
                  </a:lnTo>
                  <a:lnTo>
                    <a:pt x="120000" y="90000"/>
                  </a:lnTo>
                  <a:lnTo>
                    <a:pt x="60000" y="120000"/>
                  </a:lnTo>
                  <a:lnTo>
                    <a:pt x="0" y="90000"/>
                  </a:lnTo>
                  <a:lnTo>
                    <a:pt x="0" y="3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9D6C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28"/>
            <p:cNvSpPr/>
            <p:nvPr/>
          </p:nvSpPr>
          <p:spPr>
            <a:xfrm>
              <a:off x="28575" y="28575"/>
              <a:ext cx="247800" cy="2478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32308"/>
                  </a:lnTo>
                  <a:lnTo>
                    <a:pt x="120000" y="87692"/>
                  </a:lnTo>
                  <a:lnTo>
                    <a:pt x="60000" y="120000"/>
                  </a:lnTo>
                  <a:lnTo>
                    <a:pt x="0" y="87692"/>
                  </a:lnTo>
                  <a:lnTo>
                    <a:pt x="0" y="32308"/>
                  </a:lnTo>
                  <a:close/>
                </a:path>
              </a:pathLst>
            </a:custGeom>
            <a:solidFill>
              <a:srgbClr val="10132A"/>
            </a:solidFill>
            <a:ln cap="flat" cmpd="sng" w="9525">
              <a:solidFill>
                <a:srgbClr val="87E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28"/>
            <p:cNvSpPr/>
            <p:nvPr/>
          </p:nvSpPr>
          <p:spPr>
            <a:xfrm>
              <a:off x="95250" y="114300"/>
              <a:ext cx="114300" cy="762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moveTo>
                    <a:pt x="0" y="0"/>
                  </a:moveTo>
                  <a:lnTo>
                    <a:pt x="60000" y="120000"/>
                  </a:lnTo>
                  <a:moveTo>
                    <a:pt x="60000" y="0"/>
                  </a:moveTo>
                  <a:lnTo>
                    <a:pt x="60000" y="120000"/>
                  </a:lnTo>
                  <a:moveTo>
                    <a:pt x="120000" y="0"/>
                  </a:moveTo>
                  <a:lnTo>
                    <a:pt x="120000" y="120000"/>
                  </a:lnTo>
                  <a:moveTo>
                    <a:pt x="80000" y="60000"/>
                  </a:moveTo>
                  <a:lnTo>
                    <a:pt x="120000" y="6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7" name="Google Shape;837;p28"/>
          <p:cNvSpPr txBox="1"/>
          <p:nvPr/>
        </p:nvSpPr>
        <p:spPr>
          <a:xfrm>
            <a:off x="809625" y="152400"/>
            <a:ext cx="79533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NEW IN V2.0: OBSERVABILITY &amp; MANAGEMENT</a:t>
            </a:r>
            <a:endParaRPr b="1" sz="200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87E5FF"/>
                </a:solidFill>
                <a:latin typeface="Outfit Medium"/>
                <a:ea typeface="Outfit Medium"/>
                <a:cs typeface="Outfit Medium"/>
                <a:sym typeface="Outfit Medium"/>
              </a:rPr>
              <a:t>Observability Stack, Container Management &amp; Interactive CLI Launcher</a:t>
            </a:r>
            <a:endParaRPr b="0" sz="1100">
              <a:solidFill>
                <a:srgbClr val="87E5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838" name="Google Shape;838;p28"/>
          <p:cNvSpPr/>
          <p:nvPr/>
        </p:nvSpPr>
        <p:spPr>
          <a:xfrm>
            <a:off x="381000" y="723900"/>
            <a:ext cx="8382000" cy="19200"/>
          </a:xfrm>
          <a:prstGeom prst="rect">
            <a:avLst/>
          </a:prstGeom>
          <a:gradFill>
            <a:gsLst>
              <a:gs pos="0">
                <a:srgbClr val="87E5FF"/>
              </a:gs>
              <a:gs pos="50000">
                <a:srgbClr val="9D6CFF"/>
              </a:gs>
              <a:gs pos="100000">
                <a:srgbClr val="080B18"/>
              </a:gs>
            </a:gsLst>
            <a:lin ang="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28"/>
          <p:cNvSpPr txBox="1"/>
          <p:nvPr/>
        </p:nvSpPr>
        <p:spPr>
          <a:xfrm>
            <a:off x="381000" y="876300"/>
            <a:ext cx="4048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50">
                <a:solidFill>
                  <a:srgbClr val="87E5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MONITORING &amp; MANAGEMENT INFRASTRUCTURE</a:t>
            </a:r>
            <a:endParaRPr b="0" sz="850">
              <a:solidFill>
                <a:srgbClr val="87E5FF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grpSp>
        <p:nvGrpSpPr>
          <p:cNvPr id="840" name="Google Shape;840;p28"/>
          <p:cNvGrpSpPr/>
          <p:nvPr/>
        </p:nvGrpSpPr>
        <p:grpSpPr>
          <a:xfrm>
            <a:off x="381000" y="1095375"/>
            <a:ext cx="4048200" cy="1095300"/>
            <a:chOff x="0" y="0"/>
            <a:chExt cx="4048200" cy="1095300"/>
          </a:xfrm>
        </p:grpSpPr>
        <p:sp>
          <p:nvSpPr>
            <p:cNvPr id="841" name="Google Shape;841;p28"/>
            <p:cNvSpPr/>
            <p:nvPr/>
          </p:nvSpPr>
          <p:spPr>
            <a:xfrm>
              <a:off x="0" y="0"/>
              <a:ext cx="4048200" cy="1095300"/>
            </a:xfrm>
            <a:prstGeom prst="roundRect">
              <a:avLst>
                <a:gd fmla="val 5217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28"/>
            <p:cNvSpPr/>
            <p:nvPr/>
          </p:nvSpPr>
          <p:spPr>
            <a:xfrm>
              <a:off x="0" y="0"/>
              <a:ext cx="38100" cy="1095300"/>
            </a:xfrm>
            <a:prstGeom prst="roundRect">
              <a:avLst>
                <a:gd fmla="val 50000" name="adj"/>
              </a:avLst>
            </a:prstGeom>
            <a:solidFill>
              <a:srgbClr val="87E5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28"/>
            <p:cNvSpPr txBox="1"/>
            <p:nvPr/>
          </p:nvSpPr>
          <p:spPr>
            <a:xfrm>
              <a:off x="152400" y="95250"/>
              <a:ext cx="37623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18">
                  <a:solidFill>
                    <a:srgbClr val="FFFF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Prometheus </a:t>
              </a:r>
              <a:r>
                <a:rPr b="0" lang="en" sz="74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rPr>
                <a:t>prom/prometheus (:9090)</a:t>
              </a:r>
              <a:endParaRPr b="0" sz="1018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33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15-second scrape interval (</a:t>
              </a:r>
              <a:r>
                <a:rPr b="0" lang="en" sz="74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monitoring/prometheus.yml</a:t>
              </a:r>
              <a:r>
                <a:rPr b="0" lang="en" sz="833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)</a:t>
              </a:r>
              <a:endParaRPr b="0" sz="833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786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Metrics collected from:</a:t>
              </a:r>
              <a:endParaRPr b="0" sz="786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74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• prometheus:9090</a:t>
              </a:r>
              <a:endParaRPr b="0" sz="74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75"/>
                </a:spcBef>
                <a:spcAft>
                  <a:spcPts val="0"/>
                </a:spcAft>
                <a:buNone/>
              </a:pPr>
              <a:r>
                <a:rPr b="0" lang="en" sz="74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• Docker daemon (host.docker.internal:9323)</a:t>
              </a:r>
              <a:endParaRPr b="0" sz="74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75"/>
                </a:spcBef>
                <a:spcAft>
                  <a:spcPts val="0"/>
                </a:spcAft>
                <a:buNone/>
              </a:pPr>
              <a:r>
                <a:rPr b="0" lang="en" sz="74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• All 7 game servers telemetry ports</a:t>
              </a:r>
              <a:endParaRPr b="0" sz="74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</p:grpSp>
      <p:grpSp>
        <p:nvGrpSpPr>
          <p:cNvPr id="844" name="Google Shape;844;p28"/>
          <p:cNvGrpSpPr/>
          <p:nvPr/>
        </p:nvGrpSpPr>
        <p:grpSpPr>
          <a:xfrm>
            <a:off x="381000" y="2286000"/>
            <a:ext cx="4048200" cy="1000200"/>
            <a:chOff x="0" y="0"/>
            <a:chExt cx="4048200" cy="1000200"/>
          </a:xfrm>
        </p:grpSpPr>
        <p:sp>
          <p:nvSpPr>
            <p:cNvPr id="845" name="Google Shape;845;p28"/>
            <p:cNvSpPr/>
            <p:nvPr/>
          </p:nvSpPr>
          <p:spPr>
            <a:xfrm>
              <a:off x="0" y="0"/>
              <a:ext cx="4048200" cy="1000200"/>
            </a:xfrm>
            <a:prstGeom prst="roundRect">
              <a:avLst>
                <a:gd fmla="val 5714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28"/>
            <p:cNvSpPr/>
            <p:nvPr/>
          </p:nvSpPr>
          <p:spPr>
            <a:xfrm>
              <a:off x="0" y="0"/>
              <a:ext cx="38100" cy="1000200"/>
            </a:xfrm>
            <a:prstGeom prst="roundRect">
              <a:avLst>
                <a:gd fmla="val 50000" name="adj"/>
              </a:avLst>
            </a:prstGeom>
            <a:solidFill>
              <a:srgbClr val="9D6C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28"/>
            <p:cNvSpPr txBox="1"/>
            <p:nvPr/>
          </p:nvSpPr>
          <p:spPr>
            <a:xfrm>
              <a:off x="152400" y="95250"/>
              <a:ext cx="37623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Grafana </a:t>
              </a:r>
              <a:r>
                <a:rPr b="0" lang="en" sz="800">
                  <a:solidFill>
                    <a:srgbClr val="9D6CFF"/>
                  </a:solidFill>
                  <a:latin typeface="DM Mono"/>
                  <a:ea typeface="DM Mono"/>
                  <a:cs typeface="DM Mono"/>
                  <a:sym typeface="DM Mono"/>
                </a:rPr>
                <a:t>grafana/grafana (:3002 / :3001)</a:t>
              </a:r>
              <a:endParaRPr b="0" sz="1100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Pre-provisioned datasource (</a:t>
              </a:r>
              <a:r>
                <a:rPr b="0" lang="en" sz="80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monitoring/grafana-datasources.yml</a:t>
              </a:r>
              <a:r>
                <a:rPr b="0" lang="en" sz="9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)</a:t>
              </a:r>
              <a:endParaRPr b="0" sz="9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Real-time dashboards for server CPU, memory, and player telemetry analytics.</a:t>
              </a:r>
              <a:endParaRPr b="0" sz="85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848" name="Google Shape;848;p28"/>
          <p:cNvGrpSpPr/>
          <p:nvPr/>
        </p:nvGrpSpPr>
        <p:grpSpPr>
          <a:xfrm>
            <a:off x="381000" y="3381375"/>
            <a:ext cx="4048200" cy="952500"/>
            <a:chOff x="0" y="0"/>
            <a:chExt cx="4048200" cy="952500"/>
          </a:xfrm>
        </p:grpSpPr>
        <p:sp>
          <p:nvSpPr>
            <p:cNvPr id="849" name="Google Shape;849;p28"/>
            <p:cNvSpPr/>
            <p:nvPr/>
          </p:nvSpPr>
          <p:spPr>
            <a:xfrm>
              <a:off x="0" y="0"/>
              <a:ext cx="4048200" cy="952500"/>
            </a:xfrm>
            <a:prstGeom prst="roundRect">
              <a:avLst>
                <a:gd fmla="val 6000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28"/>
            <p:cNvSpPr/>
            <p:nvPr/>
          </p:nvSpPr>
          <p:spPr>
            <a:xfrm>
              <a:off x="0" y="0"/>
              <a:ext cx="38100" cy="952500"/>
            </a:xfrm>
            <a:prstGeom prst="roundRect">
              <a:avLst>
                <a:gd fmla="val 50000" name="adj"/>
              </a:avLst>
            </a:prstGeom>
            <a:solidFill>
              <a:srgbClr val="74E7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28"/>
            <p:cNvSpPr txBox="1"/>
            <p:nvPr/>
          </p:nvSpPr>
          <p:spPr>
            <a:xfrm>
              <a:off x="152400" y="95250"/>
              <a:ext cx="37623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Portainer CE </a:t>
              </a:r>
              <a:r>
                <a:rPr b="0" lang="en" sz="80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portainer/portainer-ce (:9000)</a:t>
              </a:r>
              <a:endParaRPr b="0" sz="1100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Web GUI for full Docker container lifecycle management.</a:t>
              </a:r>
              <a:endParaRPr b="0" sz="9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Provides instant volume inspection, container controls, and live log stream monitoring.</a:t>
              </a:r>
              <a:endParaRPr b="0" sz="85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852" name="Google Shape;852;p28"/>
          <p:cNvSpPr txBox="1"/>
          <p:nvPr/>
        </p:nvSpPr>
        <p:spPr>
          <a:xfrm>
            <a:off x="4714875" y="876300"/>
            <a:ext cx="4048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50">
                <a:solidFill>
                  <a:srgbClr val="F3C96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INTERACTIVE BASH LAUNCHER</a:t>
            </a:r>
            <a:endParaRPr b="0" sz="850">
              <a:solidFill>
                <a:srgbClr val="F3C96D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grpSp>
        <p:nvGrpSpPr>
          <p:cNvPr id="853" name="Google Shape;853;p28"/>
          <p:cNvGrpSpPr/>
          <p:nvPr/>
        </p:nvGrpSpPr>
        <p:grpSpPr>
          <a:xfrm>
            <a:off x="4714875" y="1095375"/>
            <a:ext cx="4048200" cy="2190900"/>
            <a:chOff x="0" y="0"/>
            <a:chExt cx="4048200" cy="2190900"/>
          </a:xfrm>
        </p:grpSpPr>
        <p:sp>
          <p:nvSpPr>
            <p:cNvPr id="854" name="Google Shape;854;p28"/>
            <p:cNvSpPr/>
            <p:nvPr/>
          </p:nvSpPr>
          <p:spPr>
            <a:xfrm>
              <a:off x="0" y="0"/>
              <a:ext cx="4048200" cy="2190900"/>
            </a:xfrm>
            <a:prstGeom prst="roundRect">
              <a:avLst>
                <a:gd fmla="val 2608" name="adj"/>
              </a:avLst>
            </a:prstGeom>
            <a:solidFill>
              <a:srgbClr val="05070F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28"/>
            <p:cNvSpPr/>
            <p:nvPr/>
          </p:nvSpPr>
          <p:spPr>
            <a:xfrm>
              <a:off x="0" y="0"/>
              <a:ext cx="4048200" cy="228600"/>
            </a:xfrm>
            <a:prstGeom prst="roundRect">
              <a:avLst>
                <a:gd fmla="val 25000" name="adj"/>
              </a:avLst>
            </a:prstGeom>
            <a:solidFill>
              <a:srgbClr val="1013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28"/>
            <p:cNvSpPr/>
            <p:nvPr/>
          </p:nvSpPr>
          <p:spPr>
            <a:xfrm>
              <a:off x="100013" y="80963"/>
              <a:ext cx="66600" cy="666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28"/>
            <p:cNvSpPr/>
            <p:nvPr/>
          </p:nvSpPr>
          <p:spPr>
            <a:xfrm>
              <a:off x="214313" y="80963"/>
              <a:ext cx="66600" cy="666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28"/>
            <p:cNvSpPr/>
            <p:nvPr/>
          </p:nvSpPr>
          <p:spPr>
            <a:xfrm>
              <a:off x="328613" y="80963"/>
              <a:ext cx="66600" cy="666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28"/>
            <p:cNvSpPr txBox="1"/>
            <p:nvPr/>
          </p:nvSpPr>
          <p:spPr>
            <a:xfrm>
              <a:off x="523875" y="28575"/>
              <a:ext cx="33339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A0AEC0"/>
                  </a:solidFill>
                  <a:latin typeface="DM Mono"/>
                  <a:ea typeface="DM Mono"/>
                  <a:cs typeface="DM Mono"/>
                  <a:sym typeface="DM Mono"/>
                </a:rPr>
                <a:t>start-game-servers.sh — bash interactive cli</a:t>
              </a:r>
              <a:endParaRPr b="0" sz="8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sp>
          <p:nvSpPr>
            <p:cNvPr id="860" name="Google Shape;860;p28"/>
            <p:cNvSpPr txBox="1"/>
            <p:nvPr/>
          </p:nvSpPr>
          <p:spPr>
            <a:xfrm>
              <a:off x="133350" y="304800"/>
              <a:ext cx="37815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rPr>
                <a:t>$ ./start-game-servers.sh</a:t>
              </a:r>
              <a:endParaRPr b="0" sz="850">
                <a:solidFill>
                  <a:srgbClr val="87E5FF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[✓] Verifying Docker daemon status...</a:t>
              </a:r>
              <a:endParaRPr b="0" sz="80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A0AEC0"/>
                  </a:solidFill>
                  <a:latin typeface="DM Mono"/>
                  <a:ea typeface="DM Mono"/>
                  <a:cs typeface="DM Mono"/>
                  <a:sym typeface="DM Mono"/>
                </a:rPr>
                <a:t>[+] Auto-creating persistent data directories:</a:t>
              </a:r>
              <a:endParaRPr b="0" sz="8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1143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9D6CFF"/>
                  </a:solidFill>
                  <a:latin typeface="DM Mono"/>
                  <a:ea typeface="DM Mono"/>
                  <a:cs typeface="DM Mono"/>
                  <a:sym typeface="DM Mono"/>
                </a:rPr>
                <a:t>game-servers/*, monitoring/*, portainer</a:t>
              </a:r>
              <a:endParaRPr b="0" sz="750">
                <a:solidFill>
                  <a:srgbClr val="9D6CFF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[✓] Loading environment config (.env.gameservers)</a:t>
              </a:r>
              <a:endParaRPr b="0" sz="80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F3C96D"/>
                  </a:solidFill>
                  <a:latin typeface="DM Mono"/>
                  <a:ea typeface="DM Mono"/>
                  <a:cs typeface="DM Mono"/>
                  <a:sym typeface="DM Mono"/>
                </a:rPr>
                <a:t>--- Interactive CLI Menu (11 Options Available) ---</a:t>
              </a:r>
              <a:endParaRPr b="0" sz="800">
                <a:solidFill>
                  <a:srgbClr val="F3C96D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A0AEC0"/>
                  </a:solidFill>
                  <a:latin typeface="DM Mono"/>
                  <a:ea typeface="DM Mono"/>
                  <a:cs typeface="DM Mono"/>
                  <a:sym typeface="DM Mono"/>
                </a:rPr>
                <a:t>1) Start / Stop individual game servers</a:t>
              </a:r>
              <a:endParaRPr b="0" sz="75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75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A0AEC0"/>
                  </a:solidFill>
                  <a:latin typeface="DM Mono"/>
                  <a:ea typeface="DM Mono"/>
                  <a:cs typeface="DM Mono"/>
                  <a:sym typeface="DM Mono"/>
                </a:rPr>
                <a:t>2) Tail container logs in real time</a:t>
              </a:r>
              <a:endParaRPr b="0" sz="75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75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A0AEC0"/>
                  </a:solidFill>
                  <a:latin typeface="DM Mono"/>
                  <a:ea typeface="DM Mono"/>
                  <a:cs typeface="DM Mono"/>
                  <a:sym typeface="DM Mono"/>
                </a:rPr>
                <a:t>3) Launch full observability monitoring stack</a:t>
              </a:r>
              <a:endParaRPr b="0" sz="75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</p:grpSp>
      <p:grpSp>
        <p:nvGrpSpPr>
          <p:cNvPr id="861" name="Google Shape;861;p28"/>
          <p:cNvGrpSpPr/>
          <p:nvPr/>
        </p:nvGrpSpPr>
        <p:grpSpPr>
          <a:xfrm>
            <a:off x="4714875" y="3381375"/>
            <a:ext cx="4048200" cy="952500"/>
            <a:chOff x="0" y="0"/>
            <a:chExt cx="4048200" cy="952500"/>
          </a:xfrm>
        </p:grpSpPr>
        <p:sp>
          <p:nvSpPr>
            <p:cNvPr id="862" name="Google Shape;862;p28"/>
            <p:cNvSpPr/>
            <p:nvPr/>
          </p:nvSpPr>
          <p:spPr>
            <a:xfrm>
              <a:off x="0" y="0"/>
              <a:ext cx="4048200" cy="952500"/>
            </a:xfrm>
            <a:prstGeom prst="roundRect">
              <a:avLst>
                <a:gd fmla="val 6000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28"/>
            <p:cNvSpPr/>
            <p:nvPr/>
          </p:nvSpPr>
          <p:spPr>
            <a:xfrm>
              <a:off x="0" y="0"/>
              <a:ext cx="4048200" cy="28500"/>
            </a:xfrm>
            <a:prstGeom prst="roundRect">
              <a:avLst>
                <a:gd fmla="val 50000" name="adj"/>
              </a:avLst>
            </a:prstGeom>
            <a:solidFill>
              <a:srgbClr val="F3C96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28"/>
            <p:cNvSpPr txBox="1"/>
            <p:nvPr/>
          </p:nvSpPr>
          <p:spPr>
            <a:xfrm>
              <a:off x="133350" y="95250"/>
              <a:ext cx="378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F3C96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7 MONITORED GAME SERVERS &amp; TELEMETRY PORTS</a:t>
              </a:r>
              <a:endParaRPr b="0" sz="850">
                <a:solidFill>
                  <a:srgbClr val="F3C96D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87E5FF"/>
                  </a:solidFill>
                  <a:highlight>
                    <a:srgbClr val="05070F"/>
                  </a:highlight>
                  <a:latin typeface="DM Mono"/>
                  <a:ea typeface="DM Mono"/>
                  <a:cs typeface="DM Mono"/>
                  <a:sym typeface="DM Mono"/>
                </a:rPr>
                <a:t>valheim </a:t>
              </a:r>
              <a:r>
                <a:rPr lang="en" sz="800">
                  <a:solidFill>
                    <a:srgbClr val="74E7A8"/>
                  </a:solidFill>
                  <a:highlight>
                    <a:srgbClr val="05070F"/>
                  </a:highlight>
                  <a:latin typeface="DM Mono"/>
                  <a:ea typeface="DM Mono"/>
                  <a:cs typeface="DM Mono"/>
                  <a:sym typeface="DM Mono"/>
                </a:rPr>
                <a:t>:2457</a:t>
              </a:r>
              <a:r>
                <a:rPr lang="en"/>
                <a:t> </a:t>
              </a:r>
              <a:r>
                <a:rPr lang="en" sz="800">
                  <a:solidFill>
                    <a:srgbClr val="87E5FF"/>
                  </a:solidFill>
                  <a:highlight>
                    <a:srgbClr val="05070F"/>
                  </a:highlight>
                  <a:latin typeface="DM Mono"/>
                  <a:ea typeface="DM Mono"/>
                  <a:cs typeface="DM Mono"/>
                  <a:sym typeface="DM Mono"/>
                </a:rPr>
                <a:t>minecraft </a:t>
              </a:r>
              <a:r>
                <a:rPr lang="en" sz="800">
                  <a:solidFill>
                    <a:srgbClr val="74E7A8"/>
                  </a:solidFill>
                  <a:highlight>
                    <a:srgbClr val="05070F"/>
                  </a:highlight>
                  <a:latin typeface="DM Mono"/>
                  <a:ea typeface="DM Mono"/>
                  <a:cs typeface="DM Mono"/>
                  <a:sym typeface="DM Mono"/>
                </a:rPr>
                <a:t>:25575</a:t>
              </a:r>
              <a:r>
                <a:rPr lang="en"/>
                <a:t> </a:t>
              </a:r>
              <a:r>
                <a:rPr lang="en" sz="800">
                  <a:solidFill>
                    <a:srgbClr val="87E5FF"/>
                  </a:solidFill>
                  <a:highlight>
                    <a:srgbClr val="05070F"/>
                  </a:highlight>
                  <a:latin typeface="DM Mono"/>
                  <a:ea typeface="DM Mono"/>
                  <a:cs typeface="DM Mono"/>
                  <a:sym typeface="DM Mono"/>
                </a:rPr>
                <a:t>terraria </a:t>
              </a:r>
              <a:r>
                <a:rPr lang="en" sz="800">
                  <a:solidFill>
                    <a:srgbClr val="74E7A8"/>
                  </a:solidFill>
                  <a:highlight>
                    <a:srgbClr val="05070F"/>
                  </a:highlight>
                  <a:latin typeface="DM Mono"/>
                  <a:ea typeface="DM Mono"/>
                  <a:cs typeface="DM Mono"/>
                  <a:sym typeface="DM Mono"/>
                </a:rPr>
                <a:t>:7777</a:t>
              </a:r>
              <a:r>
                <a:rPr lang="en"/>
                <a:t> </a:t>
              </a:r>
              <a:r>
                <a:rPr lang="en" sz="800">
                  <a:solidFill>
                    <a:srgbClr val="87E5FF"/>
                  </a:solidFill>
                  <a:highlight>
                    <a:srgbClr val="05070F"/>
                  </a:highlight>
                  <a:latin typeface="DM Mono"/>
                  <a:ea typeface="DM Mono"/>
                  <a:cs typeface="DM Mono"/>
                  <a:sym typeface="DM Mono"/>
                </a:rPr>
                <a:t>7dtd </a:t>
              </a:r>
              <a:r>
                <a:rPr lang="en" sz="800">
                  <a:solidFill>
                    <a:srgbClr val="74E7A8"/>
                  </a:solidFill>
                  <a:highlight>
                    <a:srgbClr val="05070F"/>
                  </a:highlight>
                  <a:latin typeface="DM Mono"/>
                  <a:ea typeface="DM Mono"/>
                  <a:cs typeface="DM Mono"/>
                  <a:sym typeface="DM Mono"/>
                </a:rPr>
                <a:t>:8081</a:t>
              </a:r>
              <a:r>
                <a:rPr lang="en"/>
                <a:t> </a:t>
              </a:r>
              <a:r>
                <a:rPr lang="en" sz="800">
                  <a:solidFill>
                    <a:srgbClr val="87E5FF"/>
                  </a:solidFill>
                  <a:highlight>
                    <a:srgbClr val="05070F"/>
                  </a:highlight>
                  <a:latin typeface="DM Mono"/>
                  <a:ea typeface="DM Mono"/>
                  <a:cs typeface="DM Mono"/>
                  <a:sym typeface="DM Mono"/>
                </a:rPr>
                <a:t>cs2 </a:t>
              </a:r>
              <a:r>
                <a:rPr lang="en" sz="800">
                  <a:solidFill>
                    <a:srgbClr val="74E7A8"/>
                  </a:solidFill>
                  <a:highlight>
                    <a:srgbClr val="05070F"/>
                  </a:highlight>
                  <a:latin typeface="DM Mono"/>
                  <a:ea typeface="DM Mono"/>
                  <a:cs typeface="DM Mono"/>
                  <a:sym typeface="DM Mono"/>
                </a:rPr>
                <a:t>:27020</a:t>
              </a:r>
              <a:r>
                <a:rPr lang="en"/>
                <a:t> </a:t>
              </a:r>
              <a:r>
                <a:rPr lang="en" sz="800">
                  <a:solidFill>
                    <a:srgbClr val="87E5FF"/>
                  </a:solidFill>
                  <a:highlight>
                    <a:srgbClr val="05070F"/>
                  </a:highlight>
                  <a:latin typeface="DM Mono"/>
                  <a:ea typeface="DM Mono"/>
                  <a:cs typeface="DM Mono"/>
                  <a:sym typeface="DM Mono"/>
                </a:rPr>
                <a:t>tf2 </a:t>
              </a:r>
              <a:r>
                <a:rPr lang="en" sz="800">
                  <a:solidFill>
                    <a:srgbClr val="74E7A8"/>
                  </a:solidFill>
                  <a:highlight>
                    <a:srgbClr val="05070F"/>
                  </a:highlight>
                  <a:latin typeface="DM Mono"/>
                  <a:ea typeface="DM Mono"/>
                  <a:cs typeface="DM Mono"/>
                  <a:sym typeface="DM Mono"/>
                </a:rPr>
                <a:t>:27020</a:t>
              </a:r>
              <a:r>
                <a:rPr lang="en"/>
                <a:t> </a:t>
              </a:r>
              <a:r>
                <a:rPr lang="en" sz="800">
                  <a:solidFill>
                    <a:srgbClr val="87E5FF"/>
                  </a:solidFill>
                  <a:highlight>
                    <a:srgbClr val="05070F"/>
                  </a:highlight>
                  <a:latin typeface="DM Mono"/>
                  <a:ea typeface="DM Mono"/>
                  <a:cs typeface="DM Mono"/>
                  <a:sym typeface="DM Mono"/>
                </a:rPr>
                <a:t>palworld </a:t>
              </a:r>
              <a:r>
                <a:rPr lang="en" sz="800">
                  <a:solidFill>
                    <a:srgbClr val="74E7A8"/>
                  </a:solidFill>
                  <a:highlight>
                    <a:srgbClr val="05070F"/>
                  </a:highlight>
                  <a:latin typeface="DM Mono"/>
                  <a:ea typeface="DM Mono"/>
                  <a:cs typeface="DM Mono"/>
                  <a:sym typeface="DM Mono"/>
                </a:rPr>
                <a:t>:8212</a:t>
              </a:r>
              <a:endParaRPr/>
            </a:p>
          </p:txBody>
        </p:sp>
      </p:grpSp>
      <p:sp>
        <p:nvSpPr>
          <p:cNvPr id="865" name="Google Shape;865;p28"/>
          <p:cNvSpPr/>
          <p:nvPr/>
        </p:nvSpPr>
        <p:spPr>
          <a:xfrm>
            <a:off x="381000" y="4524375"/>
            <a:ext cx="8382000" cy="9600"/>
          </a:xfrm>
          <a:prstGeom prst="rect">
            <a:avLst/>
          </a:prstGeom>
          <a:solidFill>
            <a:srgbClr val="2A305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28"/>
          <p:cNvSpPr txBox="1"/>
          <p:nvPr/>
        </p:nvSpPr>
        <p:spPr>
          <a:xfrm>
            <a:off x="381000" y="464820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68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rPr>
              <a:t>NIGHT HOURS v2.0 INFRASTRUCTURE &amp; OBSERVABILITY</a:t>
            </a:r>
            <a:r>
              <a:rPr lang="en" sz="1190"/>
              <a:t> </a:t>
            </a:r>
            <a:r>
              <a:rPr b="0" lang="en" sz="68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rPr>
              <a:t>monitoring/ &amp; docker-compose.yml</a:t>
            </a:r>
            <a:endParaRPr sz="119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0132A">
                  <a:alpha val="80000"/>
                </a:srgbClr>
              </a:gs>
              <a:gs pos="100000">
                <a:srgbClr val="080B18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2" name="Google Shape;87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3" name="Google Shape;873;p29"/>
          <p:cNvGrpSpPr/>
          <p:nvPr/>
        </p:nvGrpSpPr>
        <p:grpSpPr>
          <a:xfrm>
            <a:off x="381000" y="285750"/>
            <a:ext cx="381000" cy="381000"/>
            <a:chOff x="0" y="0"/>
            <a:chExt cx="381000" cy="381000"/>
          </a:xfrm>
        </p:grpSpPr>
        <p:sp>
          <p:nvSpPr>
            <p:cNvPr id="874" name="Google Shape;874;p29"/>
            <p:cNvSpPr/>
            <p:nvPr/>
          </p:nvSpPr>
          <p:spPr>
            <a:xfrm>
              <a:off x="0" y="0"/>
              <a:ext cx="381000" cy="3810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30000"/>
                  </a:lnTo>
                  <a:lnTo>
                    <a:pt x="120000" y="90000"/>
                  </a:lnTo>
                  <a:lnTo>
                    <a:pt x="60000" y="120000"/>
                  </a:lnTo>
                  <a:lnTo>
                    <a:pt x="0" y="90000"/>
                  </a:lnTo>
                  <a:lnTo>
                    <a:pt x="0" y="3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9D6C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29"/>
            <p:cNvSpPr/>
            <p:nvPr/>
          </p:nvSpPr>
          <p:spPr>
            <a:xfrm>
              <a:off x="38100" y="38100"/>
              <a:ext cx="304800" cy="3048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30000"/>
                  </a:lnTo>
                  <a:lnTo>
                    <a:pt x="120000" y="90000"/>
                  </a:lnTo>
                  <a:lnTo>
                    <a:pt x="60000" y="120000"/>
                  </a:lnTo>
                  <a:lnTo>
                    <a:pt x="0" y="90000"/>
                  </a:lnTo>
                  <a:lnTo>
                    <a:pt x="0" y="30000"/>
                  </a:lnTo>
                  <a:close/>
                </a:path>
              </a:pathLst>
            </a:custGeom>
            <a:solidFill>
              <a:srgbClr val="10132A"/>
            </a:solidFill>
            <a:ln cap="flat" cmpd="sng" w="9525">
              <a:solidFill>
                <a:srgbClr val="87E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29"/>
            <p:cNvSpPr/>
            <p:nvPr/>
          </p:nvSpPr>
          <p:spPr>
            <a:xfrm>
              <a:off x="114300" y="142875"/>
              <a:ext cx="152400" cy="95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moveTo>
                    <a:pt x="0" y="0"/>
                  </a:moveTo>
                  <a:lnTo>
                    <a:pt x="60000" y="120000"/>
                  </a:lnTo>
                  <a:moveTo>
                    <a:pt x="60000" y="0"/>
                  </a:moveTo>
                  <a:lnTo>
                    <a:pt x="60000" y="120000"/>
                  </a:lnTo>
                  <a:moveTo>
                    <a:pt x="120000" y="0"/>
                  </a:moveTo>
                  <a:lnTo>
                    <a:pt x="120000" y="120000"/>
                  </a:lnTo>
                  <a:moveTo>
                    <a:pt x="82500" y="60000"/>
                  </a:moveTo>
                  <a:lnTo>
                    <a:pt x="120000" y="6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7" name="Google Shape;877;p29"/>
          <p:cNvGrpSpPr/>
          <p:nvPr/>
        </p:nvGrpSpPr>
        <p:grpSpPr>
          <a:xfrm>
            <a:off x="952500" y="390525"/>
            <a:ext cx="981225" cy="133500"/>
            <a:chOff x="0" y="-9525"/>
            <a:chExt cx="981225" cy="133500"/>
          </a:xfrm>
        </p:grpSpPr>
        <p:pic>
          <p:nvPicPr>
            <p:cNvPr id="878" name="Google Shape;878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-9525"/>
              <a:ext cx="952500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9" name="Google Shape;879;p29"/>
            <p:cNvSpPr/>
            <p:nvPr/>
          </p:nvSpPr>
          <p:spPr>
            <a:xfrm>
              <a:off x="923925" y="66675"/>
              <a:ext cx="57300" cy="57300"/>
            </a:xfrm>
            <a:prstGeom prst="ellipse">
              <a:avLst/>
            </a:prstGeom>
            <a:solidFill>
              <a:srgbClr val="87E5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29"/>
            <p:cNvSpPr/>
            <p:nvPr/>
          </p:nvSpPr>
          <p:spPr>
            <a:xfrm>
              <a:off x="476250" y="57150"/>
              <a:ext cx="142800" cy="19200"/>
            </a:xfrm>
            <a:prstGeom prst="rect">
              <a:avLst/>
            </a:prstGeom>
            <a:solidFill>
              <a:srgbClr val="74E7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1" name="Google Shape;881;p29"/>
          <p:cNvSpPr txBox="1"/>
          <p:nvPr/>
        </p:nvSpPr>
        <p:spPr>
          <a:xfrm>
            <a:off x="952500" y="238125"/>
            <a:ext cx="78105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Player Profile &amp; Gamification</a:t>
            </a:r>
            <a:endParaRPr b="1" sz="260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87E5FF"/>
                </a:solidFill>
                <a:latin typeface="Outfit Medium"/>
                <a:ea typeface="Outfit Medium"/>
                <a:cs typeface="Outfit Medium"/>
                <a:sym typeface="Outfit Medium"/>
              </a:rPr>
              <a:t>Server-Verified Achievement System &amp; Activity Feed</a:t>
            </a:r>
            <a:endParaRPr b="0" sz="1400">
              <a:solidFill>
                <a:srgbClr val="87E5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882" name="Google Shape;882;p29"/>
          <p:cNvSpPr/>
          <p:nvPr/>
        </p:nvSpPr>
        <p:spPr>
          <a:xfrm>
            <a:off x="381000" y="1095375"/>
            <a:ext cx="8382000" cy="19200"/>
          </a:xfrm>
          <a:prstGeom prst="rect">
            <a:avLst/>
          </a:prstGeom>
          <a:gradFill>
            <a:gsLst>
              <a:gs pos="0">
                <a:srgbClr val="87E5FF"/>
              </a:gs>
              <a:gs pos="50000">
                <a:srgbClr val="9D6CFF"/>
              </a:gs>
              <a:gs pos="100000">
                <a:srgbClr val="080B18"/>
              </a:gs>
            </a:gsLst>
            <a:lin ang="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3" name="Google Shape;883;p29"/>
          <p:cNvGrpSpPr/>
          <p:nvPr/>
        </p:nvGrpSpPr>
        <p:grpSpPr>
          <a:xfrm>
            <a:off x="371475" y="1228725"/>
            <a:ext cx="3914925" cy="3343125"/>
            <a:chOff x="-9525" y="-9525"/>
            <a:chExt cx="3914925" cy="3343125"/>
          </a:xfrm>
        </p:grpSpPr>
        <p:sp>
          <p:nvSpPr>
            <p:cNvPr id="884" name="Google Shape;884;p29"/>
            <p:cNvSpPr/>
            <p:nvPr/>
          </p:nvSpPr>
          <p:spPr>
            <a:xfrm>
              <a:off x="0" y="0"/>
              <a:ext cx="3905400" cy="1571700"/>
            </a:xfrm>
            <a:prstGeom prst="roundRect">
              <a:avLst>
                <a:gd fmla="val 3636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29"/>
            <p:cNvSpPr/>
            <p:nvPr/>
          </p:nvSpPr>
          <p:spPr>
            <a:xfrm>
              <a:off x="0" y="0"/>
              <a:ext cx="3905400" cy="28500"/>
            </a:xfrm>
            <a:prstGeom prst="roundRect">
              <a:avLst>
                <a:gd fmla="val 33333" name="adj"/>
              </a:avLst>
            </a:prstGeom>
            <a:solidFill>
              <a:srgbClr val="9D6C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86" name="Google Shape;886;p2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9525" y="-9525"/>
              <a:ext cx="85800" cy="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7" name="Google Shape;887;p29"/>
            <p:cNvSpPr txBox="1"/>
            <p:nvPr/>
          </p:nvSpPr>
          <p:spPr>
            <a:xfrm>
              <a:off x="171450" y="133350"/>
              <a:ext cx="3562200" cy="13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9D6C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EDITABLE PLAYER IDENTITY</a:t>
              </a:r>
              <a:endParaRPr b="0" sz="900">
                <a:solidFill>
                  <a:srgbClr val="9D6C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rPr>
                <a:t>/profile — src/pages/Profile.jsx</a:t>
              </a:r>
              <a:endParaRPr b="0" sz="850">
                <a:solidFill>
                  <a:srgbClr val="87E5FF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12 Selectable Cosmic Emoji Avatars:</a:t>
              </a:r>
              <a:endParaRPr b="0" sz="95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200"/>
                <a:t>🌙 ⭐ 🎮 ⚡ 🚀 🧩 🌟 💫 🎯 🏆 🧠 👑</a:t>
              </a:r>
              <a:endParaRPr sz="1200"/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• Custom display name (up to 20 chars)</a:t>
              </a:r>
              <a:endParaRPr b="0" sz="95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• "Member since" timestamp persisted to backend DB</a:t>
              </a:r>
              <a:endParaRPr b="0" sz="95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grpSp>
          <p:nvGrpSpPr>
            <p:cNvPr id="888" name="Google Shape;888;p29"/>
            <p:cNvGrpSpPr/>
            <p:nvPr/>
          </p:nvGrpSpPr>
          <p:grpSpPr>
            <a:xfrm>
              <a:off x="-9525" y="1704975"/>
              <a:ext cx="3914925" cy="1628625"/>
              <a:chOff x="-9525" y="-9525"/>
              <a:chExt cx="3914925" cy="1628625"/>
            </a:xfrm>
          </p:grpSpPr>
          <p:sp>
            <p:nvSpPr>
              <p:cNvPr id="889" name="Google Shape;889;p29"/>
              <p:cNvSpPr/>
              <p:nvPr/>
            </p:nvSpPr>
            <p:spPr>
              <a:xfrm>
                <a:off x="0" y="0"/>
                <a:ext cx="3905400" cy="1619100"/>
              </a:xfrm>
              <a:prstGeom prst="roundRect">
                <a:avLst>
                  <a:gd fmla="val 3529" name="adj"/>
                </a:avLst>
              </a:prstGeom>
              <a:solidFill>
                <a:srgbClr val="10132A"/>
              </a:solidFill>
              <a:ln cap="flat" cmpd="sng" w="9525">
                <a:solidFill>
                  <a:srgbClr val="2A305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" name="Google Shape;890;p29"/>
              <p:cNvSpPr/>
              <p:nvPr/>
            </p:nvSpPr>
            <p:spPr>
              <a:xfrm>
                <a:off x="0" y="0"/>
                <a:ext cx="3905400" cy="28500"/>
              </a:xfrm>
              <a:prstGeom prst="roundRect">
                <a:avLst>
                  <a:gd fmla="val 33333" name="adj"/>
                </a:avLst>
              </a:prstGeom>
              <a:solidFill>
                <a:srgbClr val="74E7A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891" name="Google Shape;891;p2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-9525" y="-9525"/>
                <a:ext cx="858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92" name="Google Shape;892;p29"/>
              <p:cNvSpPr txBox="1"/>
              <p:nvPr/>
            </p:nvSpPr>
            <p:spPr>
              <a:xfrm>
                <a:off x="171450" y="133350"/>
                <a:ext cx="3562200" cy="135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74E7A8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ACTIVITY FEED &amp; LEADERBOARDS</a:t>
                </a:r>
                <a:endParaRPr b="0" sz="900">
                  <a:solidFill>
                    <a:srgbClr val="74E7A8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74E7A8"/>
                    </a:solidFill>
                    <a:latin typeface="DM Mono"/>
                    <a:ea typeface="DM Mono"/>
                    <a:cs typeface="DM Mono"/>
                    <a:sym typeface="DM Mono"/>
                  </a:rPr>
                  <a:t>GET /api/stats/leaderboard/:gameKey</a:t>
                </a:r>
                <a:endParaRPr b="0" sz="8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FFFFFF"/>
                    </a:solidFill>
                    <a:latin typeface="Outfit"/>
                    <a:ea typeface="Outfit"/>
                    <a:cs typeface="Outfit"/>
                    <a:sym typeface="Outfit"/>
                  </a:rPr>
                  <a:t>Global Score &amp; High-Score Aggregation:</a:t>
                </a:r>
                <a:endParaRPr b="0" sz="95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A0AEC0"/>
                    </a:solidFill>
                    <a:latin typeface="Outfit"/>
                    <a:ea typeface="Outfit"/>
                    <a:cs typeface="Outfit"/>
                    <a:sym typeface="Outfit"/>
                  </a:rPr>
                  <a:t>• Aggregates &amp; sorts latest high-score runs across games</a:t>
                </a:r>
                <a:endParaRPr b="0" sz="9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A0AEC0"/>
                    </a:solidFill>
                    <a:latin typeface="Outfit"/>
                    <a:ea typeface="Outfit"/>
                    <a:cs typeface="Outfit"/>
                    <a:sym typeface="Outfit"/>
                  </a:rPr>
                  <a:t>• Tracks date stamps, points, and active streaks</a:t>
                </a:r>
                <a:endParaRPr b="0" sz="9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A0AEC0"/>
                    </a:solidFill>
                    <a:latin typeface="Outfit"/>
                    <a:ea typeface="Outfit"/>
                    <a:cs typeface="Outfit"/>
                    <a:sym typeface="Outfit"/>
                  </a:rPr>
                  <a:t>• Endpoint ranks top global players per game category</a:t>
                </a:r>
                <a:endParaRPr b="0" sz="9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</p:grpSp>
      <p:grpSp>
        <p:nvGrpSpPr>
          <p:cNvPr id="893" name="Google Shape;893;p29"/>
          <p:cNvGrpSpPr/>
          <p:nvPr/>
        </p:nvGrpSpPr>
        <p:grpSpPr>
          <a:xfrm>
            <a:off x="4572000" y="1238250"/>
            <a:ext cx="4191150" cy="3333900"/>
            <a:chOff x="0" y="0"/>
            <a:chExt cx="4191150" cy="3333900"/>
          </a:xfrm>
        </p:grpSpPr>
        <p:sp>
          <p:nvSpPr>
            <p:cNvPr id="894" name="Google Shape;894;p29"/>
            <p:cNvSpPr/>
            <p:nvPr/>
          </p:nvSpPr>
          <p:spPr>
            <a:xfrm>
              <a:off x="0" y="0"/>
              <a:ext cx="4191000" cy="400200"/>
            </a:xfrm>
            <a:prstGeom prst="roundRect">
              <a:avLst>
                <a:gd fmla="val 9523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29"/>
            <p:cNvSpPr/>
            <p:nvPr/>
          </p:nvSpPr>
          <p:spPr>
            <a:xfrm>
              <a:off x="0" y="0"/>
              <a:ext cx="38100" cy="400200"/>
            </a:xfrm>
            <a:prstGeom prst="rect">
              <a:avLst/>
            </a:prstGeom>
            <a:solidFill>
              <a:srgbClr val="F3C96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29"/>
            <p:cNvSpPr txBox="1"/>
            <p:nvPr/>
          </p:nvSpPr>
          <p:spPr>
            <a:xfrm>
              <a:off x="152400" y="47625"/>
              <a:ext cx="3905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F3C96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6 SERVER-VERIFIED ACHIEVEMENTS</a:t>
              </a:r>
              <a:endParaRPr b="0" sz="950">
                <a:solidFill>
                  <a:srgbClr val="F3C96D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A0AEC0"/>
                  </a:solidFill>
                  <a:latin typeface="DM Mono"/>
                  <a:ea typeface="DM Mono"/>
                  <a:cs typeface="DM Mono"/>
                  <a:sym typeface="DM Mono"/>
                </a:rPr>
                <a:t>checkAndAwardBadges in stats.js + badges-updated event</a:t>
              </a:r>
              <a:endParaRPr b="0" sz="8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grpSp>
          <p:nvGrpSpPr>
            <p:cNvPr id="897" name="Google Shape;897;p29"/>
            <p:cNvGrpSpPr/>
            <p:nvPr/>
          </p:nvGrpSpPr>
          <p:grpSpPr>
            <a:xfrm>
              <a:off x="0" y="495300"/>
              <a:ext cx="1276500" cy="1352700"/>
              <a:chOff x="0" y="0"/>
              <a:chExt cx="1276500" cy="1352700"/>
            </a:xfrm>
          </p:grpSpPr>
          <p:sp>
            <p:nvSpPr>
              <p:cNvPr id="898" name="Google Shape;898;p29"/>
              <p:cNvSpPr/>
              <p:nvPr/>
            </p:nvSpPr>
            <p:spPr>
              <a:xfrm>
                <a:off x="0" y="0"/>
                <a:ext cx="1276500" cy="1352700"/>
              </a:xfrm>
              <a:prstGeom prst="roundRect">
                <a:avLst>
                  <a:gd fmla="val 4477" name="adj"/>
                </a:avLst>
              </a:prstGeom>
              <a:solidFill>
                <a:srgbClr val="10132A"/>
              </a:solidFill>
              <a:ln cap="flat" cmpd="sng" w="9525">
                <a:solidFill>
                  <a:srgbClr val="2A305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9" name="Google Shape;899;p29"/>
              <p:cNvSpPr/>
              <p:nvPr/>
            </p:nvSpPr>
            <p:spPr>
              <a:xfrm>
                <a:off x="0" y="0"/>
                <a:ext cx="1276500" cy="28500"/>
              </a:xfrm>
              <a:prstGeom prst="roundRect">
                <a:avLst>
                  <a:gd fmla="val 33333" name="adj"/>
                </a:avLst>
              </a:prstGeom>
              <a:solidFill>
                <a:srgbClr val="F3C96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0" name="Google Shape;900;p29"/>
              <p:cNvSpPr/>
              <p:nvPr/>
            </p:nvSpPr>
            <p:spPr>
              <a:xfrm>
                <a:off x="428625" y="219075"/>
                <a:ext cx="419100" cy="419100"/>
              </a:xfrm>
              <a:prstGeom prst="ellipse">
                <a:avLst/>
              </a:prstGeom>
              <a:solidFill>
                <a:srgbClr val="080B18"/>
              </a:solidFill>
              <a:ln cap="flat" cmpd="sng" w="14300">
                <a:solidFill>
                  <a:srgbClr val="F3C96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1" name="Google Shape;901;p29"/>
              <p:cNvSpPr txBox="1"/>
              <p:nvPr/>
            </p:nvSpPr>
            <p:spPr>
              <a:xfrm>
                <a:off x="400050" y="238125"/>
                <a:ext cx="476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🎖️</a:t>
                </a:r>
                <a:endParaRPr sz="1800"/>
              </a:p>
            </p:txBody>
          </p:sp>
          <p:sp>
            <p:nvSpPr>
              <p:cNvPr id="902" name="Google Shape;902;p29"/>
              <p:cNvSpPr txBox="1"/>
              <p:nvPr/>
            </p:nvSpPr>
            <p:spPr>
              <a:xfrm>
                <a:off x="76200" y="704850"/>
                <a:ext cx="11241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F3C96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VETERAN</a:t>
                </a:r>
                <a:endParaRPr b="0" sz="850">
                  <a:solidFill>
                    <a:srgbClr val="F3C96D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A0AEC0"/>
                    </a:solidFill>
                    <a:latin typeface="Outfit"/>
                    <a:ea typeface="Outfit"/>
                    <a:cs typeface="Outfit"/>
                    <a:sym typeface="Outfit"/>
                  </a:rPr>
                  <a:t>Play 10 games</a:t>
                </a:r>
                <a:endParaRPr b="0" sz="8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grpSp>
          <p:nvGrpSpPr>
            <p:cNvPr id="903" name="Google Shape;903;p29"/>
            <p:cNvGrpSpPr/>
            <p:nvPr/>
          </p:nvGrpSpPr>
          <p:grpSpPr>
            <a:xfrm>
              <a:off x="1457325" y="495300"/>
              <a:ext cx="1276500" cy="1352700"/>
              <a:chOff x="0" y="0"/>
              <a:chExt cx="1276500" cy="1352700"/>
            </a:xfrm>
          </p:grpSpPr>
          <p:sp>
            <p:nvSpPr>
              <p:cNvPr id="904" name="Google Shape;904;p29"/>
              <p:cNvSpPr/>
              <p:nvPr/>
            </p:nvSpPr>
            <p:spPr>
              <a:xfrm>
                <a:off x="0" y="0"/>
                <a:ext cx="1276500" cy="1352700"/>
              </a:xfrm>
              <a:prstGeom prst="roundRect">
                <a:avLst>
                  <a:gd fmla="val 4477" name="adj"/>
                </a:avLst>
              </a:prstGeom>
              <a:solidFill>
                <a:srgbClr val="10132A"/>
              </a:solidFill>
              <a:ln cap="flat" cmpd="sng" w="9525">
                <a:solidFill>
                  <a:srgbClr val="2A305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5" name="Google Shape;905;p29"/>
              <p:cNvSpPr/>
              <p:nvPr/>
            </p:nvSpPr>
            <p:spPr>
              <a:xfrm>
                <a:off x="0" y="0"/>
                <a:ext cx="1276500" cy="28500"/>
              </a:xfrm>
              <a:prstGeom prst="roundRect">
                <a:avLst>
                  <a:gd fmla="val 33333" name="adj"/>
                </a:avLst>
              </a:prstGeom>
              <a:solidFill>
                <a:srgbClr val="F3C96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6" name="Google Shape;906;p29"/>
              <p:cNvSpPr/>
              <p:nvPr/>
            </p:nvSpPr>
            <p:spPr>
              <a:xfrm>
                <a:off x="428625" y="219075"/>
                <a:ext cx="419100" cy="419100"/>
              </a:xfrm>
              <a:prstGeom prst="ellipse">
                <a:avLst/>
              </a:prstGeom>
              <a:solidFill>
                <a:srgbClr val="080B18"/>
              </a:solidFill>
              <a:ln cap="flat" cmpd="sng" w="14300">
                <a:solidFill>
                  <a:srgbClr val="F3C96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7" name="Google Shape;907;p29"/>
              <p:cNvSpPr txBox="1"/>
              <p:nvPr/>
            </p:nvSpPr>
            <p:spPr>
              <a:xfrm>
                <a:off x="400050" y="238125"/>
                <a:ext cx="476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🏅</a:t>
                </a:r>
                <a:endParaRPr sz="1800"/>
              </a:p>
            </p:txBody>
          </p:sp>
          <p:sp>
            <p:nvSpPr>
              <p:cNvPr id="908" name="Google Shape;908;p29"/>
              <p:cNvSpPr txBox="1"/>
              <p:nvPr/>
            </p:nvSpPr>
            <p:spPr>
              <a:xfrm>
                <a:off x="76200" y="704850"/>
                <a:ext cx="11241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F3C96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LEGEND</a:t>
                </a:r>
                <a:endParaRPr b="0" sz="850">
                  <a:solidFill>
                    <a:srgbClr val="F3C96D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A0AEC0"/>
                    </a:solidFill>
                    <a:latin typeface="Outfit"/>
                    <a:ea typeface="Outfit"/>
                    <a:cs typeface="Outfit"/>
                    <a:sym typeface="Outfit"/>
                  </a:rPr>
                  <a:t>Play 50 games</a:t>
                </a:r>
                <a:endParaRPr b="0" sz="8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grpSp>
          <p:nvGrpSpPr>
            <p:cNvPr id="909" name="Google Shape;909;p29"/>
            <p:cNvGrpSpPr/>
            <p:nvPr/>
          </p:nvGrpSpPr>
          <p:grpSpPr>
            <a:xfrm>
              <a:off x="2914650" y="495300"/>
              <a:ext cx="1276500" cy="1352700"/>
              <a:chOff x="0" y="0"/>
              <a:chExt cx="1276500" cy="1352700"/>
            </a:xfrm>
          </p:grpSpPr>
          <p:sp>
            <p:nvSpPr>
              <p:cNvPr id="910" name="Google Shape;910;p29"/>
              <p:cNvSpPr/>
              <p:nvPr/>
            </p:nvSpPr>
            <p:spPr>
              <a:xfrm>
                <a:off x="0" y="0"/>
                <a:ext cx="1276500" cy="1352700"/>
              </a:xfrm>
              <a:prstGeom prst="roundRect">
                <a:avLst>
                  <a:gd fmla="val 4477" name="adj"/>
                </a:avLst>
              </a:prstGeom>
              <a:solidFill>
                <a:srgbClr val="10132A"/>
              </a:solidFill>
              <a:ln cap="flat" cmpd="sng" w="9525">
                <a:solidFill>
                  <a:srgbClr val="2A305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1" name="Google Shape;911;p29"/>
              <p:cNvSpPr/>
              <p:nvPr/>
            </p:nvSpPr>
            <p:spPr>
              <a:xfrm>
                <a:off x="0" y="0"/>
                <a:ext cx="1276500" cy="28500"/>
              </a:xfrm>
              <a:prstGeom prst="roundRect">
                <a:avLst>
                  <a:gd fmla="val 33333" name="adj"/>
                </a:avLst>
              </a:prstGeom>
              <a:solidFill>
                <a:srgbClr val="F3C96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2" name="Google Shape;912;p29"/>
              <p:cNvSpPr/>
              <p:nvPr/>
            </p:nvSpPr>
            <p:spPr>
              <a:xfrm>
                <a:off x="428625" y="219075"/>
                <a:ext cx="419100" cy="419100"/>
              </a:xfrm>
              <a:prstGeom prst="ellipse">
                <a:avLst/>
              </a:prstGeom>
              <a:solidFill>
                <a:srgbClr val="080B18"/>
              </a:solidFill>
              <a:ln cap="flat" cmpd="sng" w="14300">
                <a:solidFill>
                  <a:srgbClr val="F3C96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3" name="Google Shape;913;p29"/>
              <p:cNvSpPr txBox="1"/>
              <p:nvPr/>
            </p:nvSpPr>
            <p:spPr>
              <a:xfrm>
                <a:off x="400050" y="238125"/>
                <a:ext cx="476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💯</a:t>
                </a:r>
                <a:endParaRPr sz="1800"/>
              </a:p>
            </p:txBody>
          </p:sp>
          <p:sp>
            <p:nvSpPr>
              <p:cNvPr id="914" name="Google Shape;914;p29"/>
              <p:cNvSpPr txBox="1"/>
              <p:nvPr/>
            </p:nvSpPr>
            <p:spPr>
              <a:xfrm>
                <a:off x="76200" y="704850"/>
                <a:ext cx="11241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F3C96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SCORER</a:t>
                </a:r>
                <a:endParaRPr b="0" sz="850">
                  <a:solidFill>
                    <a:srgbClr val="F3C96D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A0AEC0"/>
                    </a:solidFill>
                    <a:latin typeface="Outfit"/>
                    <a:ea typeface="Outfit"/>
                    <a:cs typeface="Outfit"/>
                    <a:sym typeface="Outfit"/>
                  </a:rPr>
                  <a:t>Earn 1,000 total score</a:t>
                </a:r>
                <a:endParaRPr b="0" sz="8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grpSp>
          <p:nvGrpSpPr>
            <p:cNvPr id="915" name="Google Shape;915;p29"/>
            <p:cNvGrpSpPr/>
            <p:nvPr/>
          </p:nvGrpSpPr>
          <p:grpSpPr>
            <a:xfrm>
              <a:off x="0" y="1981200"/>
              <a:ext cx="1276500" cy="1352700"/>
              <a:chOff x="0" y="0"/>
              <a:chExt cx="1276500" cy="1352700"/>
            </a:xfrm>
          </p:grpSpPr>
          <p:sp>
            <p:nvSpPr>
              <p:cNvPr id="916" name="Google Shape;916;p29"/>
              <p:cNvSpPr/>
              <p:nvPr/>
            </p:nvSpPr>
            <p:spPr>
              <a:xfrm>
                <a:off x="0" y="0"/>
                <a:ext cx="1276500" cy="1352700"/>
              </a:xfrm>
              <a:prstGeom prst="roundRect">
                <a:avLst>
                  <a:gd fmla="val 4477" name="adj"/>
                </a:avLst>
              </a:prstGeom>
              <a:solidFill>
                <a:srgbClr val="10132A"/>
              </a:solidFill>
              <a:ln cap="flat" cmpd="sng" w="9525">
                <a:solidFill>
                  <a:srgbClr val="2A305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7" name="Google Shape;917;p29"/>
              <p:cNvSpPr/>
              <p:nvPr/>
            </p:nvSpPr>
            <p:spPr>
              <a:xfrm>
                <a:off x="0" y="0"/>
                <a:ext cx="1276500" cy="28500"/>
              </a:xfrm>
              <a:prstGeom prst="roundRect">
                <a:avLst>
                  <a:gd fmla="val 33333" name="adj"/>
                </a:avLst>
              </a:prstGeom>
              <a:solidFill>
                <a:srgbClr val="F3C96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8" name="Google Shape;918;p29"/>
              <p:cNvSpPr/>
              <p:nvPr/>
            </p:nvSpPr>
            <p:spPr>
              <a:xfrm>
                <a:off x="428625" y="219075"/>
                <a:ext cx="419100" cy="419100"/>
              </a:xfrm>
              <a:prstGeom prst="ellipse">
                <a:avLst/>
              </a:prstGeom>
              <a:solidFill>
                <a:srgbClr val="080B18"/>
              </a:solidFill>
              <a:ln cap="flat" cmpd="sng" w="14300">
                <a:solidFill>
                  <a:srgbClr val="F3C96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9" name="Google Shape;919;p29"/>
              <p:cNvSpPr txBox="1"/>
              <p:nvPr/>
            </p:nvSpPr>
            <p:spPr>
              <a:xfrm>
                <a:off x="400050" y="238125"/>
                <a:ext cx="476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🏆</a:t>
                </a:r>
                <a:endParaRPr sz="1800"/>
              </a:p>
            </p:txBody>
          </p:sp>
          <p:sp>
            <p:nvSpPr>
              <p:cNvPr id="920" name="Google Shape;920;p29"/>
              <p:cNvSpPr txBox="1"/>
              <p:nvPr/>
            </p:nvSpPr>
            <p:spPr>
              <a:xfrm>
                <a:off x="76200" y="704850"/>
                <a:ext cx="11241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F3C96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MASTER</a:t>
                </a:r>
                <a:endParaRPr b="0" sz="850">
                  <a:solidFill>
                    <a:srgbClr val="F3C96D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A0AEC0"/>
                    </a:solidFill>
                    <a:latin typeface="Outfit"/>
                    <a:ea typeface="Outfit"/>
                    <a:cs typeface="Outfit"/>
                    <a:sym typeface="Outfit"/>
                  </a:rPr>
                  <a:t>Earn 5,000 total score</a:t>
                </a:r>
                <a:endParaRPr b="0" sz="8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grpSp>
          <p:nvGrpSpPr>
            <p:cNvPr id="921" name="Google Shape;921;p29"/>
            <p:cNvGrpSpPr/>
            <p:nvPr/>
          </p:nvGrpSpPr>
          <p:grpSpPr>
            <a:xfrm>
              <a:off x="1457325" y="1981200"/>
              <a:ext cx="1276500" cy="1352700"/>
              <a:chOff x="0" y="0"/>
              <a:chExt cx="1276500" cy="1352700"/>
            </a:xfrm>
          </p:grpSpPr>
          <p:sp>
            <p:nvSpPr>
              <p:cNvPr id="922" name="Google Shape;922;p29"/>
              <p:cNvSpPr/>
              <p:nvPr/>
            </p:nvSpPr>
            <p:spPr>
              <a:xfrm>
                <a:off x="0" y="0"/>
                <a:ext cx="1276500" cy="1352700"/>
              </a:xfrm>
              <a:prstGeom prst="roundRect">
                <a:avLst>
                  <a:gd fmla="val 4477" name="adj"/>
                </a:avLst>
              </a:prstGeom>
              <a:solidFill>
                <a:srgbClr val="10132A"/>
              </a:solidFill>
              <a:ln cap="flat" cmpd="sng" w="9525">
                <a:solidFill>
                  <a:srgbClr val="2A305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3" name="Google Shape;923;p29"/>
              <p:cNvSpPr/>
              <p:nvPr/>
            </p:nvSpPr>
            <p:spPr>
              <a:xfrm>
                <a:off x="0" y="0"/>
                <a:ext cx="1276500" cy="28500"/>
              </a:xfrm>
              <a:prstGeom prst="roundRect">
                <a:avLst>
                  <a:gd fmla="val 33333" name="adj"/>
                </a:avLst>
              </a:prstGeom>
              <a:solidFill>
                <a:srgbClr val="F3C96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4" name="Google Shape;924;p29"/>
              <p:cNvSpPr/>
              <p:nvPr/>
            </p:nvSpPr>
            <p:spPr>
              <a:xfrm>
                <a:off x="428625" y="219075"/>
                <a:ext cx="419100" cy="419100"/>
              </a:xfrm>
              <a:prstGeom prst="ellipse">
                <a:avLst/>
              </a:prstGeom>
              <a:solidFill>
                <a:srgbClr val="080B18"/>
              </a:solidFill>
              <a:ln cap="flat" cmpd="sng" w="14300">
                <a:solidFill>
                  <a:srgbClr val="F3C96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5" name="Google Shape;925;p29"/>
              <p:cNvSpPr txBox="1"/>
              <p:nvPr/>
            </p:nvSpPr>
            <p:spPr>
              <a:xfrm>
                <a:off x="400050" y="238125"/>
                <a:ext cx="476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🔥</a:t>
                </a:r>
                <a:endParaRPr sz="1800"/>
              </a:p>
            </p:txBody>
          </p:sp>
          <p:sp>
            <p:nvSpPr>
              <p:cNvPr id="926" name="Google Shape;926;p29"/>
              <p:cNvSpPr txBox="1"/>
              <p:nvPr/>
            </p:nvSpPr>
            <p:spPr>
              <a:xfrm>
                <a:off x="76200" y="704850"/>
                <a:ext cx="11241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F3C96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STREAKER</a:t>
                </a:r>
                <a:endParaRPr b="0" sz="850">
                  <a:solidFill>
                    <a:srgbClr val="F3C96D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A0AEC0"/>
                    </a:solidFill>
                    <a:latin typeface="Outfit"/>
                    <a:ea typeface="Outfit"/>
                    <a:cs typeface="Outfit"/>
                    <a:sym typeface="Outfit"/>
                  </a:rPr>
                  <a:t>10+ streak in any game</a:t>
                </a:r>
                <a:endParaRPr b="0" sz="8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grpSp>
          <p:nvGrpSpPr>
            <p:cNvPr id="927" name="Google Shape;927;p29"/>
            <p:cNvGrpSpPr/>
            <p:nvPr/>
          </p:nvGrpSpPr>
          <p:grpSpPr>
            <a:xfrm>
              <a:off x="2914650" y="1981200"/>
              <a:ext cx="1276500" cy="1352700"/>
              <a:chOff x="0" y="0"/>
              <a:chExt cx="1276500" cy="1352700"/>
            </a:xfrm>
          </p:grpSpPr>
          <p:sp>
            <p:nvSpPr>
              <p:cNvPr id="928" name="Google Shape;928;p29"/>
              <p:cNvSpPr/>
              <p:nvPr/>
            </p:nvSpPr>
            <p:spPr>
              <a:xfrm>
                <a:off x="0" y="0"/>
                <a:ext cx="1276500" cy="1352700"/>
              </a:xfrm>
              <a:prstGeom prst="roundRect">
                <a:avLst>
                  <a:gd fmla="val 4477" name="adj"/>
                </a:avLst>
              </a:prstGeom>
              <a:solidFill>
                <a:srgbClr val="10132A"/>
              </a:solidFill>
              <a:ln cap="flat" cmpd="sng" w="9525">
                <a:solidFill>
                  <a:srgbClr val="2A305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9" name="Google Shape;929;p29"/>
              <p:cNvSpPr/>
              <p:nvPr/>
            </p:nvSpPr>
            <p:spPr>
              <a:xfrm>
                <a:off x="0" y="0"/>
                <a:ext cx="1276500" cy="28500"/>
              </a:xfrm>
              <a:prstGeom prst="roundRect">
                <a:avLst>
                  <a:gd fmla="val 33333" name="adj"/>
                </a:avLst>
              </a:prstGeom>
              <a:solidFill>
                <a:srgbClr val="F3C96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0" name="Google Shape;930;p29"/>
              <p:cNvSpPr/>
              <p:nvPr/>
            </p:nvSpPr>
            <p:spPr>
              <a:xfrm>
                <a:off x="428625" y="219075"/>
                <a:ext cx="419100" cy="419100"/>
              </a:xfrm>
              <a:prstGeom prst="ellipse">
                <a:avLst/>
              </a:prstGeom>
              <a:solidFill>
                <a:srgbClr val="080B18"/>
              </a:solidFill>
              <a:ln cap="flat" cmpd="sng" w="14300">
                <a:solidFill>
                  <a:srgbClr val="F3C96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1" name="Google Shape;931;p29"/>
              <p:cNvSpPr txBox="1"/>
              <p:nvPr/>
            </p:nvSpPr>
            <p:spPr>
              <a:xfrm>
                <a:off x="400050" y="238125"/>
                <a:ext cx="476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✨</a:t>
                </a:r>
                <a:endParaRPr sz="1800"/>
              </a:p>
            </p:txBody>
          </p:sp>
          <p:sp>
            <p:nvSpPr>
              <p:cNvPr id="932" name="Google Shape;932;p29"/>
              <p:cNvSpPr txBox="1"/>
              <p:nvPr/>
            </p:nvSpPr>
            <p:spPr>
              <a:xfrm>
                <a:off x="76200" y="704850"/>
                <a:ext cx="11241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F3C96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COMPLETIONIST</a:t>
                </a:r>
                <a:endParaRPr b="0" sz="850">
                  <a:solidFill>
                    <a:srgbClr val="F3C96D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A0AEC0"/>
                    </a:solidFill>
                    <a:latin typeface="Outfit"/>
                    <a:ea typeface="Outfit"/>
                    <a:cs typeface="Outfit"/>
                    <a:sym typeface="Outfit"/>
                  </a:rPr>
                  <a:t>Play all 5 core categories</a:t>
                </a:r>
                <a:endParaRPr b="0" sz="8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</p:grpSp>
      <p:sp>
        <p:nvSpPr>
          <p:cNvPr id="933" name="Google Shape;933;p29"/>
          <p:cNvSpPr txBox="1"/>
          <p:nvPr/>
        </p:nvSpPr>
        <p:spPr>
          <a:xfrm>
            <a:off x="381000" y="478155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5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rPr>
              <a:t>NIGHT HOURS v2.0 ARCHITECTURE</a:t>
            </a:r>
            <a:endParaRPr b="0" sz="850">
              <a:solidFill>
                <a:srgbClr val="A0AEC0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934" name="Google Shape;934;p29"/>
          <p:cNvSpPr txBox="1"/>
          <p:nvPr/>
        </p:nvSpPr>
        <p:spPr>
          <a:xfrm>
            <a:off x="4953000" y="478155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5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rPr>
              <a:t>STATISTICS &amp; GAMIFICATION</a:t>
            </a:r>
            <a:endParaRPr b="0" sz="850">
              <a:solidFill>
                <a:srgbClr val="A0AEC0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3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0132A">
                  <a:alpha val="80000"/>
                </a:srgbClr>
              </a:gs>
              <a:gs pos="100000">
                <a:srgbClr val="080B18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0" name="Google Shape;94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1" name="Google Shape;941;p30"/>
          <p:cNvGrpSpPr/>
          <p:nvPr/>
        </p:nvGrpSpPr>
        <p:grpSpPr>
          <a:xfrm>
            <a:off x="381000" y="190500"/>
            <a:ext cx="8382000" cy="800250"/>
            <a:chOff x="381000" y="190500"/>
            <a:chExt cx="8382000" cy="800250"/>
          </a:xfrm>
        </p:grpSpPr>
        <p:grpSp>
          <p:nvGrpSpPr>
            <p:cNvPr id="942" name="Google Shape;942;p30"/>
            <p:cNvGrpSpPr/>
            <p:nvPr/>
          </p:nvGrpSpPr>
          <p:grpSpPr>
            <a:xfrm>
              <a:off x="381000" y="228600"/>
              <a:ext cx="342900" cy="342900"/>
              <a:chOff x="0" y="0"/>
              <a:chExt cx="342900" cy="342900"/>
            </a:xfrm>
          </p:grpSpPr>
          <p:sp>
            <p:nvSpPr>
              <p:cNvPr id="943" name="Google Shape;943;p30"/>
              <p:cNvSpPr/>
              <p:nvPr/>
            </p:nvSpPr>
            <p:spPr>
              <a:xfrm>
                <a:off x="0" y="0"/>
                <a:ext cx="342900" cy="3429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lnTo>
                      <a:pt x="120000" y="30000"/>
                    </a:lnTo>
                    <a:lnTo>
                      <a:pt x="120000" y="90000"/>
                    </a:lnTo>
                    <a:lnTo>
                      <a:pt x="60000" y="120000"/>
                    </a:lnTo>
                    <a:lnTo>
                      <a:pt x="0" y="90000"/>
                    </a:lnTo>
                    <a:lnTo>
                      <a:pt x="0" y="300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9D6C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4" name="Google Shape;944;p30"/>
              <p:cNvSpPr/>
              <p:nvPr/>
            </p:nvSpPr>
            <p:spPr>
              <a:xfrm>
                <a:off x="38100" y="28575"/>
                <a:ext cx="266700" cy="2763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lnTo>
                      <a:pt x="120000" y="28966"/>
                    </a:lnTo>
                    <a:lnTo>
                      <a:pt x="120000" y="91034"/>
                    </a:lnTo>
                    <a:lnTo>
                      <a:pt x="60000" y="120000"/>
                    </a:lnTo>
                    <a:lnTo>
                      <a:pt x="0" y="91034"/>
                    </a:lnTo>
                    <a:lnTo>
                      <a:pt x="0" y="28966"/>
                    </a:lnTo>
                    <a:close/>
                  </a:path>
                </a:pathLst>
              </a:custGeom>
              <a:solidFill>
                <a:srgbClr val="10132A"/>
              </a:solidFill>
              <a:ln cap="flat" cmpd="sng" w="9525">
                <a:solidFill>
                  <a:srgbClr val="87E5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5" name="Google Shape;945;p30"/>
              <p:cNvSpPr/>
              <p:nvPr/>
            </p:nvSpPr>
            <p:spPr>
              <a:xfrm>
                <a:off x="104775" y="123825"/>
                <a:ext cx="133500" cy="858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120000"/>
                    </a:lnTo>
                    <a:moveTo>
                      <a:pt x="0" y="0"/>
                    </a:moveTo>
                    <a:lnTo>
                      <a:pt x="60000" y="120000"/>
                    </a:lnTo>
                    <a:moveTo>
                      <a:pt x="60000" y="0"/>
                    </a:moveTo>
                    <a:lnTo>
                      <a:pt x="60000" y="120000"/>
                    </a:lnTo>
                    <a:moveTo>
                      <a:pt x="120000" y="0"/>
                    </a:moveTo>
                    <a:lnTo>
                      <a:pt x="120000" y="120000"/>
                    </a:lnTo>
                    <a:moveTo>
                      <a:pt x="85714" y="53333"/>
                    </a:moveTo>
                    <a:lnTo>
                      <a:pt x="120000" y="53333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46" name="Google Shape;946;p30"/>
            <p:cNvSpPr txBox="1"/>
            <p:nvPr/>
          </p:nvSpPr>
          <p:spPr>
            <a:xfrm>
              <a:off x="876300" y="190500"/>
              <a:ext cx="7810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DESIGN SYSTEM &amp; STRUCTURE EVOLUTION</a:t>
              </a:r>
              <a:endParaRPr b="1" sz="20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87E5FF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Global CSS Specifications, ARIA Live Regions &amp; Directory Layout (v1.0 vs v2.0)</a:t>
              </a:r>
              <a:endParaRPr b="0" sz="1300">
                <a:solidFill>
                  <a:srgbClr val="87E5FF"/>
                </a:solidFill>
                <a:latin typeface="Outfit Medium"/>
                <a:ea typeface="Outfit Medium"/>
                <a:cs typeface="Outfit Medium"/>
                <a:sym typeface="Outfit Medium"/>
              </a:endParaRPr>
            </a:p>
          </p:txBody>
        </p:sp>
        <p:pic>
          <p:nvPicPr>
            <p:cNvPr id="947" name="Google Shape;947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429500" y="257175"/>
              <a:ext cx="952500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8" name="Google Shape;948;p30"/>
            <p:cNvSpPr/>
            <p:nvPr/>
          </p:nvSpPr>
          <p:spPr>
            <a:xfrm>
              <a:off x="8353425" y="333375"/>
              <a:ext cx="57300" cy="57300"/>
            </a:xfrm>
            <a:prstGeom prst="ellipse">
              <a:avLst/>
            </a:prstGeom>
            <a:solidFill>
              <a:srgbClr val="87E5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30"/>
            <p:cNvSpPr/>
            <p:nvPr/>
          </p:nvSpPr>
          <p:spPr>
            <a:xfrm>
              <a:off x="7905750" y="323850"/>
              <a:ext cx="142800" cy="19200"/>
            </a:xfrm>
            <a:prstGeom prst="rect">
              <a:avLst/>
            </a:prstGeom>
            <a:solidFill>
              <a:srgbClr val="74E7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30"/>
            <p:cNvSpPr/>
            <p:nvPr/>
          </p:nvSpPr>
          <p:spPr>
            <a:xfrm>
              <a:off x="381000" y="971550"/>
              <a:ext cx="8382000" cy="19200"/>
            </a:xfrm>
            <a:prstGeom prst="rect">
              <a:avLst/>
            </a:prstGeom>
            <a:gradFill>
              <a:gsLst>
                <a:gs pos="0">
                  <a:srgbClr val="87E5FF"/>
                </a:gs>
                <a:gs pos="50000">
                  <a:srgbClr val="9D6CFF"/>
                </a:gs>
                <a:gs pos="100000">
                  <a:srgbClr val="080B1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1" name="Google Shape;951;p30"/>
          <p:cNvGrpSpPr/>
          <p:nvPr/>
        </p:nvGrpSpPr>
        <p:grpSpPr>
          <a:xfrm>
            <a:off x="371475" y="1114425"/>
            <a:ext cx="2590725" cy="3543225"/>
            <a:chOff x="-9525" y="-9525"/>
            <a:chExt cx="2590725" cy="3543225"/>
          </a:xfrm>
        </p:grpSpPr>
        <p:sp>
          <p:nvSpPr>
            <p:cNvPr id="952" name="Google Shape;952;p30"/>
            <p:cNvSpPr/>
            <p:nvPr/>
          </p:nvSpPr>
          <p:spPr>
            <a:xfrm>
              <a:off x="0" y="0"/>
              <a:ext cx="2571900" cy="3524400"/>
            </a:xfrm>
            <a:prstGeom prst="roundRect">
              <a:avLst>
                <a:gd fmla="val 2222" name="adj"/>
              </a:avLst>
            </a:prstGeom>
            <a:solidFill>
              <a:srgbClr val="10132A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30"/>
            <p:cNvSpPr/>
            <p:nvPr/>
          </p:nvSpPr>
          <p:spPr>
            <a:xfrm>
              <a:off x="0" y="0"/>
              <a:ext cx="2571900" cy="38100"/>
            </a:xfrm>
            <a:prstGeom prst="roundRect">
              <a:avLst>
                <a:gd fmla="val 50000" name="adj"/>
              </a:avLst>
            </a:prstGeom>
            <a:solidFill>
              <a:srgbClr val="9D6C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54" name="Google Shape;954;p3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9525" y="-9525"/>
              <a:ext cx="142800" cy="14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5" name="Google Shape;955;p3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438400" y="-9525"/>
              <a:ext cx="142800" cy="14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6" name="Google Shape;956;p3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-9525" y="3390900"/>
              <a:ext cx="142800" cy="14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7" name="Google Shape;957;p3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438400" y="3390900"/>
              <a:ext cx="142800" cy="142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8" name="Google Shape;958;p30"/>
            <p:cNvSpPr txBox="1"/>
            <p:nvPr/>
          </p:nvSpPr>
          <p:spPr>
            <a:xfrm>
              <a:off x="152400" y="133350"/>
              <a:ext cx="2267100" cy="325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9D6C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GLOBAL STYLES</a:t>
              </a:r>
              <a:endParaRPr b="0" sz="850">
                <a:solidFill>
                  <a:srgbClr val="9D6C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FFFF"/>
                  </a:solidFill>
                  <a:latin typeface="DM Mono"/>
                  <a:ea typeface="DM Mono"/>
                  <a:cs typeface="DM Mono"/>
                  <a:sym typeface="DM Mono"/>
                </a:rPr>
                <a:t>src/styles/global.css</a:t>
              </a:r>
              <a:endParaRPr b="1" sz="1000">
                <a:solidFill>
                  <a:srgbClr val="FFFFFF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87E5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Cosmic Color Palette</a:t>
              </a:r>
              <a:endParaRPr b="0" sz="850">
                <a:solidFill>
                  <a:srgbClr val="87E5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A0AEC0"/>
                  </a:solidFill>
                  <a:latin typeface="DM Mono"/>
                  <a:ea typeface="DM Mono"/>
                  <a:cs typeface="DM Mono"/>
                  <a:sym typeface="DM Mono"/>
                </a:rPr>
                <a:t>--bg: #080b18 (Dark Base)</a:t>
              </a:r>
              <a:endParaRPr b="0" sz="85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A0AEC0"/>
                  </a:solidFill>
                  <a:latin typeface="DM Mono"/>
                  <a:ea typeface="DM Mono"/>
                  <a:cs typeface="DM Mono"/>
                  <a:sym typeface="DM Mono"/>
                </a:rPr>
                <a:t>--card: #10132a (Indigo)</a:t>
              </a:r>
              <a:endParaRPr b="0" sz="85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9D6CFF"/>
                  </a:solidFill>
                  <a:latin typeface="DM Mono"/>
                  <a:ea typeface="DM Mono"/>
                  <a:cs typeface="DM Mono"/>
                  <a:sym typeface="DM Mono"/>
                </a:rPr>
                <a:t>--accent-purple: #9d6cff</a:t>
              </a:r>
              <a:endParaRPr b="0" sz="850">
                <a:solidFill>
                  <a:srgbClr val="9D6CFF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rPr>
                <a:t>--accent-cyan: #87e5ff</a:t>
              </a:r>
              <a:endParaRPr b="0" sz="850">
                <a:solidFill>
                  <a:srgbClr val="87E5FF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--accent-green: #74e7a8</a:t>
              </a:r>
              <a:endParaRPr b="0" sz="85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F3C96D"/>
                  </a:solidFill>
                  <a:latin typeface="DM Mono"/>
                  <a:ea typeface="DM Mono"/>
                  <a:cs typeface="DM Mono"/>
                  <a:sym typeface="DM Mono"/>
                </a:rPr>
                <a:t>--accent-gold: #f3c96d</a:t>
              </a:r>
              <a:endParaRPr b="0" sz="850">
                <a:solidFill>
                  <a:srgbClr val="F3C96D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87E5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Typography</a:t>
              </a:r>
              <a:endParaRPr b="0" sz="850">
                <a:solidFill>
                  <a:srgbClr val="87E5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• Outfit UI Font </a:t>
              </a:r>
              <a:r>
                <a:rPr b="0" lang="en" sz="95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(Headings/UI)</a:t>
              </a:r>
              <a:endParaRPr b="0" sz="95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• DM Mono </a:t>
              </a:r>
              <a:r>
                <a:rPr b="0" lang="en" sz="900">
                  <a:solidFill>
                    <a:srgbClr val="A0AEC0"/>
                  </a:solidFill>
                  <a:latin typeface="DM Mono"/>
                  <a:ea typeface="DM Mono"/>
                  <a:cs typeface="DM Mono"/>
                  <a:sym typeface="DM Mono"/>
                </a:rPr>
                <a:t>(Technical Code)</a:t>
              </a:r>
              <a:endParaRPr b="0" sz="90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87E5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Breakpoints &amp; Accessibility</a:t>
              </a:r>
              <a:endParaRPr b="0" sz="850">
                <a:solidFill>
                  <a:srgbClr val="87E5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• Responsive Rules: </a:t>
              </a:r>
              <a:r>
                <a:rPr b="0" lang="en" sz="90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820px</a:t>
              </a:r>
              <a:r>
                <a:rPr b="0" lang="en" sz="9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 &amp; </a:t>
              </a:r>
              <a:r>
                <a:rPr b="0" lang="en" sz="90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520px</a:t>
              </a:r>
              <a:endParaRPr b="0" sz="9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• Accessibility: </a:t>
              </a:r>
              <a:r>
                <a:rPr b="0" lang="en" sz="900">
                  <a:solidFill>
                    <a:srgbClr val="74E7A8"/>
                  </a:solidFill>
                  <a:latin typeface="Outfit"/>
                  <a:ea typeface="Outfit"/>
                  <a:cs typeface="Outfit"/>
                  <a:sym typeface="Outfit"/>
                </a:rPr>
                <a:t>Full ARIA live regions</a:t>
              </a:r>
              <a:endParaRPr b="0" sz="9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959" name="Google Shape;959;p30"/>
          <p:cNvGrpSpPr/>
          <p:nvPr/>
        </p:nvGrpSpPr>
        <p:grpSpPr>
          <a:xfrm>
            <a:off x="3143250" y="1123950"/>
            <a:ext cx="2762400" cy="3524400"/>
            <a:chOff x="0" y="0"/>
            <a:chExt cx="2762400" cy="3524400"/>
          </a:xfrm>
        </p:grpSpPr>
        <p:sp>
          <p:nvSpPr>
            <p:cNvPr id="960" name="Google Shape;960;p30"/>
            <p:cNvSpPr/>
            <p:nvPr/>
          </p:nvSpPr>
          <p:spPr>
            <a:xfrm>
              <a:off x="0" y="0"/>
              <a:ext cx="2762400" cy="3524400"/>
            </a:xfrm>
            <a:prstGeom prst="roundRect">
              <a:avLst>
                <a:gd fmla="val 2068" name="adj"/>
              </a:avLst>
            </a:prstGeom>
            <a:solidFill>
              <a:srgbClr val="05070F"/>
            </a:solidFill>
            <a:ln cap="flat" cmpd="sng" w="9525">
              <a:solidFill>
                <a:srgbClr val="2A30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30"/>
            <p:cNvSpPr/>
            <p:nvPr/>
          </p:nvSpPr>
          <p:spPr>
            <a:xfrm>
              <a:off x="0" y="0"/>
              <a:ext cx="2762400" cy="228600"/>
            </a:xfrm>
            <a:prstGeom prst="roundRect">
              <a:avLst>
                <a:gd fmla="val 25000" name="adj"/>
              </a:avLst>
            </a:prstGeom>
            <a:solidFill>
              <a:srgbClr val="1013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30"/>
            <p:cNvSpPr/>
            <p:nvPr/>
          </p:nvSpPr>
          <p:spPr>
            <a:xfrm>
              <a:off x="100013" y="80963"/>
              <a:ext cx="66600" cy="666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30"/>
            <p:cNvSpPr/>
            <p:nvPr/>
          </p:nvSpPr>
          <p:spPr>
            <a:xfrm>
              <a:off x="214313" y="80963"/>
              <a:ext cx="66600" cy="666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30"/>
            <p:cNvSpPr/>
            <p:nvPr/>
          </p:nvSpPr>
          <p:spPr>
            <a:xfrm>
              <a:off x="328613" y="80963"/>
              <a:ext cx="66600" cy="666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30"/>
            <p:cNvSpPr txBox="1"/>
            <p:nvPr/>
          </p:nvSpPr>
          <p:spPr>
            <a:xfrm>
              <a:off x="476250" y="28575"/>
              <a:ext cx="21909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86">
                  <a:solidFill>
                    <a:srgbClr val="A0AEC0"/>
                  </a:solidFill>
                  <a:latin typeface="DM Mono"/>
                  <a:ea typeface="DM Mono"/>
                  <a:cs typeface="DM Mono"/>
                  <a:sym typeface="DM Mono"/>
                </a:rPr>
                <a:t>DIRECTORY EVOLUTION (v1.0 vs v2.0)</a:t>
              </a:r>
              <a:endParaRPr b="0" sz="786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sp>
          <p:nvSpPr>
            <p:cNvPr id="966" name="Google Shape;966;p30"/>
            <p:cNvSpPr txBox="1"/>
            <p:nvPr/>
          </p:nvSpPr>
          <p:spPr>
            <a:xfrm>
              <a:off x="152400" y="304800"/>
              <a:ext cx="2457600" cy="310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F3C96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BACKEND MODULES</a:t>
              </a:r>
              <a:endParaRPr b="0" sz="850">
                <a:solidFill>
                  <a:srgbClr val="F3C96D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rPr>
                <a:t>backend/</a:t>
              </a:r>
              <a:endParaRPr b="0" sz="950">
                <a:solidFill>
                  <a:srgbClr val="87E5FF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├── src/index.js</a:t>
              </a:r>
              <a:endParaRPr b="0" sz="85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├── config/database.js</a:t>
              </a:r>
              <a:endParaRPr b="0" sz="85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├── middleware/auth.js</a:t>
              </a:r>
              <a:endParaRPr b="0" sz="85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└── routes/</a:t>
              </a:r>
              <a:endParaRPr b="0" sz="85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├── auth.js</a:t>
              </a:r>
              <a:endParaRPr b="0" sz="85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├── stats.js</a:t>
              </a:r>
              <a:endParaRPr b="0" sz="85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└── sessions.js</a:t>
              </a:r>
              <a:endParaRPr b="0" sz="85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F3C96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FRONTEND MODULES</a:t>
              </a:r>
              <a:endParaRPr b="0" sz="850">
                <a:solidFill>
                  <a:srgbClr val="F3C96D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rPr>
                <a:t>src/</a:t>
              </a:r>
              <a:endParaRPr b="0" sz="950">
                <a:solidFill>
                  <a:srgbClr val="87E5FF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├── AuthContext.jsx</a:t>
              </a:r>
              <a:endParaRPr b="0" sz="85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├── useGameStats.js</a:t>
              </a:r>
              <a:endParaRPr b="0" sz="85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├── api.js</a:t>
              </a:r>
              <a:endParaRPr b="0" sz="85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├── ProtectedRoute.jsx</a:t>
              </a:r>
              <a:endParaRPr b="0" sz="85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├── LoginPage.jsx</a:t>
              </a:r>
              <a:endParaRPr b="0" sz="85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9D6CFF"/>
                  </a:solidFill>
                  <a:latin typeface="DM Mono"/>
                  <a:ea typeface="DM Mono"/>
                  <a:cs typeface="DM Mono"/>
                  <a:sym typeface="DM Mono"/>
                </a:rPr>
                <a:t>└── AppRoutes.jsx</a:t>
              </a:r>
              <a:endParaRPr b="0" sz="850">
                <a:solidFill>
                  <a:srgbClr val="9D6CFF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</p:grpSp>
      <p:grpSp>
        <p:nvGrpSpPr>
          <p:cNvPr id="967" name="Google Shape;967;p30"/>
          <p:cNvGrpSpPr/>
          <p:nvPr/>
        </p:nvGrpSpPr>
        <p:grpSpPr>
          <a:xfrm>
            <a:off x="6091238" y="1119188"/>
            <a:ext cx="2676600" cy="3533700"/>
            <a:chOff x="-4762" y="-4762"/>
            <a:chExt cx="2676600" cy="3533700"/>
          </a:xfrm>
        </p:grpSpPr>
        <p:pic>
          <p:nvPicPr>
            <p:cNvPr id="968" name="Google Shape;968;p3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-4762" y="-4762"/>
              <a:ext cx="2676600" cy="3533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9" name="Google Shape;969;p30"/>
            <p:cNvSpPr/>
            <p:nvPr/>
          </p:nvSpPr>
          <p:spPr>
            <a:xfrm>
              <a:off x="0" y="0"/>
              <a:ext cx="2667000" cy="228600"/>
            </a:xfrm>
            <a:prstGeom prst="roundRect">
              <a:avLst>
                <a:gd fmla="val 25000" name="adj"/>
              </a:avLst>
            </a:prstGeom>
            <a:solidFill>
              <a:srgbClr val="1013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30"/>
            <p:cNvSpPr/>
            <p:nvPr/>
          </p:nvSpPr>
          <p:spPr>
            <a:xfrm>
              <a:off x="100013" y="80963"/>
              <a:ext cx="66600" cy="666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30"/>
            <p:cNvSpPr/>
            <p:nvPr/>
          </p:nvSpPr>
          <p:spPr>
            <a:xfrm>
              <a:off x="214313" y="80963"/>
              <a:ext cx="66600" cy="666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30"/>
            <p:cNvSpPr/>
            <p:nvPr/>
          </p:nvSpPr>
          <p:spPr>
            <a:xfrm>
              <a:off x="328613" y="80963"/>
              <a:ext cx="66600" cy="666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30"/>
            <p:cNvSpPr txBox="1"/>
            <p:nvPr/>
          </p:nvSpPr>
          <p:spPr>
            <a:xfrm>
              <a:off x="476250" y="28575"/>
              <a:ext cx="20955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A0AEC0"/>
                  </a:solidFill>
                  <a:latin typeface="DM Mono"/>
                  <a:ea typeface="DM Mono"/>
                  <a:cs typeface="DM Mono"/>
                  <a:sym typeface="DM Mono"/>
                </a:rPr>
                <a:t>ROOT &amp; INFRASTRUCTURE</a:t>
              </a:r>
              <a:endParaRPr b="0" sz="85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sp>
          <p:nvSpPr>
            <p:cNvPr id="974" name="Google Shape;974;p30"/>
            <p:cNvSpPr txBox="1"/>
            <p:nvPr/>
          </p:nvSpPr>
          <p:spPr>
            <a:xfrm>
              <a:off x="152400" y="304800"/>
              <a:ext cx="2362200" cy="310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74E7A8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ORCHESTRATION &amp; AGENTS</a:t>
              </a:r>
              <a:endParaRPr b="0" sz="850">
                <a:solidFill>
                  <a:srgbClr val="74E7A8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rPr>
                <a:t>Root /</a:t>
              </a:r>
              <a:endParaRPr b="0" sz="950">
                <a:solidFill>
                  <a:srgbClr val="87E5FF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├── vm-host-agent.js</a:t>
              </a:r>
              <a:endParaRPr b="0" sz="85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F3C96D"/>
                  </a:solidFill>
                  <a:latin typeface="DM Mono"/>
                  <a:ea typeface="DM Mono"/>
                  <a:cs typeface="DM Mono"/>
                  <a:sym typeface="DM Mono"/>
                </a:rPr>
                <a:t>├── docker-compose.yml</a:t>
              </a:r>
              <a:endParaRPr b="0" sz="850">
                <a:solidFill>
                  <a:srgbClr val="F3C96D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├── start-game-servers.sh</a:t>
              </a:r>
              <a:endParaRPr b="0" sz="85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├── .env.gameservers</a:t>
              </a:r>
              <a:endParaRPr b="0" sz="85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A0AEC0"/>
                  </a:solidFill>
                  <a:latin typeface="DM Mono"/>
                  <a:ea typeface="DM Mono"/>
                  <a:cs typeface="DM Mono"/>
                  <a:sym typeface="DM Mono"/>
                </a:rPr>
                <a:t>└── GAME_SERVERS_README.md</a:t>
              </a:r>
              <a:endParaRPr b="0" sz="85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74E7A8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TELEMETRY &amp; CONFIG</a:t>
              </a:r>
              <a:endParaRPr b="0" sz="850">
                <a:solidFill>
                  <a:srgbClr val="74E7A8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87E5FF"/>
                  </a:solidFill>
                  <a:latin typeface="DM Mono"/>
                  <a:ea typeface="DM Mono"/>
                  <a:cs typeface="DM Mono"/>
                  <a:sym typeface="DM Mono"/>
                </a:rPr>
                <a:t>monitoring/ &amp; Config</a:t>
              </a:r>
              <a:endParaRPr b="0" sz="950">
                <a:solidFill>
                  <a:srgbClr val="87E5FF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├── monitoring/</a:t>
              </a:r>
              <a:endParaRPr b="0" sz="85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9D6CFF"/>
                  </a:solidFill>
                  <a:latin typeface="DM Mono"/>
                  <a:ea typeface="DM Mono"/>
                  <a:cs typeface="DM Mono"/>
                  <a:sym typeface="DM Mono"/>
                </a:rPr>
                <a:t>│ ├── prometheus.yml</a:t>
              </a:r>
              <a:endParaRPr b="0" sz="850">
                <a:solidFill>
                  <a:srgbClr val="9D6CFF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9D6CFF"/>
                  </a:solidFill>
                  <a:latin typeface="DM Mono"/>
                  <a:ea typeface="DM Mono"/>
                  <a:cs typeface="DM Mono"/>
                  <a:sym typeface="DM Mono"/>
                </a:rPr>
                <a:t>│ └── grafana-datasources.yml</a:t>
              </a:r>
              <a:endParaRPr b="0" sz="850">
                <a:solidFill>
                  <a:srgbClr val="9D6CFF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FFFFFF"/>
                  </a:solidFill>
                  <a:latin typeface="DM Mono"/>
                  <a:ea typeface="DM Mono"/>
                  <a:cs typeface="DM Mono"/>
                  <a:sym typeface="DM Mono"/>
                </a:rPr>
                <a:t>└── night-hours.json</a:t>
              </a:r>
              <a:endParaRPr b="0" sz="850">
                <a:solidFill>
                  <a:srgbClr val="FFFFFF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</p:grpSp>
      <p:grpSp>
        <p:nvGrpSpPr>
          <p:cNvPr id="975" name="Google Shape;975;p30"/>
          <p:cNvGrpSpPr/>
          <p:nvPr/>
        </p:nvGrpSpPr>
        <p:grpSpPr>
          <a:xfrm>
            <a:off x="381000" y="4781550"/>
            <a:ext cx="8382000" cy="190500"/>
            <a:chOff x="381000" y="4781550"/>
            <a:chExt cx="8382000" cy="190500"/>
          </a:xfrm>
        </p:grpSpPr>
        <p:sp>
          <p:nvSpPr>
            <p:cNvPr id="976" name="Google Shape;976;p30"/>
            <p:cNvSpPr txBox="1"/>
            <p:nvPr/>
          </p:nvSpPr>
          <p:spPr>
            <a:xfrm>
              <a:off x="381000" y="47815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A0AEC0"/>
                  </a:solidFill>
                  <a:latin typeface="DM Mono"/>
                  <a:ea typeface="DM Mono"/>
                  <a:cs typeface="DM Mono"/>
                  <a:sym typeface="DM Mono"/>
                </a:rPr>
                <a:t>NIGHT HOURS v2.0 ARCHITECTURE</a:t>
              </a:r>
              <a:endParaRPr b="0" sz="85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sp>
          <p:nvSpPr>
            <p:cNvPr id="977" name="Google Shape;977;p30"/>
            <p:cNvSpPr txBox="1"/>
            <p:nvPr/>
          </p:nvSpPr>
          <p:spPr>
            <a:xfrm>
              <a:off x="4953000" y="47815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A0AEC0"/>
                  </a:solidFill>
                  <a:latin typeface="DM Mono"/>
                  <a:ea typeface="DM Mono"/>
                  <a:cs typeface="DM Mono"/>
                  <a:sym typeface="DM Mono"/>
                </a:rPr>
                <a:t>SYSTEM SPECIFICATIONS &amp; DIRECTORY EVOLUTION</a:t>
              </a:r>
              <a:endParaRPr b="0" sz="85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0132A">
                  <a:alpha val="80000"/>
                </a:srgbClr>
              </a:gs>
              <a:gs pos="100000">
                <a:srgbClr val="080B18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3" name="Google Shape;98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4" name="Google Shape;984;p31"/>
          <p:cNvGrpSpPr/>
          <p:nvPr/>
        </p:nvGrpSpPr>
        <p:grpSpPr>
          <a:xfrm>
            <a:off x="381000" y="238125"/>
            <a:ext cx="381000" cy="381000"/>
            <a:chOff x="0" y="0"/>
            <a:chExt cx="381000" cy="381000"/>
          </a:xfrm>
        </p:grpSpPr>
        <p:sp>
          <p:nvSpPr>
            <p:cNvPr id="985" name="Google Shape;985;p31"/>
            <p:cNvSpPr/>
            <p:nvPr/>
          </p:nvSpPr>
          <p:spPr>
            <a:xfrm>
              <a:off x="0" y="0"/>
              <a:ext cx="381000" cy="3810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30000"/>
                  </a:lnTo>
                  <a:lnTo>
                    <a:pt x="120000" y="90000"/>
                  </a:lnTo>
                  <a:lnTo>
                    <a:pt x="60000" y="120000"/>
                  </a:lnTo>
                  <a:lnTo>
                    <a:pt x="0" y="90000"/>
                  </a:lnTo>
                  <a:lnTo>
                    <a:pt x="0" y="3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9D6C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31"/>
            <p:cNvSpPr/>
            <p:nvPr/>
          </p:nvSpPr>
          <p:spPr>
            <a:xfrm>
              <a:off x="38100" y="38100"/>
              <a:ext cx="304800" cy="3048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30000"/>
                  </a:lnTo>
                  <a:lnTo>
                    <a:pt x="120000" y="90000"/>
                  </a:lnTo>
                  <a:lnTo>
                    <a:pt x="60000" y="120000"/>
                  </a:lnTo>
                  <a:lnTo>
                    <a:pt x="0" y="90000"/>
                  </a:lnTo>
                  <a:lnTo>
                    <a:pt x="0" y="30000"/>
                  </a:lnTo>
                  <a:close/>
                </a:path>
              </a:pathLst>
            </a:custGeom>
            <a:solidFill>
              <a:srgbClr val="10132A"/>
            </a:solidFill>
            <a:ln cap="flat" cmpd="sng" w="9525">
              <a:solidFill>
                <a:srgbClr val="87E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31"/>
            <p:cNvSpPr/>
            <p:nvPr/>
          </p:nvSpPr>
          <p:spPr>
            <a:xfrm>
              <a:off x="114300" y="142875"/>
              <a:ext cx="152400" cy="95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moveTo>
                    <a:pt x="0" y="0"/>
                  </a:moveTo>
                  <a:lnTo>
                    <a:pt x="60000" y="120000"/>
                  </a:lnTo>
                  <a:moveTo>
                    <a:pt x="60000" y="0"/>
                  </a:moveTo>
                  <a:lnTo>
                    <a:pt x="60000" y="120000"/>
                  </a:lnTo>
                  <a:moveTo>
                    <a:pt x="120000" y="0"/>
                  </a:moveTo>
                  <a:lnTo>
                    <a:pt x="120000" y="120000"/>
                  </a:lnTo>
                  <a:moveTo>
                    <a:pt x="82500" y="60000"/>
                  </a:moveTo>
                  <a:lnTo>
                    <a:pt x="120000" y="6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8" name="Google Shape;988;p31"/>
          <p:cNvGrpSpPr/>
          <p:nvPr/>
        </p:nvGrpSpPr>
        <p:grpSpPr>
          <a:xfrm>
            <a:off x="952500" y="238125"/>
            <a:ext cx="7810500" cy="714300"/>
            <a:chOff x="0" y="0"/>
            <a:chExt cx="7810500" cy="714300"/>
          </a:xfrm>
        </p:grpSpPr>
        <p:grpSp>
          <p:nvGrpSpPr>
            <p:cNvPr id="989" name="Google Shape;989;p31"/>
            <p:cNvGrpSpPr/>
            <p:nvPr/>
          </p:nvGrpSpPr>
          <p:grpSpPr>
            <a:xfrm>
              <a:off x="0" y="371475"/>
              <a:ext cx="981225" cy="133500"/>
              <a:chOff x="0" y="-9525"/>
              <a:chExt cx="981225" cy="133500"/>
            </a:xfrm>
          </p:grpSpPr>
          <p:pic>
            <p:nvPicPr>
              <p:cNvPr id="990" name="Google Shape;990;p3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0" y="-9525"/>
                <a:ext cx="952500" cy="114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91" name="Google Shape;991;p31"/>
              <p:cNvSpPr/>
              <p:nvPr/>
            </p:nvSpPr>
            <p:spPr>
              <a:xfrm>
                <a:off x="923925" y="66675"/>
                <a:ext cx="57300" cy="57300"/>
              </a:xfrm>
              <a:prstGeom prst="ellipse">
                <a:avLst/>
              </a:prstGeom>
              <a:solidFill>
                <a:srgbClr val="87E5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2" name="Google Shape;992;p31"/>
              <p:cNvSpPr/>
              <p:nvPr/>
            </p:nvSpPr>
            <p:spPr>
              <a:xfrm>
                <a:off x="476250" y="57150"/>
                <a:ext cx="142800" cy="19200"/>
              </a:xfrm>
              <a:prstGeom prst="rect">
                <a:avLst/>
              </a:prstGeom>
              <a:solidFill>
                <a:srgbClr val="74E7A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93" name="Google Shape;993;p31"/>
            <p:cNvSpPr txBox="1"/>
            <p:nvPr/>
          </p:nvSpPr>
          <p:spPr>
            <a:xfrm>
              <a:off x="0" y="0"/>
              <a:ext cx="7810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ROADMAP ACHIEVEMENT SCORECARD &amp; NEXT HORIZON</a:t>
              </a:r>
              <a:endParaRPr b="1" sz="2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87E5FF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Delivered v2.0 Milestones vs. Version 3.0 Future Enhancements</a:t>
              </a:r>
              <a:endParaRPr b="0" sz="1300">
                <a:solidFill>
                  <a:srgbClr val="87E5FF"/>
                </a:solidFill>
                <a:latin typeface="Outfit Medium"/>
                <a:ea typeface="Outfit Medium"/>
                <a:cs typeface="Outfit Medium"/>
                <a:sym typeface="Outfit Medium"/>
              </a:endParaRPr>
            </a:p>
          </p:txBody>
        </p:sp>
      </p:grpSp>
      <p:sp>
        <p:nvSpPr>
          <p:cNvPr id="994" name="Google Shape;994;p31"/>
          <p:cNvSpPr/>
          <p:nvPr/>
        </p:nvSpPr>
        <p:spPr>
          <a:xfrm>
            <a:off x="381000" y="1009650"/>
            <a:ext cx="8382000" cy="19200"/>
          </a:xfrm>
          <a:prstGeom prst="rect">
            <a:avLst/>
          </a:prstGeom>
          <a:gradFill>
            <a:gsLst>
              <a:gs pos="0">
                <a:srgbClr val="87E5FF"/>
              </a:gs>
              <a:gs pos="50000">
                <a:srgbClr val="9D6CFF"/>
              </a:gs>
              <a:gs pos="100000">
                <a:srgbClr val="080B18"/>
              </a:gs>
            </a:gsLst>
            <a:lin ang="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5" name="Google Shape;995;p31"/>
          <p:cNvGrpSpPr/>
          <p:nvPr/>
        </p:nvGrpSpPr>
        <p:grpSpPr>
          <a:xfrm>
            <a:off x="371475" y="1152525"/>
            <a:ext cx="4067100" cy="3447975"/>
            <a:chOff x="-9525" y="-9525"/>
            <a:chExt cx="4067100" cy="3447975"/>
          </a:xfrm>
        </p:grpSpPr>
        <p:pic>
          <p:nvPicPr>
            <p:cNvPr id="996" name="Google Shape;996;p3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4762" y="-4762"/>
              <a:ext cx="4057800" cy="343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7" name="Google Shape;997;p31"/>
            <p:cNvSpPr/>
            <p:nvPr/>
          </p:nvSpPr>
          <p:spPr>
            <a:xfrm>
              <a:off x="0" y="0"/>
              <a:ext cx="4048200" cy="38100"/>
            </a:xfrm>
            <a:prstGeom prst="roundRect">
              <a:avLst>
                <a:gd fmla="val 50000" name="adj"/>
              </a:avLst>
            </a:prstGeom>
            <a:solidFill>
              <a:srgbClr val="74E7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98" name="Google Shape;998;p31"/>
            <p:cNvGrpSpPr/>
            <p:nvPr/>
          </p:nvGrpSpPr>
          <p:grpSpPr>
            <a:xfrm>
              <a:off x="-9525" y="-9525"/>
              <a:ext cx="4067100" cy="3447975"/>
              <a:chOff x="-9525" y="-9525"/>
              <a:chExt cx="4067100" cy="3447975"/>
            </a:xfrm>
          </p:grpSpPr>
          <p:pic>
            <p:nvPicPr>
              <p:cNvPr id="999" name="Google Shape;999;p31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-9525" y="-9525"/>
                <a:ext cx="104700" cy="104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00" name="Google Shape;1000;p31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3952875" y="-9525"/>
                <a:ext cx="104700" cy="104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01" name="Google Shape;1001;p31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-9525" y="3333750"/>
                <a:ext cx="104700" cy="104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02" name="Google Shape;1002;p31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3952875" y="3333750"/>
                <a:ext cx="104700" cy="1047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003" name="Google Shape;1003;p31"/>
            <p:cNvSpPr txBox="1"/>
            <p:nvPr/>
          </p:nvSpPr>
          <p:spPr>
            <a:xfrm>
              <a:off x="152400" y="133350"/>
              <a:ext cx="3743400" cy="316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74E7A8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DELIVERED V2.0 ROADMAP SCORECARD</a:t>
              </a:r>
              <a:endParaRPr b="0" sz="1000">
                <a:solidFill>
                  <a:srgbClr val="74E7A8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74E7A8"/>
                  </a:solidFill>
                  <a:latin typeface="Outfit"/>
                  <a:ea typeface="Outfit"/>
                  <a:cs typeface="Outfit"/>
                  <a:sym typeface="Outfit"/>
                </a:rPr>
                <a:t>STATUS: 100% COMPLETED</a:t>
              </a:r>
              <a:endParaRPr b="0" sz="900">
                <a:solidFill>
                  <a:srgbClr val="74E7A8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74E7A8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[COMPLETED]</a:t>
              </a:r>
              <a:r>
                <a:rPr b="0" lang="en" sz="950">
                  <a:solidFill>
                    <a:srgbClr val="FFFF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 User Auth, JWT Security &amp; Cloud Profile Sync</a:t>
              </a:r>
              <a:endParaRPr b="0" sz="950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backend/src/routes/auth.js, AuthContext.jsx</a:t>
              </a:r>
              <a:endParaRPr b="0" sz="80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525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74E7A8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[COMPLETED]</a:t>
              </a:r>
              <a:r>
                <a:rPr b="0" lang="en" sz="950">
                  <a:solidFill>
                    <a:srgbClr val="FFFF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 Persistent DB &amp; Global Leaderboards</a:t>
              </a:r>
              <a:endParaRPr b="0" sz="950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night-hours.json, database.js, stats.js</a:t>
              </a:r>
              <a:endParaRPr b="0" sz="80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525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74E7A8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[COMPLETED]</a:t>
              </a:r>
              <a:r>
                <a:rPr b="0" lang="en" sz="950">
                  <a:solidFill>
                    <a:srgbClr val="FFFF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 Session Request &amp; Admin Approval Workflow</a:t>
              </a:r>
              <a:endParaRPr b="0" sz="950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sessions.js</a:t>
              </a:r>
              <a:endParaRPr b="0" sz="80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525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74E7A8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[COMPLETED]</a:t>
              </a:r>
              <a:r>
                <a:rPr b="0" lang="en" sz="950">
                  <a:solidFill>
                    <a:srgbClr val="FFFF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 Live VM Integration &amp; Keymapper</a:t>
              </a:r>
              <a:endParaRPr b="0" sz="950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BlueStacks ADB Bridge, vm-host-agent.js, NightArena.jsx</a:t>
              </a:r>
              <a:endParaRPr b="0" sz="80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525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74E7A8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[COMPLETED]</a:t>
              </a:r>
              <a:r>
                <a:rPr b="0" lang="en" sz="950">
                  <a:solidFill>
                    <a:srgbClr val="FFFF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 Server Fleet &amp; Observability</a:t>
              </a:r>
              <a:endParaRPr b="0" sz="950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docker-compose.yml, 7 game servers, Prometheus, Grafana, Portainer</a:t>
              </a:r>
              <a:endParaRPr b="0" sz="800">
                <a:solidFill>
                  <a:srgbClr val="74E7A8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</p:grpSp>
      <p:grpSp>
        <p:nvGrpSpPr>
          <p:cNvPr id="1004" name="Google Shape;1004;p31"/>
          <p:cNvGrpSpPr/>
          <p:nvPr/>
        </p:nvGrpSpPr>
        <p:grpSpPr>
          <a:xfrm>
            <a:off x="4705350" y="1152525"/>
            <a:ext cx="4067100" cy="3447975"/>
            <a:chOff x="-9525" y="-9525"/>
            <a:chExt cx="4067100" cy="3447975"/>
          </a:xfrm>
        </p:grpSpPr>
        <p:pic>
          <p:nvPicPr>
            <p:cNvPr id="1005" name="Google Shape;1005;p3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-4762" y="-4762"/>
              <a:ext cx="4057800" cy="343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6" name="Google Shape;1006;p31"/>
            <p:cNvSpPr/>
            <p:nvPr/>
          </p:nvSpPr>
          <p:spPr>
            <a:xfrm>
              <a:off x="0" y="0"/>
              <a:ext cx="4048200" cy="38100"/>
            </a:xfrm>
            <a:prstGeom prst="roundRect">
              <a:avLst>
                <a:gd fmla="val 50000" name="adj"/>
              </a:avLst>
            </a:prstGeom>
            <a:solidFill>
              <a:srgbClr val="9D6C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07" name="Google Shape;1007;p31"/>
            <p:cNvGrpSpPr/>
            <p:nvPr/>
          </p:nvGrpSpPr>
          <p:grpSpPr>
            <a:xfrm>
              <a:off x="-9525" y="-9525"/>
              <a:ext cx="4067100" cy="3447975"/>
              <a:chOff x="-9525" y="-9525"/>
              <a:chExt cx="4067100" cy="3447975"/>
            </a:xfrm>
          </p:grpSpPr>
          <p:pic>
            <p:nvPicPr>
              <p:cNvPr id="1008" name="Google Shape;1008;p31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-9525" y="-9525"/>
                <a:ext cx="104700" cy="104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09" name="Google Shape;1009;p31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3952875" y="-9525"/>
                <a:ext cx="104700" cy="104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10" name="Google Shape;1010;p31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-9525" y="3333750"/>
                <a:ext cx="104700" cy="104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11" name="Google Shape;1011;p31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3952875" y="3333750"/>
                <a:ext cx="104700" cy="1047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012" name="Google Shape;1012;p31"/>
            <p:cNvSpPr txBox="1"/>
            <p:nvPr/>
          </p:nvSpPr>
          <p:spPr>
            <a:xfrm>
              <a:off x="152400" y="133350"/>
              <a:ext cx="3743400" cy="316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D6CFF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NEXT HORIZON — VERSION 3.0</a:t>
              </a:r>
              <a:endParaRPr b="0" sz="1000">
                <a:solidFill>
                  <a:srgbClr val="9D6CFF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87E5FF"/>
                  </a:solidFill>
                  <a:latin typeface="Outfit"/>
                  <a:ea typeface="Outfit"/>
                  <a:cs typeface="Outfit"/>
                  <a:sym typeface="Outfit"/>
                </a:rPr>
                <a:t>FUTURE ENHANCEMENTS</a:t>
              </a:r>
              <a:endParaRPr b="0" sz="900">
                <a:solidFill>
                  <a:srgbClr val="87E5FF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87E5FF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Database Migration</a:t>
              </a:r>
              <a:endParaRPr b="0" sz="1100">
                <a:solidFill>
                  <a:srgbClr val="87E5FF"/>
                </a:solidFill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Transition JSON storage (</a:t>
              </a:r>
              <a:r>
                <a:rPr b="0" lang="en" sz="850">
                  <a:solidFill>
                    <a:srgbClr val="74E7A8"/>
                  </a:solidFill>
                  <a:latin typeface="DM Mono"/>
                  <a:ea typeface="DM Mono"/>
                  <a:cs typeface="DM Mono"/>
                  <a:sym typeface="DM Mono"/>
                </a:rPr>
                <a:t>night-hours.json</a:t>
              </a:r>
              <a:r>
                <a:rPr b="0" lang="en" sz="9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) to PostgreSQL/Prisma for high-concurrency cloud deployments.</a:t>
              </a:r>
              <a:endParaRPr b="0" sz="9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D6CFF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Hardware Auto-Scaling</a:t>
              </a:r>
              <a:endParaRPr b="0" sz="1100">
                <a:solidFill>
                  <a:srgbClr val="9D6CFF"/>
                </a:solidFill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Multi-region GPU host fleet auto-scaling featuring WHIP/WHEP hardware AV1 encoding.</a:t>
              </a:r>
              <a:endParaRPr b="0" sz="9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3C96D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Social &amp; Mobile Ecosystem</a:t>
              </a:r>
              <a:endParaRPr b="0" sz="1100">
                <a:solidFill>
                  <a:srgbClr val="F3C96D"/>
                </a:solidFill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A0AEC0"/>
                  </a:solidFill>
                  <a:latin typeface="Outfit"/>
                  <a:ea typeface="Outfit"/>
                  <a:cs typeface="Outfit"/>
                  <a:sym typeface="Outfit"/>
                </a:rPr>
                <a:t>Live voice chat overlay, structured tournament brackets, and React Native companion app.</a:t>
              </a:r>
              <a:endParaRPr b="0" sz="900">
                <a:solidFill>
                  <a:srgbClr val="A0AEC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013" name="Google Shape;1013;p31"/>
          <p:cNvSpPr txBox="1"/>
          <p:nvPr/>
        </p:nvSpPr>
        <p:spPr>
          <a:xfrm>
            <a:off x="381000" y="4743450"/>
            <a:ext cx="8382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5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rPr>
              <a:t>NIGHT HOURS ARCHITECTURE ROADMAP • DELIVERED V2.0 &amp; NEXT HORIZON V3.0</a:t>
            </a:r>
            <a:endParaRPr b="0" sz="850">
              <a:solidFill>
                <a:srgbClr val="A0AEC0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